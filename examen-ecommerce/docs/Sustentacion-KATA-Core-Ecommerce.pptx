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2CF74867-C05B-BAC1-B453-7E785A6880DD}">
          <p14:sldIdLst>
            <p14:sldId id="256"/>
            <p14:sldId id="257"/>
          </p14:sldIdLst>
        </p14:section>
        <p14:section name="Arquitectura C4" id="{7420AA29-8EB7-6C10-2D91-8F42C6995976}">
          <p14:sldIdLst>
            <p14:sldId id="258"/>
            <p14:sldId id="259"/>
            <p14:sldId id="260"/>
            <p14:sldId id="261"/>
            <p14:sldId id="262"/>
          </p14:sldIdLst>
        </p14:section>
        <p14:section name="Patrones de diseño" id="{6F82FA8C-E4D2-1DAE-3AF5-A432ED308C1D}">
          <p14:sldIdLst>
            <p14:sldId id="263"/>
            <p14:sldId id="264"/>
            <p14:sldId id="265"/>
          </p14:sldIdLst>
        </p14:section>
        <p14:section name="Decisiones de arquitectura" id="{14F222CB-3373-C263-A562-A59F526C8AFB}">
          <p14:sldIdLst>
            <p14:sldId id="267"/>
            <p14:sldId id="268"/>
            <p14:sldId id="269"/>
            <p14:sldId id="270"/>
            <p14:sldId id="271"/>
          </p14:sldIdLst>
        </p14:section>
        <p14:section name="Calidad y cobertura" id="{1E6337FE-1372-A27B-BA8F-88DF682553CD}">
          <p14:sldIdLst>
            <p14:sldId id="272"/>
            <p14:sldId id="273"/>
            <p14:sldId id="274"/>
          </p14:sldIdLst>
        </p14:section>
        <p14:section name="Uso de IA" id="{849392A3-E8A4-76E6-FFE4-C3D22E72E685}">
          <p14:sldIdLst>
            <p14:sldId id="275"/>
            <p14:sldId id="276"/>
            <p14:sldId id="277"/>
            <p14:sldId id="278"/>
            <p14:sldId id="279"/>
            <p14:sldId id="280"/>
          </p14:sldIdLst>
        </p14:section>
        <p14:section name="Cierre" id="{3F4FF779-5D5C-F9AA-7287-868F60A8AB1F}">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E4D64"/>
                </a:solidFill>
                <a:latin typeface="+mn-lt"/>
              </a:defRPr>
            </a:pPr>
            <a:r>
              <a:rPr lang="pt-BR" sz="1400" b="0" i="0" u="none" strike="noStrike">
                <a:solidFill>
                  <a:srgbClr val="0E4D64"/>
                </a:solidFill>
                <a:latin typeface="+mn-lt"/>
              </a:rPr>
              <a:t>Cobertura por indicador (%) · mínimo exigido 80 %</a:t>
            </a:r>
          </a:p>
        </c:rich>
      </c:tx>
      <c:overlay val="0"/>
    </c:title>
    <c:autoTitleDeleted val="0"/>
    <c:plotArea>
      <c:layout/>
      <c:barChart>
        <c:barDir val="col"/>
        <c:grouping val="clustered"/>
        <c:varyColors val="0"/>
        <c:ser>
          <c:idx val="0"/>
          <c:order val="0"/>
          <c:tx>
            <c:strRef>
              <c:f>Sheet1!$B$1</c:f>
              <c:strCache>
                <c:ptCount val="1"/>
                <c:pt idx="0">
                  <c:v>Backend (JaCoCo)</c:v>
                </c:pt>
              </c:strCache>
            </c:strRef>
          </c:tx>
          <c:spPr>
            <a:solidFill>
              <a:srgbClr val="0E4D64"/>
            </a:solidFill>
            <a:effectLst/>
          </c:spPr>
          <c:invertIfNegative val="0"/>
          <c:dLbls>
            <c:numFmt formatCode="0.0" sourceLinked="0"/>
            <c:spPr>
              <a:noFill/>
              <a:ln>
                <a:noFill/>
              </a:ln>
              <a:effectLst/>
            </c:spPr>
            <c:txPr>
              <a:bodyPr/>
              <a:lstStyle/>
              <a:p>
                <a:pPr>
                  <a:defRPr sz="1100" b="0" i="0" u="none" strike="noStrike">
                    <a:solidFill>
                      <a:srgbClr val="1B2430"/>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Líneas</c:v>
                </c:pt>
                <c:pt idx="1">
                  <c:v>Sentencias / instrucciones</c:v>
                </c:pt>
                <c:pt idx="2">
                  <c:v>Ramas</c:v>
                </c:pt>
                <c:pt idx="3">
                  <c:v>Funciones / métodos</c:v>
                </c:pt>
              </c:strCache>
            </c:strRef>
          </c:cat>
          <c:val>
            <c:numRef>
              <c:f>Sheet1!$B$2:$B$5</c:f>
              <c:numCache>
                <c:formatCode>General</c:formatCode>
                <c:ptCount val="4"/>
                <c:pt idx="0">
                  <c:v>95.5</c:v>
                </c:pt>
                <c:pt idx="1">
                  <c:v>94</c:v>
                </c:pt>
                <c:pt idx="2">
                  <c:v>84.9</c:v>
                </c:pt>
                <c:pt idx="3">
                  <c:v>91.6</c:v>
                </c:pt>
              </c:numCache>
            </c:numRef>
          </c:val>
          <c:extLst>
            <c:ext xmlns:c16="http://schemas.microsoft.com/office/drawing/2014/chart" uri="{C3380CC4-5D6E-409C-BE32-E72D297353CC}">
              <c16:uniqueId val="{00000000-E545-404F-A80E-7BDB21AD6B7D}"/>
            </c:ext>
          </c:extLst>
        </c:ser>
        <c:ser>
          <c:idx val="1"/>
          <c:order val="1"/>
          <c:tx>
            <c:strRef>
              <c:f>Sheet1!$C$1</c:f>
              <c:strCache>
                <c:ptCount val="1"/>
                <c:pt idx="0">
                  <c:v>Frontend (Vitest + v8)</c:v>
                </c:pt>
              </c:strCache>
            </c:strRef>
          </c:tx>
          <c:spPr>
            <a:solidFill>
              <a:srgbClr val="F29E4C"/>
            </a:solidFill>
            <a:effectLst/>
          </c:spPr>
          <c:invertIfNegative val="0"/>
          <c:dLbls>
            <c:numFmt formatCode="0.0" sourceLinked="0"/>
            <c:spPr>
              <a:noFill/>
              <a:ln>
                <a:noFill/>
              </a:ln>
              <a:effectLst/>
            </c:spPr>
            <c:txPr>
              <a:bodyPr/>
              <a:lstStyle/>
              <a:p>
                <a:pPr>
                  <a:defRPr sz="1100" b="0" i="0" u="none" strike="noStrike">
                    <a:solidFill>
                      <a:srgbClr val="1B2430"/>
                    </a:solidFill>
                    <a:latin typeface="+mn-lt"/>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Líneas</c:v>
                </c:pt>
                <c:pt idx="1">
                  <c:v>Sentencias / instrucciones</c:v>
                </c:pt>
                <c:pt idx="2">
                  <c:v>Ramas</c:v>
                </c:pt>
                <c:pt idx="3">
                  <c:v>Funciones / métodos</c:v>
                </c:pt>
              </c:strCache>
            </c:strRef>
          </c:cat>
          <c:val>
            <c:numRef>
              <c:f>Sheet1!$C$2:$C$5</c:f>
              <c:numCache>
                <c:formatCode>General</c:formatCode>
                <c:ptCount val="4"/>
                <c:pt idx="0">
                  <c:v>99</c:v>
                </c:pt>
                <c:pt idx="1">
                  <c:v>99.3</c:v>
                </c:pt>
                <c:pt idx="2">
                  <c:v>96.6</c:v>
                </c:pt>
                <c:pt idx="3">
                  <c:v>100</c:v>
                </c:pt>
              </c:numCache>
            </c:numRef>
          </c:val>
          <c:extLst>
            <c:ext xmlns:c16="http://schemas.microsoft.com/office/drawing/2014/chart" uri="{C3380CC4-5D6E-409C-BE32-E72D297353CC}">
              <c16:uniqueId val="{00000001-E545-404F-A80E-7BDB21AD6B7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s-CO"/>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9E2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s-CO"/>
          </a:p>
        </c:txPr>
        <c:crossAx val="2094734554"/>
        <c:crosses val="autoZero"/>
        <c:crossBetween val="between"/>
        <c:majorUnit val="20"/>
      </c:valAx>
      <c:spPr>
        <a:noFill/>
        <a:ln>
          <a:noFill/>
        </a:ln>
        <a:effectLst/>
      </c:spPr>
    </c:plotArea>
    <c:legend>
      <c:legendPos val="b"/>
      <c:overlay val="0"/>
      <c:txPr>
        <a:bodyPr/>
        <a:lstStyle/>
        <a:p>
          <a:pPr>
            <a:defRPr sz="1200">
              <a:latin typeface="+mn-lt"/>
              <a:cs typeface="+mn-lt"/>
            </a:defRPr>
          </a:pPr>
          <a:endParaRPr lang="es-CO"/>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672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Presento la KATA Core E-Commerce con Descuentos Acumulativos: un MVP full stack de checkout con un motor de descuentos en cascada (categoría, volumen, cupón y tope del 35 %). La franja inferior resume el corazón del negocio: cuatro reglas que se aplican en orden, cada una sobre el subtotal que deja la anterior.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sigue cinco bloques. Empiezo por el modelo C4 para dar una vista general de cómo está construida la KATA; luego los patrones de diseño; después las decisiones documentadas en docs/arquitectura.md; la verificación de la cobertura en consola; y cierro con la defensa de docs/ia.md. El mensaje central que quiero dejar es el de la derecha.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el modelo C4 de Simon Brown porque permite explicar el sistema por niveles de zoom: primero quién lo usa, luego qué piezas desplegables lo componen y finalmente qué clases importantes hay dentro de cada pieza.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Nivel 1, contexto. Hay dos actores: el cliente comprador, que usa la aplicación desde el navegador, y la mesa evaluadora o QA, que prueba la API directamente con Swagger o Postman usando un token JWT. El sistema es uno solo y resuelve las cuatro historias de usuario de la derecha. No hay sistemas externos: precios, porcentajes, cupones y stock viven en nuestra base de datos.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Nivel 2, contenedores. Son tres piezas desplegables: la SPA en Angular 22 con signals, la API REST en Spring Boot 3.2 con Java 17 y la base MySQL 5.7.44. La SPA habla con la API por JSON sobre HTTP con un token JWT Bearer; la API habla con MySQL por JDBC. Swagger y Postman prueban la API directamente. Un detalle importante: la aplicación no crea ni modifica el esquema; Hibernate solo lo valida, y los scripts SQL son la fuente de verdad.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Nivel 3, componentes del backend. Los controllers solo reciben HTTP y delegan. La capa de aplicación orquesta: PricingService es el único camino de cálculo, compartido por la cotización y el checkout; OrderService abre una transacción por intento y reintenta si choca el número de orden; StockService descuenta stock con un UPDATE atómico. A la derecha, la persistencia arriba y el motor de descuentos abajo, resaltado. Fíjense en que no hay ninguna flecha entre el motor y la persistencia: el motor no conoce la base de datos. Dentro del motor están los dos patrones: Strategy, con la interfaz DiscountRule y sus tres reglas, y Factory, con DiscountRuleFactory.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Nivel 3, componentes del frontend. Son componentes standalone que leen el estado desde servicios con signals. CartService es el corazón: calcula solo el subtotal original y, cuando el carrito cambia, vuelve a pedir la cotización al backend con un debounce de 300 milisegundos. El interceptor agrega el token JWT y reintenta una vez si recibe un 401. La decisión clave es que el frontend no duplica las reglas de descuento: la fuente de verdad es siempre el backend.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KATA exige al menos dos patrones de diseño. Los ubiqué donde el negocio realmente genera variación: las reglas de descuento.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Las tres reglas de la cascada comparten un contrato: reciben el subtotal acumulado y devuelven el monto a descontar. A la derecha está el código real del contexto: un bucle que no sabe qué regla está ejecutando; cada una descuenta sobre el subtotal que dejó la anterior, y eso es justamente la cascada multiplicativa. El tope del 35 % lo dejé fuera a propósito: no es un descuento, es un límite sobre la suma de los tres. Así, agregar una promoción es crear una clase, sin tocar el calculador ni las reglas existentes.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DiscountRuleFactory concentra dos decisiones que no deben quedar repartidas: qué reglas aplican, ya que el cupón solo existe si viene uno válido, y en qué orden se aplican, porque en una cascada multiplicativa el orden cambia el resultado. Descarté registrar cada regla como un bean de Spring porque la regla de cupón depende del porcentaje de cada petición, así que no puede ser un singleton. La fábrica se inyecta en el calculador, lo que también cumple la inversión de dependencias. Lo verifica DiscountRuleFactoryTest.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bloque responde las tres preguntas obligatorias de docs/arquitectura.md: A, por qué este stack y estas carpetas; B, qué trade-offs asumí; y C, cómo aislé el motor.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pieza del stack responde a una necesidad del problema. El dinero exige exactitud, así que uso BigDecimal. Las reglas deben ser configurables, así que van en propiedades tipadas y validadas al arrancar. El stock no puede quedar negativo, por eso necesito transacciones ACID. La interfaz debe recalcular en tiempo real, y para eso uso signals. Elegí Spring Boot 3.2 porque es la última línea cuyo Hibernate soporta MySQL 5.7, que era el entorno dado. Organicé las carpetas como un monorepo y el backend por capas, porque hay un solo contexto de negocio; la única excepción es el subpaquete del motor de descuentos.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siete trade-offs, cada uno con su lectura de negocio y técnica. Por ejemplo: prioricé consistencia sobre throughput, porque una sobreventa cuesta cancelaciones y reputación; es mejor responder un 409 a tiempo. También prioricé la entrega sobre la automatización, pero sin ceder en la calidad verificable: la cobertura mínima bloquea el build. Ninguno de estos trade-offs compromete la corrección de las HU1 a HU4; lo que cedí es escala, operación o automatización, que son reversibles y tienen un disparador claro para revisarlos.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aislé las reglas matemáticas? El motor es una función pura sobre datos propios. PricingService es la frontera de entrada: carga las entidades, valida el cupón y el stock, y traduce cada producto a un DiscountLine. El motor devuelve un DiscountResult, y CheckoutMapper es la frontera de salida hacia la respuesta HTTP o la entidad Order. Todo lo que depende del mundo exterior, como la fecha, la base de datos o el stock, se resuelve antes de calcular. Por eso el cálculo es determinista, se prueba sin Spring ni base de datos, y un cambio en el esquema o en el JSON no toca el motor.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caso más exigente del seed. Subtotal de 320. La categoría descuenta 27, quedan 293. El volumen es el 5 % de 293, es decir 14.65, quedan 278.35. El cupón TESTCAP30 es el 30 % de 278.35, que da 83.505 y se redondea a 83.51. La suma bruta, 125.16, supera el tope de 112, que es el 35 % de 320; por eso hay un ajuste de 13.16, el total queda en 208 y se activa la alerta de la HU4. Las pruebas verifican cada uno de estos valores al centavo.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requisito pide un mínimo del 80 % de cobertura en el frontend y en el backend, con comandos claros. No me quedé en medirla: la convertí en una condición del build.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Backend: 104 pruebas, con 95.5 % de líneas y 84.9 % de ramas. Frontend: 55 pruebas, con 99 % de líneas y 96.6 % de ramas. Un punto que quiero destacar: al principio, Vitest reportaba un 91 % que era engañoso, porque solo medía los archivos que importaban las pruebas. Configuré la cobertura sobre todo src/app y la cifra real era del 42 %; escribí las pruebas que faltaban hasta llegar al 99 %. En el backend, las ramas estaban en 65 %, y agregué pruebas de validación del carrito, de igualdad de entidades y del reintento del número de orden.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salida real de la consola. En el backend, mvn clean verify ejecuta las 104 pruebas, genera el reporte de JaCoCo y verifica el mínimo; termina en BUILD SUCCESS. En el frontend, npm run test:coverage muestra las 55 pruebas y el resumen de cobertura. Abajo está la prueba de que la regla no es decorativa: si subo el umbral al 99 %, el backend falla con BUILD FAILURE, y el frontend falla con el mensaje de umbral no alcanzado. Si la mesa lo desea, puedo ejecutarlo en vivo; los comandos están en el README principal.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defiendo el uso de IA. La IA fue una herramienta supervisada: yo decidí el alcance, revisé cada entrega y la corregí cuando se equivocó.</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Usé Claude Code, el agente de terminal de Anthropic, que lee el repositorio, edita archivos y ejecuta compilaciones y pruebas. Su contexto es el archivo CLAUDE.md, y las fuentes de verdad fueron los scripts del esquema y del seed. Lo importante son los cinco controles de la derecha: primero leer y después cambiar; restricciones explícitas en cada pedido; verificar ejecutando en lugar de confiar en lo que dice la IA; casos de negocio comprobados al centavo; y commits pequeños, para que cada paso sea auditable.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Escribí cuatro prompts principales, cada uno con un rol, fuentes de verdad y restricciones. P1 diseñó la base de datos con las órdenes de referencia y su cálculo paso a paso; P2 construyó el backend; P3 el frontend, con interfaces exactamente iguales a los DTO; y P4 agregó la seguridad JWT sin tocar la lógica de negocio. Debajo de cada uno están los commits donde se puede auditar el resultado. El texto completo está en el anexo de docs/ia.md.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corrección: la IA generó mucho más de lo que pedían las historias de usuario, como CRUD completos, paginación, eventos con métricas e interfaces sin una segunda implementación. Reconozco que el origen fue mi propio prompt, que pedía todo eso, y la IA lo siguió al pie de la letra sin cuestionar el alcance. Lo corregí limitando el código a las cuatro historias. La lección es que el juicio sobre el alcance es responsabilidad del desarrollador, no de la 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corrección es la más interesante: al limpiar, la IA se fue al otro extremo y borró también los patrones de diseño, que eran un requisito obligatorio. Además, la documentación siguió describiendo clases que ya no existían. La corregí reintroduciendo solo Strategy y Factory en su forma mínima, sin cambiar reglas de negocio ni las aserciones de las pruebas existentes, y alineé la documentación. La lección: una corrección de la IA también se verifica contra todos los requisitos, no solo contra la instrucción del momento.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 las dos correcciones de fondo, detecté y corregí errores típicos de la IA en un problema financiero: sumar porcentajes en lugar de aplicar la cascada, usar double, redondear solo al final o aplicar el tope sobre el total ya descontado. Los cuatro de abajo aparecieron durante el desarrollo: proponer ddl-auto=update, llamar a now() sin un reloj inyectado, reportar una cobertura engañosa y usar escapes del tipado. Cada uno tiene una prueba o una regla del build que impide que vuelva.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entrego un MVP correcto al centavo, con el motor de descuentos aislado de la persistencia y de la API; patrones aplicados donde el negocio genera variación; una cobertura mínima que el build verifica; y un uso de IA supervisado, con dos correcciones de fondo documentadas. Los próximos pasos para producción están en docs/arquitectura.md: Testcontainers con reloj fijo, credenciales por variables de entorno y migración a MySQL 8 con Boot 3.4. Muchas gracias;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E4D6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371600"/>
            <a:ext cx="106984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91440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
        <p:nvSpPr>
          <p:cNvPr id="4" name="Text 0"/>
          <p:cNvSpPr>
            <a:spLocks noGrp="1"/>
          </p:cNvSpPr>
          <p:nvPr>
            <p:ph type="body" idx="102" hasCustomPrompt="1"/>
          </p:nvPr>
        </p:nvSpPr>
        <p:spPr>
          <a:xfrm>
            <a:off x="731520" y="4251960"/>
            <a:ext cx="10698480" cy="457200"/>
          </a:xfrm>
          <a:prstGeom prst="rect">
            <a:avLst/>
          </a:prstGeom>
          <a:noFill/>
          <a:ln/>
        </p:spPr>
        <p:txBody>
          <a:bodyPr wrap="square" rtlCol="0"/>
          <a:lstStyle>
            <a:lvl1pPr marL="0" indent="0">
              <a:buNone/>
              <a:defRPr lang="en-US" sz="1600" dirty="0">
                <a:solidFill>
                  <a:schemeClr val="accent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0E4D6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3657600" cy="1188720"/>
          </a:xfrm>
          <a:prstGeom prst="rect">
            <a:avLst/>
          </a:prstGeom>
          <a:noFill/>
          <a:ln/>
        </p:spPr>
        <p:txBody>
          <a:bodyPr wrap="square" rtlCol="0"/>
          <a:lstStyle>
            <a:lvl1pPr marL="0" indent="0">
              <a:buNone/>
              <a:defRPr lang="en-US" sz="6600" b="1" dirty="0">
                <a:solidFill>
                  <a:schemeClr val="accent2"/>
                </a:solidFill>
                <a:latin typeface="Cambria" pitchFamily="34" charset="0"/>
                <a:ea typeface="Cambria" pitchFamily="34" charset="-122"/>
                <a:cs typeface="Cambria" pitchFamily="34" charset="-120"/>
              </a:defRPr>
            </a:lvl1pPr>
          </a:lstStyle>
          <a:p>
            <a:pPr marL="0" indent="0">
              <a:buNone/>
            </a:pPr>
            <a:endParaRPr lang="en-US" sz="6600" dirty="0"/>
          </a:p>
        </p:txBody>
      </p:sp>
      <p:sp>
        <p:nvSpPr>
          <p:cNvPr id="3" name="Text 0"/>
          <p:cNvSpPr>
            <a:spLocks noGrp="1"/>
          </p:cNvSpPr>
          <p:nvPr>
            <p:ph type="title" idx="101" hasCustomPrompt="1"/>
          </p:nvPr>
        </p:nvSpPr>
        <p:spPr>
          <a:xfrm>
            <a:off x="731520" y="2788920"/>
            <a:ext cx="10698480" cy="10058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731520" y="3886200"/>
            <a:ext cx="9601200" cy="128016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3"/>
                </a:solidFill>
              </a:rPr>
              <a:t>Sustentación KATA · Core E-Commerce con Descuentos Acumulativos</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371600"/>
            <a:ext cx="10698480" cy="1737360"/>
          </a:xfrm>
          <a:prstGeom prst="rect">
            <a:avLst/>
          </a:prstGeom>
          <a:noFill/>
          <a:ln/>
        </p:spPr>
        <p:txBody>
          <a:bodyPr wrap="square" rtlCol="0" anchor="b"/>
          <a:lstStyle/>
          <a:p>
            <a:pPr marL="0" indent="0" algn="l">
              <a:buNone/>
            </a:pPr>
            <a:r>
              <a:rPr lang="en-US" sz="4400" b="1" dirty="0">
                <a:solidFill>
                  <a:schemeClr val="bg1"/>
                </a:solidFill>
              </a:rPr>
              <a:t>Core E-Commerce con Descuentos Acumulativos</a:t>
            </a:r>
            <a:endParaRPr lang="en-US" sz="4400" dirty="0"/>
          </a:p>
        </p:txBody>
      </p:sp>
      <p:sp>
        <p:nvSpPr>
          <p:cNvPr id="3" name="Text 0"/>
          <p:cNvSpPr>
            <a:spLocks noGrp="1"/>
          </p:cNvSpPr>
          <p:nvPr>
            <p:ph type="body" idx="101" hasCustomPrompt="1"/>
          </p:nvPr>
        </p:nvSpPr>
        <p:spPr>
          <a:xfrm>
            <a:off x="731520" y="3246120"/>
            <a:ext cx="10698480" cy="914400"/>
          </a:xfrm>
          <a:prstGeom prst="rect">
            <a:avLst/>
          </a:prstGeom>
          <a:noFill/>
          <a:ln/>
        </p:spPr>
        <p:txBody>
          <a:bodyPr wrap="square" rtlCol="0" anchor="t"/>
          <a:lstStyle/>
          <a:p>
            <a:pPr marL="0" indent="0">
              <a:buNone/>
            </a:pPr>
            <a:r>
              <a:rPr lang="en-US" sz="2000" dirty="0">
                <a:solidFill>
                  <a:schemeClr val="bg2"/>
                </a:solidFill>
              </a:rPr>
              <a:t>Sustentación técnica de la KATA: arquitectura, patrones de diseño, calidad y uso de IA</a:t>
            </a:r>
            <a:endParaRPr lang="en-US" sz="2000" dirty="0"/>
          </a:p>
        </p:txBody>
      </p:sp>
      <p:sp>
        <p:nvSpPr>
          <p:cNvPr id="4" name="Text 0"/>
          <p:cNvSpPr>
            <a:spLocks noGrp="1"/>
          </p:cNvSpPr>
          <p:nvPr>
            <p:ph type="body" idx="102" hasCustomPrompt="1"/>
          </p:nvPr>
        </p:nvSpPr>
        <p:spPr>
          <a:xfrm>
            <a:off x="731520" y="4251960"/>
            <a:ext cx="10698480" cy="457200"/>
          </a:xfrm>
          <a:prstGeom prst="rect">
            <a:avLst/>
          </a:prstGeom>
          <a:noFill/>
          <a:ln/>
        </p:spPr>
        <p:txBody>
          <a:bodyPr wrap="square" rtlCol="0" anchor="t"/>
          <a:lstStyle/>
          <a:p>
            <a:pPr marL="0" indent="0">
              <a:buNone/>
            </a:pPr>
            <a:r>
              <a:rPr lang="en-US" sz="1600" dirty="0">
                <a:solidFill>
                  <a:schemeClr val="accent2"/>
                </a:solidFill>
              </a:rPr>
              <a:t>Ricardo Esteban · Octubre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Agenda</a:t>
            </a:r>
            <a:endParaRPr lang="en-US" sz="3200" dirty="0"/>
          </a:p>
        </p:txBody>
      </p:sp>
      <p:sp>
        <p:nvSpPr>
          <p:cNvPr id="3" name="Shape 1"/>
          <p:cNvSpPr/>
          <p:nvPr/>
        </p:nvSpPr>
        <p:spPr>
          <a:xfrm>
            <a:off x="548640" y="1371600"/>
            <a:ext cx="640080" cy="640080"/>
          </a:xfrm>
          <a:prstGeom prst="ellipse">
            <a:avLst/>
          </a:prstGeom>
          <a:solidFill>
            <a:schemeClr val="accent2"/>
          </a:solidFill>
          <a:ln/>
        </p:spPr>
      </p:sp>
      <p:sp>
        <p:nvSpPr>
          <p:cNvPr id="4" name="Text 2"/>
          <p:cNvSpPr txBox="1"/>
          <p:nvPr/>
        </p:nvSpPr>
        <p:spPr>
          <a:xfrm>
            <a:off x="548640" y="137160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5" name="Text 3"/>
          <p:cNvSpPr txBox="1"/>
          <p:nvPr/>
        </p:nvSpPr>
        <p:spPr>
          <a:xfrm>
            <a:off x="1417320" y="1353312"/>
            <a:ext cx="5303520" cy="365760"/>
          </a:xfrm>
          <a:prstGeom prst="rect">
            <a:avLst/>
          </a:prstGeom>
          <a:noFill/>
          <a:ln/>
        </p:spPr>
        <p:txBody>
          <a:bodyPr wrap="square" lIns="0" tIns="0" rIns="0" bIns="0" rtlCol="0" anchor="t"/>
          <a:lstStyle/>
          <a:p>
            <a:pPr marL="0" indent="0">
              <a:buNone/>
            </a:pPr>
            <a:r>
              <a:rPr lang="en-US" sz="1800" b="1" dirty="0">
                <a:solidFill>
                  <a:schemeClr val="tx2"/>
                </a:solidFill>
              </a:rPr>
              <a:t>Arquitectura (modelo C4)</a:t>
            </a:r>
            <a:endParaRPr lang="en-US" sz="1800" dirty="0"/>
          </a:p>
        </p:txBody>
      </p:sp>
      <p:sp>
        <p:nvSpPr>
          <p:cNvPr id="6" name="Text 4"/>
          <p:cNvSpPr txBox="1"/>
          <p:nvPr/>
        </p:nvSpPr>
        <p:spPr>
          <a:xfrm>
            <a:off x="1417320" y="1719072"/>
            <a:ext cx="5303520" cy="320040"/>
          </a:xfrm>
          <a:prstGeom prst="rect">
            <a:avLst/>
          </a:prstGeom>
          <a:noFill/>
          <a:ln/>
        </p:spPr>
        <p:txBody>
          <a:bodyPr wrap="square" lIns="0" tIns="0" rIns="0" bIns="0" rtlCol="0" anchor="t"/>
          <a:lstStyle/>
          <a:p>
            <a:pPr marL="0" indent="0">
              <a:buNone/>
            </a:pPr>
            <a:r>
              <a:rPr lang="en-US" sz="1400" dirty="0">
                <a:solidFill>
                  <a:schemeClr val="accent3"/>
                </a:solidFill>
              </a:rPr>
              <a:t>Contexto, contenedores y componentes de backend y frontend</a:t>
            </a:r>
            <a:endParaRPr lang="en-US" sz="1400" dirty="0"/>
          </a:p>
        </p:txBody>
      </p:sp>
      <p:sp>
        <p:nvSpPr>
          <p:cNvPr id="7" name="Shape 5"/>
          <p:cNvSpPr/>
          <p:nvPr/>
        </p:nvSpPr>
        <p:spPr>
          <a:xfrm>
            <a:off x="548640" y="2331720"/>
            <a:ext cx="640080" cy="640080"/>
          </a:xfrm>
          <a:prstGeom prst="ellipse">
            <a:avLst/>
          </a:prstGeom>
          <a:solidFill>
            <a:schemeClr val="accent2"/>
          </a:solidFill>
          <a:ln/>
        </p:spPr>
      </p:sp>
      <p:sp>
        <p:nvSpPr>
          <p:cNvPr id="8" name="Text 6"/>
          <p:cNvSpPr txBox="1"/>
          <p:nvPr/>
        </p:nvSpPr>
        <p:spPr>
          <a:xfrm>
            <a:off x="548640" y="233172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9" name="Text 7"/>
          <p:cNvSpPr txBox="1"/>
          <p:nvPr/>
        </p:nvSpPr>
        <p:spPr>
          <a:xfrm>
            <a:off x="1417320" y="2313432"/>
            <a:ext cx="5303520" cy="365760"/>
          </a:xfrm>
          <a:prstGeom prst="rect">
            <a:avLst/>
          </a:prstGeom>
          <a:noFill/>
          <a:ln/>
        </p:spPr>
        <p:txBody>
          <a:bodyPr wrap="square" lIns="0" tIns="0" rIns="0" bIns="0" rtlCol="0" anchor="t"/>
          <a:lstStyle/>
          <a:p>
            <a:pPr marL="0" indent="0">
              <a:buNone/>
            </a:pPr>
            <a:r>
              <a:rPr lang="en-US" sz="1800" b="1" dirty="0">
                <a:solidFill>
                  <a:schemeClr val="tx2"/>
                </a:solidFill>
              </a:rPr>
              <a:t>Patrones de diseño</a:t>
            </a:r>
            <a:endParaRPr lang="en-US" sz="1800" dirty="0"/>
          </a:p>
        </p:txBody>
      </p:sp>
      <p:sp>
        <p:nvSpPr>
          <p:cNvPr id="10" name="Text 8"/>
          <p:cNvSpPr txBox="1"/>
          <p:nvPr/>
        </p:nvSpPr>
        <p:spPr>
          <a:xfrm>
            <a:off x="1417320" y="2679192"/>
            <a:ext cx="5303520" cy="320040"/>
          </a:xfrm>
          <a:prstGeom prst="rect">
            <a:avLst/>
          </a:prstGeom>
          <a:noFill/>
          <a:ln/>
        </p:spPr>
        <p:txBody>
          <a:bodyPr wrap="square" lIns="0" tIns="0" rIns="0" bIns="0" rtlCol="0" anchor="t"/>
          <a:lstStyle/>
          <a:p>
            <a:pPr marL="0" indent="0">
              <a:buNone/>
            </a:pPr>
            <a:r>
              <a:rPr lang="en-US" sz="1400" dirty="0">
                <a:solidFill>
                  <a:schemeClr val="accent3"/>
                </a:solidFill>
              </a:rPr>
              <a:t>Strategy y Factory en el motor de </a:t>
            </a:r>
            <a:r>
              <a:rPr lang="en-US" sz="1400" dirty="0" err="1">
                <a:solidFill>
                  <a:schemeClr val="accent3"/>
                </a:solidFill>
              </a:rPr>
              <a:t>descuentos</a:t>
            </a:r>
            <a:endParaRPr lang="en-US" sz="1400" dirty="0"/>
          </a:p>
        </p:txBody>
      </p:sp>
      <p:sp>
        <p:nvSpPr>
          <p:cNvPr id="11" name="Shape 9"/>
          <p:cNvSpPr/>
          <p:nvPr/>
        </p:nvSpPr>
        <p:spPr>
          <a:xfrm>
            <a:off x="548640" y="3291840"/>
            <a:ext cx="640080" cy="640080"/>
          </a:xfrm>
          <a:prstGeom prst="ellipse">
            <a:avLst/>
          </a:prstGeom>
          <a:solidFill>
            <a:schemeClr val="accent2"/>
          </a:solidFill>
          <a:ln/>
        </p:spPr>
      </p:sp>
      <p:sp>
        <p:nvSpPr>
          <p:cNvPr id="12" name="Text 10"/>
          <p:cNvSpPr txBox="1"/>
          <p:nvPr/>
        </p:nvSpPr>
        <p:spPr>
          <a:xfrm>
            <a:off x="548640" y="329184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3" name="Text 11"/>
          <p:cNvSpPr txBox="1"/>
          <p:nvPr/>
        </p:nvSpPr>
        <p:spPr>
          <a:xfrm>
            <a:off x="1417320" y="3265085"/>
            <a:ext cx="5303520" cy="365760"/>
          </a:xfrm>
          <a:prstGeom prst="rect">
            <a:avLst/>
          </a:prstGeom>
          <a:noFill/>
          <a:ln/>
        </p:spPr>
        <p:txBody>
          <a:bodyPr wrap="square" lIns="0" tIns="0" rIns="0" bIns="0" rtlCol="0" anchor="t"/>
          <a:lstStyle/>
          <a:p>
            <a:pPr marL="0" indent="0">
              <a:buNone/>
            </a:pPr>
            <a:r>
              <a:rPr lang="en-US" sz="1800" b="1" dirty="0">
                <a:solidFill>
                  <a:schemeClr val="tx2"/>
                </a:solidFill>
              </a:rPr>
              <a:t>Decisiones de arquitectura</a:t>
            </a:r>
            <a:endParaRPr lang="en-US" sz="1800" dirty="0"/>
          </a:p>
        </p:txBody>
      </p:sp>
      <p:sp>
        <p:nvSpPr>
          <p:cNvPr id="14" name="Text 12"/>
          <p:cNvSpPr txBox="1"/>
          <p:nvPr/>
        </p:nvSpPr>
        <p:spPr>
          <a:xfrm>
            <a:off x="1417320" y="3639312"/>
            <a:ext cx="5303520" cy="320040"/>
          </a:xfrm>
          <a:prstGeom prst="rect">
            <a:avLst/>
          </a:prstGeom>
          <a:noFill/>
          <a:ln/>
        </p:spPr>
        <p:txBody>
          <a:bodyPr wrap="square" lIns="0" tIns="0" rIns="0" bIns="0" rtlCol="0" anchor="t"/>
          <a:lstStyle/>
          <a:p>
            <a:pPr marL="0" indent="0">
              <a:buNone/>
            </a:pPr>
            <a:r>
              <a:rPr lang="en-US" sz="1400" dirty="0">
                <a:solidFill>
                  <a:schemeClr val="accent3"/>
                </a:solidFill>
              </a:rPr>
              <a:t>Stack, trade-offs y aislamiento de las reglas de descuento</a:t>
            </a:r>
            <a:endParaRPr lang="en-US" sz="1400" dirty="0"/>
          </a:p>
        </p:txBody>
      </p:sp>
      <p:sp>
        <p:nvSpPr>
          <p:cNvPr id="15" name="Shape 13"/>
          <p:cNvSpPr/>
          <p:nvPr/>
        </p:nvSpPr>
        <p:spPr>
          <a:xfrm>
            <a:off x="548640" y="4251960"/>
            <a:ext cx="640080" cy="640080"/>
          </a:xfrm>
          <a:prstGeom prst="ellipse">
            <a:avLst/>
          </a:prstGeom>
          <a:solidFill>
            <a:schemeClr val="accent2"/>
          </a:solidFill>
          <a:ln/>
        </p:spPr>
      </p:sp>
      <p:sp>
        <p:nvSpPr>
          <p:cNvPr id="16" name="Text 14"/>
          <p:cNvSpPr txBox="1"/>
          <p:nvPr/>
        </p:nvSpPr>
        <p:spPr>
          <a:xfrm>
            <a:off x="548640" y="425196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7" name="Text 15"/>
          <p:cNvSpPr txBox="1"/>
          <p:nvPr/>
        </p:nvSpPr>
        <p:spPr>
          <a:xfrm>
            <a:off x="1417320" y="4233672"/>
            <a:ext cx="5303520" cy="365760"/>
          </a:xfrm>
          <a:prstGeom prst="rect">
            <a:avLst/>
          </a:prstGeom>
          <a:noFill/>
          <a:ln/>
        </p:spPr>
        <p:txBody>
          <a:bodyPr wrap="square" lIns="0" tIns="0" rIns="0" bIns="0" rtlCol="0" anchor="t"/>
          <a:lstStyle/>
          <a:p>
            <a:pPr marL="0" indent="0">
              <a:buNone/>
            </a:pPr>
            <a:r>
              <a:rPr lang="en-US" sz="1800" b="1" dirty="0">
                <a:solidFill>
                  <a:schemeClr val="tx2"/>
                </a:solidFill>
              </a:rPr>
              <a:t>Calidad y cobertura</a:t>
            </a:r>
            <a:endParaRPr lang="en-US" sz="1800" dirty="0"/>
          </a:p>
        </p:txBody>
      </p:sp>
      <p:sp>
        <p:nvSpPr>
          <p:cNvPr id="18" name="Text 16"/>
          <p:cNvSpPr txBox="1"/>
          <p:nvPr/>
        </p:nvSpPr>
        <p:spPr>
          <a:xfrm>
            <a:off x="1417320" y="4599432"/>
            <a:ext cx="5303520" cy="320040"/>
          </a:xfrm>
          <a:prstGeom prst="rect">
            <a:avLst/>
          </a:prstGeom>
          <a:noFill/>
          <a:ln/>
        </p:spPr>
        <p:txBody>
          <a:bodyPr wrap="square" lIns="0" tIns="0" rIns="0" bIns="0" rtlCol="0" anchor="t"/>
          <a:lstStyle/>
          <a:p>
            <a:pPr marL="0" indent="0">
              <a:buNone/>
            </a:pPr>
            <a:r>
              <a:rPr lang="en-US" sz="1400" dirty="0">
                <a:solidFill>
                  <a:schemeClr val="accent3"/>
                </a:solidFill>
              </a:rPr>
              <a:t>Verificación en consola del mínimo del 80 %</a:t>
            </a:r>
            <a:endParaRPr lang="en-US" sz="1400" dirty="0"/>
          </a:p>
        </p:txBody>
      </p:sp>
      <p:sp>
        <p:nvSpPr>
          <p:cNvPr id="19" name="Shape 17"/>
          <p:cNvSpPr/>
          <p:nvPr/>
        </p:nvSpPr>
        <p:spPr>
          <a:xfrm>
            <a:off x="548640" y="5212080"/>
            <a:ext cx="640080" cy="640080"/>
          </a:xfrm>
          <a:prstGeom prst="ellipse">
            <a:avLst/>
          </a:prstGeom>
          <a:solidFill>
            <a:schemeClr val="accent2"/>
          </a:solidFill>
          <a:ln/>
        </p:spPr>
      </p:sp>
      <p:sp>
        <p:nvSpPr>
          <p:cNvPr id="20" name="Text 18"/>
          <p:cNvSpPr txBox="1"/>
          <p:nvPr/>
        </p:nvSpPr>
        <p:spPr>
          <a:xfrm>
            <a:off x="548640" y="521208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5</a:t>
            </a:r>
            <a:endParaRPr lang="en-US" sz="1800" dirty="0"/>
          </a:p>
        </p:txBody>
      </p:sp>
      <p:sp>
        <p:nvSpPr>
          <p:cNvPr id="21" name="Text 19"/>
          <p:cNvSpPr txBox="1"/>
          <p:nvPr/>
        </p:nvSpPr>
        <p:spPr>
          <a:xfrm>
            <a:off x="1417320" y="5193792"/>
            <a:ext cx="5303520" cy="365760"/>
          </a:xfrm>
          <a:prstGeom prst="rect">
            <a:avLst/>
          </a:prstGeom>
          <a:noFill/>
          <a:ln/>
        </p:spPr>
        <p:txBody>
          <a:bodyPr wrap="square" lIns="0" tIns="0" rIns="0" bIns="0" rtlCol="0" anchor="t"/>
          <a:lstStyle/>
          <a:p>
            <a:pPr marL="0" indent="0">
              <a:buNone/>
            </a:pPr>
            <a:r>
              <a:rPr lang="en-US" sz="1800" b="1" dirty="0">
                <a:solidFill>
                  <a:schemeClr val="tx2"/>
                </a:solidFill>
              </a:rPr>
              <a:t>Uso de IA</a:t>
            </a:r>
            <a:endParaRPr lang="en-US" sz="1800" dirty="0"/>
          </a:p>
        </p:txBody>
      </p:sp>
      <p:sp>
        <p:nvSpPr>
          <p:cNvPr id="22" name="Text 20"/>
          <p:cNvSpPr txBox="1"/>
          <p:nvPr/>
        </p:nvSpPr>
        <p:spPr>
          <a:xfrm>
            <a:off x="1417320" y="5559552"/>
            <a:ext cx="5303520" cy="320040"/>
          </a:xfrm>
          <a:prstGeom prst="rect">
            <a:avLst/>
          </a:prstGeom>
          <a:noFill/>
          <a:ln/>
        </p:spPr>
        <p:txBody>
          <a:bodyPr wrap="square" lIns="0" tIns="0" rIns="0" bIns="0" rtlCol="0" anchor="t"/>
          <a:lstStyle/>
          <a:p>
            <a:pPr marL="0" indent="0">
              <a:buNone/>
            </a:pPr>
            <a:r>
              <a:rPr lang="en-US" sz="1400" dirty="0">
                <a:solidFill>
                  <a:schemeClr val="accent3"/>
                </a:solidFill>
              </a:rPr>
              <a:t>Agente, prompts y las dos correcciones a la IA</a:t>
            </a:r>
            <a:endParaRPr lang="en-US" sz="1400" dirty="0"/>
          </a:p>
        </p:txBody>
      </p:sp>
      <p:sp>
        <p:nvSpPr>
          <p:cNvPr id="23" name="Shape 21"/>
          <p:cNvSpPr/>
          <p:nvPr/>
        </p:nvSpPr>
        <p:spPr>
          <a:xfrm>
            <a:off x="7223760" y="1371600"/>
            <a:ext cx="4434840" cy="4343400"/>
          </a:xfrm>
          <a:prstGeom prst="roundRect">
            <a:avLst>
              <a:gd name="adj" fmla="val 1684"/>
            </a:avLst>
          </a:prstGeom>
          <a:solidFill>
            <a:schemeClr val="tx2"/>
          </a:solidFill>
          <a:ln/>
        </p:spPr>
      </p:sp>
      <p:sp>
        <p:nvSpPr>
          <p:cNvPr id="24" name="Text 22"/>
          <p:cNvSpPr txBox="1"/>
          <p:nvPr/>
        </p:nvSpPr>
        <p:spPr>
          <a:xfrm>
            <a:off x="7543800" y="1691640"/>
            <a:ext cx="3840480" cy="365760"/>
          </a:xfrm>
          <a:prstGeom prst="rect">
            <a:avLst/>
          </a:prstGeom>
          <a:noFill/>
          <a:ln/>
        </p:spPr>
        <p:txBody>
          <a:bodyPr wrap="square" lIns="0" tIns="0" rIns="0" bIns="0" rtlCol="0" anchor="t"/>
          <a:lstStyle/>
          <a:p>
            <a:pPr marL="0" indent="0">
              <a:buNone/>
            </a:pPr>
            <a:r>
              <a:rPr lang="en-US" sz="1600" b="1" dirty="0">
                <a:solidFill>
                  <a:schemeClr val="accent2"/>
                </a:solidFill>
              </a:rPr>
              <a:t>Mensaje central</a:t>
            </a:r>
            <a:endParaRPr lang="en-US" sz="1600" dirty="0"/>
          </a:p>
        </p:txBody>
      </p:sp>
      <p:sp>
        <p:nvSpPr>
          <p:cNvPr id="25" name="Text 23"/>
          <p:cNvSpPr txBox="1"/>
          <p:nvPr/>
        </p:nvSpPr>
        <p:spPr>
          <a:xfrm>
            <a:off x="7543800" y="2194560"/>
            <a:ext cx="3840480" cy="2194560"/>
          </a:xfrm>
          <a:prstGeom prst="rect">
            <a:avLst/>
          </a:prstGeom>
          <a:noFill/>
          <a:ln/>
        </p:spPr>
        <p:txBody>
          <a:bodyPr wrap="square" lIns="0" tIns="0" rIns="0" bIns="0" rtlCol="0" anchor="t"/>
          <a:lstStyle/>
          <a:p>
            <a:pPr marL="0" indent="0">
              <a:buNone/>
            </a:pPr>
            <a:r>
              <a:rPr lang="en-US" sz="2000" dirty="0">
                <a:solidFill>
                  <a:schemeClr val="bg1"/>
                </a:solidFill>
                <a:latin typeface="Cambria" pitchFamily="34" charset="0"/>
                <a:ea typeface="Cambria" pitchFamily="34" charset="-122"/>
                <a:cs typeface="Cambria" pitchFamily="34" charset="-120"/>
              </a:rPr>
              <a:t>Un MVP correcto al centavo, con el motor de descuentos aislado, patrones solo donde el negocio cambia y calidad verificada automáticamente en el build.</a:t>
            </a:r>
            <a:endParaRPr lang="en-US" sz="2000" dirty="0"/>
          </a:p>
        </p:txBody>
      </p:sp>
      <p:sp>
        <p:nvSpPr>
          <p:cNvPr id="26" name="Text 24"/>
          <p:cNvSpPr txBox="1"/>
          <p:nvPr/>
        </p:nvSpPr>
        <p:spPr>
          <a:xfrm>
            <a:off x="7543800" y="4892040"/>
            <a:ext cx="3840480" cy="548640"/>
          </a:xfrm>
          <a:prstGeom prst="rect">
            <a:avLst/>
          </a:prstGeom>
          <a:noFill/>
          <a:ln/>
        </p:spPr>
        <p:txBody>
          <a:bodyPr wrap="square" lIns="0" tIns="0" rIns="0" bIns="0" rtlCol="0" anchor="t"/>
          <a:lstStyle/>
          <a:p>
            <a:pPr marL="0" indent="0">
              <a:buNone/>
            </a:pPr>
            <a:r>
              <a:rPr lang="en-US" sz="1200" dirty="0">
                <a:solidFill>
                  <a:schemeClr val="bg2"/>
                </a:solidFill>
              </a:rPr>
              <a:t>Documentos de soporte: docs/arquitectura.md · docs/ia.md · README.md</a:t>
            </a:r>
            <a:endParaRPr lang="en-US" sz="1200" dirty="0"/>
          </a:p>
        </p:txBody>
      </p:sp>
      <p:sp>
        <p:nvSpPr>
          <p:cNvPr id="27"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3657600" cy="1188720"/>
          </a:xfrm>
          <a:prstGeom prst="rect">
            <a:avLst/>
          </a:prstGeom>
          <a:noFill/>
          <a:ln/>
        </p:spPr>
        <p:txBody>
          <a:bodyPr wrap="square" rtlCol="0" anchor="b"/>
          <a:lstStyle/>
          <a:p>
            <a:pPr marL="0" indent="0">
              <a:buNone/>
            </a:pPr>
            <a:r>
              <a:rPr lang="en-US" sz="6600" b="1" dirty="0">
                <a:solidFill>
                  <a:schemeClr val="accent2"/>
                </a:solidFill>
                <a:latin typeface="Cambria" pitchFamily="34" charset="0"/>
                <a:ea typeface="Cambria" pitchFamily="34" charset="-122"/>
                <a:cs typeface="Cambria" pitchFamily="34" charset="-120"/>
              </a:rPr>
              <a:t>01</a:t>
            </a:r>
            <a:endParaRPr lang="en-US" sz="6600" dirty="0"/>
          </a:p>
        </p:txBody>
      </p:sp>
      <p:sp>
        <p:nvSpPr>
          <p:cNvPr id="3" name="Text 0"/>
          <p:cNvSpPr>
            <a:spLocks noGrp="1"/>
          </p:cNvSpPr>
          <p:nvPr>
            <p:ph type="title" idx="101" hasCustomPrompt="1"/>
          </p:nvPr>
        </p:nvSpPr>
        <p:spPr>
          <a:xfrm>
            <a:off x="731520" y="2788920"/>
            <a:ext cx="10698480" cy="1005840"/>
          </a:xfrm>
          <a:prstGeom prst="rect">
            <a:avLst/>
          </a:prstGeom>
          <a:noFill/>
          <a:ln/>
        </p:spPr>
        <p:txBody>
          <a:bodyPr wrap="square" rtlCol="0" anchor="t"/>
          <a:lstStyle/>
          <a:p>
            <a:pPr marL="0" indent="0" algn="l">
              <a:buNone/>
            </a:pPr>
            <a:r>
              <a:rPr lang="en-US" sz="4000" b="1" dirty="0">
                <a:solidFill>
                  <a:schemeClr val="bg1"/>
                </a:solidFill>
              </a:rPr>
              <a:t>Arquitectura en modelo C4</a:t>
            </a:r>
            <a:endParaRPr lang="en-US" sz="4000" dirty="0"/>
          </a:p>
        </p:txBody>
      </p:sp>
      <p:sp>
        <p:nvSpPr>
          <p:cNvPr id="4" name="Text 0"/>
          <p:cNvSpPr>
            <a:spLocks noGrp="1"/>
          </p:cNvSpPr>
          <p:nvPr>
            <p:ph type="body" idx="102" hasCustomPrompt="1"/>
          </p:nvPr>
        </p:nvSpPr>
        <p:spPr>
          <a:xfrm>
            <a:off x="731520" y="3886200"/>
            <a:ext cx="9601200" cy="1280160"/>
          </a:xfrm>
          <a:prstGeom prst="rect">
            <a:avLst/>
          </a:prstGeom>
          <a:noFill/>
          <a:ln/>
        </p:spPr>
        <p:txBody>
          <a:bodyPr wrap="square" rtlCol="0" anchor="t"/>
          <a:lstStyle/>
          <a:p>
            <a:pPr marL="0" indent="0">
              <a:buNone/>
            </a:pPr>
            <a:r>
              <a:rPr lang="en-US" sz="1800" dirty="0">
                <a:solidFill>
                  <a:schemeClr val="bg2"/>
                </a:solidFill>
              </a:rPr>
              <a:t>De lo general a lo específico: contexto del sistema, contenedores y componentes de backend y frontend</a:t>
            </a:r>
            <a:endParaRPr lang="en-US" sz="1800" dirty="0"/>
          </a:p>
        </p:txBody>
      </p:sp>
      <p:sp>
        <p:nvSpPr>
          <p:cNvPr id="5" name="Shape 3"/>
          <p:cNvSpPr/>
          <p:nvPr/>
        </p:nvSpPr>
        <p:spPr>
          <a:xfrm>
            <a:off x="731520" y="5486400"/>
            <a:ext cx="1298448" cy="502920"/>
          </a:xfrm>
          <a:prstGeom prst="roundRect">
            <a:avLst>
              <a:gd name="adj" fmla="val 49091"/>
            </a:avLst>
          </a:prstGeom>
          <a:solidFill>
            <a:schemeClr val="accent1"/>
          </a:solidFill>
          <a:ln/>
        </p:spPr>
      </p:sp>
      <p:sp>
        <p:nvSpPr>
          <p:cNvPr id="6" name="Text 4"/>
          <p:cNvSpPr txBox="1"/>
          <p:nvPr/>
        </p:nvSpPr>
        <p:spPr>
          <a:xfrm>
            <a:off x="731520" y="5486400"/>
            <a:ext cx="1298448" cy="502920"/>
          </a:xfrm>
          <a:prstGeom prst="rect">
            <a:avLst/>
          </a:prstGeom>
          <a:noFill/>
          <a:ln/>
        </p:spPr>
        <p:txBody>
          <a:bodyPr wrap="square" lIns="0" tIns="0" rIns="0" bIns="0" rtlCol="0" anchor="ctr"/>
          <a:lstStyle/>
          <a:p>
            <a:pPr marL="0" indent="0" algn="ctr">
              <a:buNone/>
            </a:pPr>
            <a:r>
              <a:rPr lang="en-US" sz="1400" b="1" dirty="0">
                <a:solidFill>
                  <a:schemeClr val="bg1"/>
                </a:solidFill>
              </a:rPr>
              <a:t>Contexto</a:t>
            </a:r>
            <a:endParaRPr lang="en-US" sz="1400" dirty="0"/>
          </a:p>
        </p:txBody>
      </p:sp>
      <p:sp>
        <p:nvSpPr>
          <p:cNvPr id="7" name="Shape 5"/>
          <p:cNvSpPr/>
          <p:nvPr/>
        </p:nvSpPr>
        <p:spPr>
          <a:xfrm>
            <a:off x="2258568" y="5486400"/>
            <a:ext cx="1719072" cy="502920"/>
          </a:xfrm>
          <a:prstGeom prst="roundRect">
            <a:avLst>
              <a:gd name="adj" fmla="val 49091"/>
            </a:avLst>
          </a:prstGeom>
          <a:solidFill>
            <a:schemeClr val="accent1"/>
          </a:solidFill>
          <a:ln/>
        </p:spPr>
      </p:sp>
      <p:sp>
        <p:nvSpPr>
          <p:cNvPr id="8" name="Text 6"/>
          <p:cNvSpPr txBox="1"/>
          <p:nvPr/>
        </p:nvSpPr>
        <p:spPr>
          <a:xfrm>
            <a:off x="2258568" y="5486400"/>
            <a:ext cx="1719072" cy="502920"/>
          </a:xfrm>
          <a:prstGeom prst="rect">
            <a:avLst/>
          </a:prstGeom>
          <a:noFill/>
          <a:ln/>
        </p:spPr>
        <p:txBody>
          <a:bodyPr wrap="square" lIns="0" tIns="0" rIns="0" bIns="0" rtlCol="0" anchor="ctr"/>
          <a:lstStyle/>
          <a:p>
            <a:pPr marL="0" indent="0" algn="ctr">
              <a:buNone/>
            </a:pPr>
            <a:r>
              <a:rPr lang="en-US" sz="1400" b="1" dirty="0">
                <a:solidFill>
                  <a:schemeClr val="bg1"/>
                </a:solidFill>
              </a:rPr>
              <a:t>Contenedores</a:t>
            </a:r>
            <a:endParaRPr lang="en-US" sz="1400" dirty="0"/>
          </a:p>
        </p:txBody>
      </p:sp>
      <p:sp>
        <p:nvSpPr>
          <p:cNvPr id="9" name="Shape 7"/>
          <p:cNvSpPr/>
          <p:nvPr/>
        </p:nvSpPr>
        <p:spPr>
          <a:xfrm>
            <a:off x="4206240" y="5486400"/>
            <a:ext cx="2455164" cy="502920"/>
          </a:xfrm>
          <a:prstGeom prst="roundRect">
            <a:avLst>
              <a:gd name="adj" fmla="val 49091"/>
            </a:avLst>
          </a:prstGeom>
          <a:solidFill>
            <a:schemeClr val="accent1"/>
          </a:solidFill>
          <a:ln/>
        </p:spPr>
      </p:sp>
      <p:sp>
        <p:nvSpPr>
          <p:cNvPr id="10" name="Text 8"/>
          <p:cNvSpPr txBox="1"/>
          <p:nvPr/>
        </p:nvSpPr>
        <p:spPr>
          <a:xfrm>
            <a:off x="4206240" y="5486400"/>
            <a:ext cx="2455164" cy="502920"/>
          </a:xfrm>
          <a:prstGeom prst="rect">
            <a:avLst/>
          </a:prstGeom>
          <a:noFill/>
          <a:ln/>
        </p:spPr>
        <p:txBody>
          <a:bodyPr wrap="square" lIns="0" tIns="0" rIns="0" bIns="0" rtlCol="0" anchor="ctr"/>
          <a:lstStyle/>
          <a:p>
            <a:pPr marL="0" indent="0" algn="ctr">
              <a:buNone/>
            </a:pPr>
            <a:r>
              <a:rPr lang="en-US" sz="1400" b="1" dirty="0">
                <a:solidFill>
                  <a:schemeClr val="bg1"/>
                </a:solidFill>
              </a:rPr>
              <a:t>Componentes backend</a:t>
            </a:r>
            <a:endParaRPr lang="en-US" sz="1400" dirty="0"/>
          </a:p>
        </p:txBody>
      </p:sp>
      <p:sp>
        <p:nvSpPr>
          <p:cNvPr id="11" name="Shape 9"/>
          <p:cNvSpPr/>
          <p:nvPr/>
        </p:nvSpPr>
        <p:spPr>
          <a:xfrm>
            <a:off x="6890004" y="5486400"/>
            <a:ext cx="2560320" cy="502920"/>
          </a:xfrm>
          <a:prstGeom prst="roundRect">
            <a:avLst>
              <a:gd name="adj" fmla="val 49091"/>
            </a:avLst>
          </a:prstGeom>
          <a:solidFill>
            <a:schemeClr val="accent1"/>
          </a:solidFill>
          <a:ln/>
        </p:spPr>
      </p:sp>
      <p:sp>
        <p:nvSpPr>
          <p:cNvPr id="12" name="Text 10"/>
          <p:cNvSpPr txBox="1"/>
          <p:nvPr/>
        </p:nvSpPr>
        <p:spPr>
          <a:xfrm>
            <a:off x="6890004" y="5486400"/>
            <a:ext cx="2560320" cy="502920"/>
          </a:xfrm>
          <a:prstGeom prst="rect">
            <a:avLst/>
          </a:prstGeom>
          <a:noFill/>
          <a:ln/>
        </p:spPr>
        <p:txBody>
          <a:bodyPr wrap="square" lIns="0" tIns="0" rIns="0" bIns="0" rtlCol="0" anchor="ctr"/>
          <a:lstStyle/>
          <a:p>
            <a:pPr marL="0" indent="0" algn="ctr">
              <a:buNone/>
            </a:pPr>
            <a:r>
              <a:rPr lang="en-US" sz="1400" b="1" dirty="0">
                <a:solidFill>
                  <a:schemeClr val="bg1"/>
                </a:solidFill>
              </a:rPr>
              <a:t>Componentes frontend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Nivel 1 · Contexto del sistema</a:t>
            </a:r>
            <a:endParaRPr lang="en-US" sz="3200" dirty="0"/>
          </a:p>
        </p:txBody>
      </p:sp>
      <p:sp>
        <p:nvSpPr>
          <p:cNvPr id="3" name="Shape 1"/>
          <p:cNvSpPr/>
          <p:nvPr/>
        </p:nvSpPr>
        <p:spPr>
          <a:xfrm>
            <a:off x="1453896" y="1472184"/>
            <a:ext cx="566928" cy="566928"/>
          </a:xfrm>
          <a:prstGeom prst="ellipse">
            <a:avLst/>
          </a:prstGeom>
          <a:solidFill>
            <a:schemeClr val="tx2"/>
          </a:solidFill>
          <a:ln/>
        </p:spPr>
      </p:sp>
      <p:sp>
        <p:nvSpPr>
          <p:cNvPr id="4" name="Shape 2"/>
          <p:cNvSpPr/>
          <p:nvPr/>
        </p:nvSpPr>
        <p:spPr>
          <a:xfrm>
            <a:off x="548640" y="1965960"/>
            <a:ext cx="2377440" cy="1188720"/>
          </a:xfrm>
          <a:prstGeom prst="roundRect">
            <a:avLst>
              <a:gd name="adj" fmla="val 6154"/>
            </a:avLst>
          </a:prstGeom>
          <a:solidFill>
            <a:schemeClr val="tx2"/>
          </a:solidFill>
          <a:ln/>
        </p:spPr>
      </p:sp>
      <p:sp>
        <p:nvSpPr>
          <p:cNvPr id="5" name="Text 3"/>
          <p:cNvSpPr txBox="1"/>
          <p:nvPr/>
        </p:nvSpPr>
        <p:spPr>
          <a:xfrm>
            <a:off x="640080" y="2020824"/>
            <a:ext cx="2194560" cy="107899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Cliente comprador</a:t>
            </a:r>
            <a:endParaRPr lang="en-US" sz="1500" dirty="0"/>
          </a:p>
          <a:p>
            <a:pPr marL="0" indent="0" algn="ctr">
              <a:spcAft>
                <a:spcPts val="200"/>
              </a:spcAft>
              <a:buNone/>
            </a:pPr>
            <a:r>
              <a:rPr lang="en-US" sz="1100" i="1" dirty="0">
                <a:solidFill>
                  <a:schemeClr val="bg1"/>
                </a:solidFill>
              </a:rPr>
              <a:t>[Persona]</a:t>
            </a:r>
            <a:endParaRPr lang="en-US" sz="1500" dirty="0"/>
          </a:p>
          <a:p>
            <a:pPr marL="0" indent="0" algn="ctr">
              <a:spcAft>
                <a:spcPts val="200"/>
              </a:spcAft>
              <a:buNone/>
            </a:pPr>
            <a:r>
              <a:rPr lang="en-US" sz="1200" dirty="0">
                <a:solidFill>
                  <a:schemeClr val="bg1"/>
                </a:solidFill>
              </a:rPr>
              <a:t>Arma su carrito, aplica cupones y compra</a:t>
            </a:r>
            <a:endParaRPr lang="en-US" sz="1500" dirty="0"/>
          </a:p>
        </p:txBody>
      </p:sp>
      <p:sp>
        <p:nvSpPr>
          <p:cNvPr id="6" name="Shape 4"/>
          <p:cNvSpPr/>
          <p:nvPr/>
        </p:nvSpPr>
        <p:spPr>
          <a:xfrm>
            <a:off x="1453896" y="3666744"/>
            <a:ext cx="566928" cy="566928"/>
          </a:xfrm>
          <a:prstGeom prst="ellipse">
            <a:avLst/>
          </a:prstGeom>
          <a:solidFill>
            <a:schemeClr val="tx2"/>
          </a:solidFill>
          <a:ln/>
        </p:spPr>
      </p:sp>
      <p:sp>
        <p:nvSpPr>
          <p:cNvPr id="7" name="Shape 5"/>
          <p:cNvSpPr/>
          <p:nvPr/>
        </p:nvSpPr>
        <p:spPr>
          <a:xfrm>
            <a:off x="548640" y="4160520"/>
            <a:ext cx="2377440" cy="1188720"/>
          </a:xfrm>
          <a:prstGeom prst="roundRect">
            <a:avLst>
              <a:gd name="adj" fmla="val 6154"/>
            </a:avLst>
          </a:prstGeom>
          <a:solidFill>
            <a:schemeClr val="tx2"/>
          </a:solidFill>
          <a:ln/>
        </p:spPr>
      </p:sp>
      <p:sp>
        <p:nvSpPr>
          <p:cNvPr id="8" name="Text 6"/>
          <p:cNvSpPr txBox="1"/>
          <p:nvPr/>
        </p:nvSpPr>
        <p:spPr>
          <a:xfrm>
            <a:off x="640080" y="4215384"/>
            <a:ext cx="2194560" cy="107899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Mesa evaluadora / QA</a:t>
            </a:r>
            <a:endParaRPr lang="en-US" sz="1500" dirty="0"/>
          </a:p>
          <a:p>
            <a:pPr marL="0" indent="0" algn="ctr">
              <a:spcAft>
                <a:spcPts val="200"/>
              </a:spcAft>
              <a:buNone/>
            </a:pPr>
            <a:r>
              <a:rPr lang="en-US" sz="1100" i="1" dirty="0">
                <a:solidFill>
                  <a:schemeClr val="bg1"/>
                </a:solidFill>
              </a:rPr>
              <a:t>[Persona]</a:t>
            </a:r>
            <a:endParaRPr lang="en-US" sz="1500" dirty="0"/>
          </a:p>
          <a:p>
            <a:pPr marL="0" indent="0" algn="ctr">
              <a:spcAft>
                <a:spcPts val="200"/>
              </a:spcAft>
              <a:buNone/>
            </a:pPr>
            <a:r>
              <a:rPr lang="en-US" sz="1200" dirty="0">
                <a:solidFill>
                  <a:schemeClr val="bg1"/>
                </a:solidFill>
              </a:rPr>
              <a:t>Prueba la API con Swagger y Postman</a:t>
            </a:r>
            <a:endParaRPr lang="en-US" sz="1500" dirty="0"/>
          </a:p>
        </p:txBody>
      </p:sp>
      <p:sp>
        <p:nvSpPr>
          <p:cNvPr id="9" name="Shape 7"/>
          <p:cNvSpPr/>
          <p:nvPr/>
        </p:nvSpPr>
        <p:spPr>
          <a:xfrm>
            <a:off x="4480560" y="1737360"/>
            <a:ext cx="3931920" cy="3840480"/>
          </a:xfrm>
          <a:prstGeom prst="roundRect">
            <a:avLst>
              <a:gd name="adj" fmla="val 1905"/>
            </a:avLst>
          </a:prstGeom>
          <a:solidFill>
            <a:schemeClr val="accent1"/>
          </a:solidFill>
          <a:ln/>
        </p:spPr>
      </p:sp>
      <p:sp>
        <p:nvSpPr>
          <p:cNvPr id="10" name="Text 8"/>
          <p:cNvSpPr txBox="1"/>
          <p:nvPr/>
        </p:nvSpPr>
        <p:spPr>
          <a:xfrm>
            <a:off x="4572000" y="1792224"/>
            <a:ext cx="3749040" cy="3730752"/>
          </a:xfrm>
          <a:prstGeom prst="rect">
            <a:avLst/>
          </a:prstGeom>
          <a:noFill/>
          <a:ln/>
        </p:spPr>
        <p:txBody>
          <a:bodyPr wrap="square" lIns="0" tIns="0" rIns="0" bIns="0" rtlCol="0" anchor="ctr"/>
          <a:lstStyle/>
          <a:p>
            <a:pPr marL="0" indent="0" algn="ctr">
              <a:spcAft>
                <a:spcPts val="200"/>
              </a:spcAft>
              <a:buNone/>
            </a:pPr>
            <a:r>
              <a:rPr lang="en-US" sz="2000" b="1" dirty="0">
                <a:solidFill>
                  <a:schemeClr val="bg1"/>
                </a:solidFill>
              </a:rPr>
              <a:t>Core E-Commerce con Descuentos Acumulativos</a:t>
            </a:r>
            <a:endParaRPr lang="en-US" sz="2000" dirty="0"/>
          </a:p>
          <a:p>
            <a:pPr marL="0" indent="0" algn="ctr">
              <a:spcAft>
                <a:spcPts val="200"/>
              </a:spcAft>
              <a:buNone/>
            </a:pPr>
            <a:r>
              <a:rPr lang="en-US" sz="1100" i="1" dirty="0">
                <a:solidFill>
                  <a:schemeClr val="bg1"/>
                </a:solidFill>
              </a:rPr>
              <a:t>[Sistema de software]</a:t>
            </a:r>
            <a:endParaRPr lang="en-US" sz="2000" dirty="0"/>
          </a:p>
          <a:p>
            <a:pPr marL="0" indent="0" algn="ctr">
              <a:spcAft>
                <a:spcPts val="200"/>
              </a:spcAft>
              <a:buNone/>
            </a:pPr>
            <a:r>
              <a:rPr lang="en-US" sz="1400" dirty="0">
                <a:solidFill>
                  <a:schemeClr val="bg1"/>
                </a:solidFill>
              </a:rPr>
              <a:t>Catálogo, carrito con subtotal en tiempo real, cotización con descuentos en cascada, checkout transaccional y alerta del tope del 35 %.</a:t>
            </a:r>
            <a:endParaRPr lang="en-US" sz="2000" dirty="0"/>
          </a:p>
        </p:txBody>
      </p:sp>
      <p:sp>
        <p:nvSpPr>
          <p:cNvPr id="11" name="Shape 9"/>
          <p:cNvSpPr/>
          <p:nvPr/>
        </p:nvSpPr>
        <p:spPr>
          <a:xfrm>
            <a:off x="2926080" y="2560320"/>
            <a:ext cx="1554480" cy="0"/>
          </a:xfrm>
          <a:prstGeom prst="line">
            <a:avLst/>
          </a:prstGeom>
          <a:noFill/>
          <a:ln w="22225">
            <a:solidFill>
              <a:srgbClr val="6C7A89"/>
            </a:solidFill>
            <a:prstDash val="solid"/>
            <a:tailEnd type="triangle"/>
          </a:ln>
        </p:spPr>
      </p:sp>
      <p:sp>
        <p:nvSpPr>
          <p:cNvPr id="12" name="Text 10"/>
          <p:cNvSpPr txBox="1"/>
          <p:nvPr/>
        </p:nvSpPr>
        <p:spPr>
          <a:xfrm>
            <a:off x="2971800" y="2148840"/>
            <a:ext cx="1463040" cy="365760"/>
          </a:xfrm>
          <a:prstGeom prst="rect">
            <a:avLst/>
          </a:prstGeom>
          <a:noFill/>
          <a:ln/>
        </p:spPr>
        <p:txBody>
          <a:bodyPr wrap="square" lIns="0" tIns="0" rIns="0" bIns="0" rtlCol="0" anchor="t"/>
          <a:lstStyle/>
          <a:p>
            <a:pPr marL="0" indent="0" algn="ctr">
              <a:buNone/>
            </a:pPr>
            <a:r>
              <a:rPr lang="en-US" sz="1100" dirty="0">
                <a:solidFill>
                  <a:schemeClr val="accent3"/>
                </a:solidFill>
              </a:rPr>
              <a:t>Usa (navegador)</a:t>
            </a:r>
            <a:endParaRPr lang="en-US" sz="1100" dirty="0"/>
          </a:p>
        </p:txBody>
      </p:sp>
      <p:sp>
        <p:nvSpPr>
          <p:cNvPr id="13" name="Shape 11"/>
          <p:cNvSpPr/>
          <p:nvPr/>
        </p:nvSpPr>
        <p:spPr>
          <a:xfrm>
            <a:off x="2926080" y="4754880"/>
            <a:ext cx="1554480" cy="0"/>
          </a:xfrm>
          <a:prstGeom prst="line">
            <a:avLst/>
          </a:prstGeom>
          <a:noFill/>
          <a:ln w="22225">
            <a:solidFill>
              <a:srgbClr val="6C7A89"/>
            </a:solidFill>
            <a:prstDash val="solid"/>
            <a:tailEnd type="triangle"/>
          </a:ln>
        </p:spPr>
      </p:sp>
      <p:sp>
        <p:nvSpPr>
          <p:cNvPr id="14" name="Text 12"/>
          <p:cNvSpPr txBox="1"/>
          <p:nvPr/>
        </p:nvSpPr>
        <p:spPr>
          <a:xfrm>
            <a:off x="2971800" y="4206240"/>
            <a:ext cx="1463040" cy="502920"/>
          </a:xfrm>
          <a:prstGeom prst="rect">
            <a:avLst/>
          </a:prstGeom>
          <a:noFill/>
          <a:ln/>
        </p:spPr>
        <p:txBody>
          <a:bodyPr wrap="square" lIns="0" tIns="0" rIns="0" bIns="0" rtlCol="0" anchor="t"/>
          <a:lstStyle/>
          <a:p>
            <a:pPr marL="0" indent="0" algn="ctr">
              <a:buNone/>
            </a:pPr>
            <a:r>
              <a:rPr lang="en-US" sz="1100" dirty="0">
                <a:solidFill>
                  <a:schemeClr val="accent3"/>
                </a:solidFill>
              </a:rPr>
              <a:t>Llama a la API REST con JWT</a:t>
            </a:r>
            <a:endParaRPr lang="en-US" sz="1100" dirty="0"/>
          </a:p>
        </p:txBody>
      </p:sp>
      <p:sp>
        <p:nvSpPr>
          <p:cNvPr id="15" name="Shape 13"/>
          <p:cNvSpPr/>
          <p:nvPr/>
        </p:nvSpPr>
        <p:spPr>
          <a:xfrm>
            <a:off x="8778240" y="1737360"/>
            <a:ext cx="2880360" cy="3840480"/>
          </a:xfrm>
          <a:prstGeom prst="roundRect">
            <a:avLst>
              <a:gd name="adj" fmla="val 2540"/>
            </a:avLst>
          </a:prstGeom>
          <a:solidFill>
            <a:schemeClr val="bg2"/>
          </a:solidFill>
          <a:ln/>
        </p:spPr>
      </p:sp>
      <p:sp>
        <p:nvSpPr>
          <p:cNvPr id="16" name="Text 14"/>
          <p:cNvSpPr txBox="1"/>
          <p:nvPr/>
        </p:nvSpPr>
        <p:spPr>
          <a:xfrm>
            <a:off x="9006840" y="1920240"/>
            <a:ext cx="2468880" cy="365760"/>
          </a:xfrm>
          <a:prstGeom prst="rect">
            <a:avLst/>
          </a:prstGeom>
          <a:noFill/>
          <a:ln/>
        </p:spPr>
        <p:txBody>
          <a:bodyPr wrap="square" lIns="0" tIns="0" rIns="0" bIns="0" rtlCol="0" anchor="t"/>
          <a:lstStyle/>
          <a:p>
            <a:pPr marL="0" indent="0">
              <a:buNone/>
            </a:pPr>
            <a:r>
              <a:rPr lang="en-US" sz="1600" b="1" dirty="0">
                <a:solidFill>
                  <a:schemeClr val="tx2"/>
                </a:solidFill>
              </a:rPr>
              <a:t>Qué resuelve</a:t>
            </a:r>
            <a:endParaRPr lang="en-US" sz="1600" dirty="0"/>
          </a:p>
        </p:txBody>
      </p:sp>
      <p:sp>
        <p:nvSpPr>
          <p:cNvPr id="17" name="Text 15"/>
          <p:cNvSpPr txBox="1"/>
          <p:nvPr/>
        </p:nvSpPr>
        <p:spPr>
          <a:xfrm>
            <a:off x="9006840" y="2377440"/>
            <a:ext cx="251460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HU1 · Carrito con subtotal en tiempo real</a:t>
            </a:r>
            <a:endParaRPr lang="en-US" sz="1400" dirty="0"/>
          </a:p>
          <a:p>
            <a:pPr marL="342900" indent="-342900">
              <a:spcAft>
                <a:spcPts val="600"/>
              </a:spcAft>
              <a:buSzPct val="100000"/>
              <a:buChar char="•"/>
            </a:pPr>
            <a:r>
              <a:rPr lang="en-US" sz="1400" dirty="0">
                <a:solidFill>
                  <a:schemeClr val="tx1"/>
                </a:solidFill>
              </a:rPr>
              <a:t>HU2 · Cupón y desglose de descuentos</a:t>
            </a:r>
            <a:endParaRPr lang="en-US" sz="1400" dirty="0"/>
          </a:p>
          <a:p>
            <a:pPr marL="342900" indent="-342900">
              <a:spcAft>
                <a:spcPts val="600"/>
              </a:spcAft>
              <a:buSzPct val="100000"/>
              <a:buChar char="•"/>
            </a:pPr>
            <a:r>
              <a:rPr lang="en-US" sz="1400" dirty="0">
                <a:solidFill>
                  <a:schemeClr val="tx1"/>
                </a:solidFill>
              </a:rPr>
              <a:t>HU3 · Checkout: stock, recálculo y orden</a:t>
            </a:r>
            <a:endParaRPr lang="en-US" sz="1400" dirty="0"/>
          </a:p>
          <a:p>
            <a:pPr marL="342900" indent="-342900">
              <a:spcAft>
                <a:spcPts val="600"/>
              </a:spcAft>
              <a:buSzPct val="100000"/>
              <a:buChar char="•"/>
            </a:pPr>
            <a:r>
              <a:rPr lang="en-US" sz="1400" dirty="0">
                <a:solidFill>
                  <a:schemeClr val="tx1"/>
                </a:solidFill>
              </a:rPr>
              <a:t>HU4 · Alerta al alcanzar el tope del 35 %</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Nivel 2 · Contenedores</a:t>
            </a:r>
            <a:endParaRPr lang="en-US" sz="3200" dirty="0"/>
          </a:p>
        </p:txBody>
      </p:sp>
      <p:sp>
        <p:nvSpPr>
          <p:cNvPr id="3" name="Shape 1"/>
          <p:cNvSpPr/>
          <p:nvPr/>
        </p:nvSpPr>
        <p:spPr>
          <a:xfrm>
            <a:off x="2926080" y="1371600"/>
            <a:ext cx="8778240" cy="3611880"/>
          </a:xfrm>
          <a:prstGeom prst="rect">
            <a:avLst/>
          </a:prstGeom>
          <a:ln w="15875">
            <a:solidFill>
              <a:srgbClr val="6C7A89"/>
            </a:solidFill>
            <a:prstDash val="dash"/>
          </a:ln>
        </p:spPr>
      </p:sp>
      <p:sp>
        <p:nvSpPr>
          <p:cNvPr id="4" name="Text 2"/>
          <p:cNvSpPr txBox="1"/>
          <p:nvPr/>
        </p:nvSpPr>
        <p:spPr>
          <a:xfrm>
            <a:off x="3063240" y="1463040"/>
            <a:ext cx="4572000" cy="320040"/>
          </a:xfrm>
          <a:prstGeom prst="rect">
            <a:avLst/>
          </a:prstGeom>
          <a:noFill/>
          <a:ln/>
        </p:spPr>
        <p:txBody>
          <a:bodyPr wrap="square" lIns="0" tIns="0" rIns="0" bIns="0" rtlCol="0" anchor="t"/>
          <a:lstStyle/>
          <a:p>
            <a:pPr marL="0" indent="0">
              <a:buNone/>
            </a:pPr>
            <a:r>
              <a:rPr lang="en-US" sz="1200" i="1" dirty="0">
                <a:solidFill>
                  <a:schemeClr val="accent3"/>
                </a:solidFill>
              </a:rPr>
              <a:t>Sistema Core E-Commerce [límite]</a:t>
            </a:r>
            <a:endParaRPr lang="en-US" sz="1200" dirty="0"/>
          </a:p>
        </p:txBody>
      </p:sp>
      <p:sp>
        <p:nvSpPr>
          <p:cNvPr id="5" name="Shape 3"/>
          <p:cNvSpPr/>
          <p:nvPr/>
        </p:nvSpPr>
        <p:spPr>
          <a:xfrm>
            <a:off x="1088136" y="2203704"/>
            <a:ext cx="566928" cy="566928"/>
          </a:xfrm>
          <a:prstGeom prst="ellipse">
            <a:avLst/>
          </a:prstGeom>
          <a:solidFill>
            <a:schemeClr val="tx2"/>
          </a:solidFill>
          <a:ln/>
        </p:spPr>
      </p:sp>
      <p:sp>
        <p:nvSpPr>
          <p:cNvPr id="6" name="Shape 4"/>
          <p:cNvSpPr/>
          <p:nvPr/>
        </p:nvSpPr>
        <p:spPr>
          <a:xfrm>
            <a:off x="457200" y="2697480"/>
            <a:ext cx="1828800" cy="1188720"/>
          </a:xfrm>
          <a:prstGeom prst="roundRect">
            <a:avLst>
              <a:gd name="adj" fmla="val 6154"/>
            </a:avLst>
          </a:prstGeom>
          <a:solidFill>
            <a:schemeClr val="tx2"/>
          </a:solidFill>
          <a:ln/>
        </p:spPr>
      </p:sp>
      <p:sp>
        <p:nvSpPr>
          <p:cNvPr id="7" name="Text 5"/>
          <p:cNvSpPr txBox="1"/>
          <p:nvPr/>
        </p:nvSpPr>
        <p:spPr>
          <a:xfrm>
            <a:off x="548640" y="2752344"/>
            <a:ext cx="1645920" cy="107899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Cliente</a:t>
            </a:r>
            <a:endParaRPr lang="en-US" sz="1500" dirty="0"/>
          </a:p>
          <a:p>
            <a:pPr marL="0" indent="0" algn="ctr">
              <a:spcAft>
                <a:spcPts val="200"/>
              </a:spcAft>
              <a:buNone/>
            </a:pPr>
            <a:r>
              <a:rPr lang="en-US" sz="1100" i="1" dirty="0">
                <a:solidFill>
                  <a:schemeClr val="bg1"/>
                </a:solidFill>
              </a:rPr>
              <a:t>[Persona]</a:t>
            </a:r>
            <a:endParaRPr lang="en-US" sz="1500" dirty="0"/>
          </a:p>
        </p:txBody>
      </p:sp>
      <p:sp>
        <p:nvSpPr>
          <p:cNvPr id="8" name="Shape 6"/>
          <p:cNvSpPr/>
          <p:nvPr/>
        </p:nvSpPr>
        <p:spPr>
          <a:xfrm>
            <a:off x="3200400" y="2103120"/>
            <a:ext cx="2286000" cy="2011680"/>
          </a:xfrm>
          <a:prstGeom prst="roundRect">
            <a:avLst>
              <a:gd name="adj" fmla="val 3636"/>
            </a:avLst>
          </a:prstGeom>
          <a:solidFill>
            <a:schemeClr val="accent1"/>
          </a:solidFill>
          <a:ln/>
        </p:spPr>
      </p:sp>
      <p:sp>
        <p:nvSpPr>
          <p:cNvPr id="9" name="Text 7"/>
          <p:cNvSpPr txBox="1"/>
          <p:nvPr/>
        </p:nvSpPr>
        <p:spPr>
          <a:xfrm>
            <a:off x="3291840" y="2157984"/>
            <a:ext cx="2103120" cy="190195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SPA Angular 22</a:t>
            </a:r>
            <a:endParaRPr lang="en-US" sz="1500" dirty="0"/>
          </a:p>
          <a:p>
            <a:pPr marL="0" indent="0" algn="ctr">
              <a:spcAft>
                <a:spcPts val="200"/>
              </a:spcAft>
              <a:buNone/>
            </a:pPr>
            <a:r>
              <a:rPr lang="en-US" sz="1100" i="1" dirty="0">
                <a:solidFill>
                  <a:schemeClr val="bg1"/>
                </a:solidFill>
              </a:rPr>
              <a:t>[Contenedor: TypeScript, signals]</a:t>
            </a:r>
            <a:endParaRPr lang="en-US" sz="1500" dirty="0"/>
          </a:p>
          <a:p>
            <a:pPr marL="0" indent="0" algn="ctr">
              <a:spcAft>
                <a:spcPts val="200"/>
              </a:spcAft>
              <a:buNone/>
            </a:pPr>
            <a:r>
              <a:rPr lang="en-US" sz="1200" dirty="0">
                <a:solidFill>
                  <a:schemeClr val="bg1"/>
                </a:solidFill>
              </a:rPr>
              <a:t>Catálogo, carrito, cupón, desglose y confirmación · :4200</a:t>
            </a:r>
            <a:endParaRPr lang="en-US" sz="1500" dirty="0"/>
          </a:p>
        </p:txBody>
      </p:sp>
      <p:sp>
        <p:nvSpPr>
          <p:cNvPr id="10" name="Shape 8"/>
          <p:cNvSpPr/>
          <p:nvPr/>
        </p:nvSpPr>
        <p:spPr>
          <a:xfrm>
            <a:off x="6400800" y="2103120"/>
            <a:ext cx="2286000" cy="2011680"/>
          </a:xfrm>
          <a:prstGeom prst="roundRect">
            <a:avLst>
              <a:gd name="adj" fmla="val 3636"/>
            </a:avLst>
          </a:prstGeom>
          <a:solidFill>
            <a:schemeClr val="tx2"/>
          </a:solidFill>
          <a:ln/>
        </p:spPr>
      </p:sp>
      <p:sp>
        <p:nvSpPr>
          <p:cNvPr id="11" name="Text 9"/>
          <p:cNvSpPr txBox="1"/>
          <p:nvPr/>
        </p:nvSpPr>
        <p:spPr>
          <a:xfrm>
            <a:off x="6492240" y="2157984"/>
            <a:ext cx="2103120" cy="190195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API REST Spring Boot 3.2</a:t>
            </a:r>
            <a:endParaRPr lang="en-US" sz="1500" dirty="0"/>
          </a:p>
          <a:p>
            <a:pPr marL="0" indent="0" algn="ctr">
              <a:spcAft>
                <a:spcPts val="200"/>
              </a:spcAft>
              <a:buNone/>
            </a:pPr>
            <a:r>
              <a:rPr lang="en-US" sz="1100" i="1" dirty="0">
                <a:solidFill>
                  <a:schemeClr val="bg1"/>
                </a:solidFill>
              </a:rPr>
              <a:t>[Contenedor: Java 17]</a:t>
            </a:r>
            <a:endParaRPr lang="en-US" sz="1500" dirty="0"/>
          </a:p>
          <a:p>
            <a:pPr marL="0" indent="0" algn="ctr">
              <a:spcAft>
                <a:spcPts val="200"/>
              </a:spcAft>
              <a:buNone/>
            </a:pPr>
            <a:r>
              <a:rPr lang="en-US" sz="1200" dirty="0">
                <a:solidFill>
                  <a:schemeClr val="bg1"/>
                </a:solidFill>
              </a:rPr>
              <a:t>Motor de descuentos, checkout transaccional, JWT y OpenAPI · :8080</a:t>
            </a:r>
            <a:endParaRPr lang="en-US" sz="1500" dirty="0"/>
          </a:p>
        </p:txBody>
      </p:sp>
      <p:sp>
        <p:nvSpPr>
          <p:cNvPr id="12" name="Shape 10"/>
          <p:cNvSpPr/>
          <p:nvPr/>
        </p:nvSpPr>
        <p:spPr>
          <a:xfrm>
            <a:off x="9601200" y="2103120"/>
            <a:ext cx="1920240" cy="2011680"/>
          </a:xfrm>
          <a:prstGeom prst="can">
            <a:avLst>
              <a:gd name="adj" fmla="val 3810"/>
            </a:avLst>
          </a:prstGeom>
          <a:solidFill>
            <a:schemeClr val="accent6"/>
          </a:solidFill>
          <a:ln/>
        </p:spPr>
      </p:sp>
      <p:sp>
        <p:nvSpPr>
          <p:cNvPr id="13" name="Text 11"/>
          <p:cNvSpPr txBox="1"/>
          <p:nvPr/>
        </p:nvSpPr>
        <p:spPr>
          <a:xfrm>
            <a:off x="9692640" y="2157984"/>
            <a:ext cx="1737360" cy="190195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MySQL 5.7.44</a:t>
            </a:r>
            <a:endParaRPr lang="en-US" sz="1500" dirty="0"/>
          </a:p>
          <a:p>
            <a:pPr marL="0" indent="0" algn="ctr">
              <a:spcAft>
                <a:spcPts val="200"/>
              </a:spcAft>
              <a:buNone/>
            </a:pPr>
            <a:r>
              <a:rPr lang="en-US" sz="1100" i="1" dirty="0">
                <a:solidFill>
                  <a:schemeClr val="bg1"/>
                </a:solidFill>
              </a:rPr>
              <a:t>[Base de datos]</a:t>
            </a:r>
            <a:endParaRPr lang="en-US" sz="1500" dirty="0"/>
          </a:p>
          <a:p>
            <a:pPr marL="0" indent="0" algn="ctr">
              <a:spcAft>
                <a:spcPts val="200"/>
              </a:spcAft>
              <a:buNone/>
            </a:pPr>
            <a:r>
              <a:rPr lang="en-US" sz="1200" dirty="0">
                <a:solidFill>
                  <a:schemeClr val="bg1"/>
                </a:solidFill>
              </a:rPr>
              <a:t>kata_ecommerce: 5 tablas + app_users</a:t>
            </a:r>
            <a:endParaRPr lang="en-US" sz="1500" dirty="0"/>
          </a:p>
        </p:txBody>
      </p:sp>
      <p:sp>
        <p:nvSpPr>
          <p:cNvPr id="14" name="Shape 12"/>
          <p:cNvSpPr/>
          <p:nvPr/>
        </p:nvSpPr>
        <p:spPr>
          <a:xfrm>
            <a:off x="2286000" y="3291840"/>
            <a:ext cx="914400" cy="0"/>
          </a:xfrm>
          <a:prstGeom prst="line">
            <a:avLst/>
          </a:prstGeom>
          <a:noFill/>
          <a:ln w="22225">
            <a:solidFill>
              <a:srgbClr val="6C7A89"/>
            </a:solidFill>
            <a:prstDash val="solid"/>
            <a:tailEnd type="triangle"/>
          </a:ln>
        </p:spPr>
      </p:sp>
      <p:sp>
        <p:nvSpPr>
          <p:cNvPr id="15" name="Text 13"/>
          <p:cNvSpPr txBox="1"/>
          <p:nvPr/>
        </p:nvSpPr>
        <p:spPr>
          <a:xfrm>
            <a:off x="2286000" y="2926080"/>
            <a:ext cx="548640" cy="320040"/>
          </a:xfrm>
          <a:prstGeom prst="rect">
            <a:avLst/>
          </a:prstGeom>
          <a:noFill/>
          <a:ln/>
        </p:spPr>
        <p:txBody>
          <a:bodyPr wrap="square" lIns="0" tIns="0" rIns="0" bIns="0" rtlCol="0" anchor="t"/>
          <a:lstStyle/>
          <a:p>
            <a:pPr marL="0" indent="0" algn="ctr">
              <a:buNone/>
            </a:pPr>
            <a:r>
              <a:rPr lang="en-US" sz="1100" dirty="0">
                <a:solidFill>
                  <a:schemeClr val="accent3"/>
                </a:solidFill>
              </a:rPr>
              <a:t>Usa</a:t>
            </a:r>
            <a:endParaRPr lang="en-US" sz="1100" dirty="0"/>
          </a:p>
        </p:txBody>
      </p:sp>
      <p:sp>
        <p:nvSpPr>
          <p:cNvPr id="16" name="Shape 14"/>
          <p:cNvSpPr/>
          <p:nvPr/>
        </p:nvSpPr>
        <p:spPr>
          <a:xfrm>
            <a:off x="5486400" y="3291840"/>
            <a:ext cx="914400" cy="0"/>
          </a:xfrm>
          <a:prstGeom prst="line">
            <a:avLst/>
          </a:prstGeom>
          <a:noFill/>
          <a:ln w="22225">
            <a:solidFill>
              <a:srgbClr val="6C7A89"/>
            </a:solidFill>
            <a:prstDash val="solid"/>
            <a:tailEnd type="triangle"/>
          </a:ln>
        </p:spPr>
      </p:sp>
      <p:sp>
        <p:nvSpPr>
          <p:cNvPr id="17" name="Text 15"/>
          <p:cNvSpPr txBox="1"/>
          <p:nvPr/>
        </p:nvSpPr>
        <p:spPr>
          <a:xfrm>
            <a:off x="5486400" y="2697480"/>
            <a:ext cx="914400" cy="548640"/>
          </a:xfrm>
          <a:prstGeom prst="rect">
            <a:avLst/>
          </a:prstGeom>
          <a:noFill/>
          <a:ln/>
        </p:spPr>
        <p:txBody>
          <a:bodyPr wrap="square" lIns="0" tIns="0" rIns="0" bIns="0" rtlCol="0" anchor="t"/>
          <a:lstStyle/>
          <a:p>
            <a:pPr marL="0" indent="0" algn="ctr">
              <a:buNone/>
            </a:pPr>
            <a:r>
              <a:rPr lang="en-US" sz="1000" dirty="0">
                <a:solidFill>
                  <a:schemeClr val="accent3"/>
                </a:solidFill>
              </a:rPr>
              <a:t>JSON/HTTP + JWT</a:t>
            </a:r>
            <a:endParaRPr lang="en-US" sz="1000" dirty="0"/>
          </a:p>
        </p:txBody>
      </p:sp>
      <p:sp>
        <p:nvSpPr>
          <p:cNvPr id="18" name="Shape 16"/>
          <p:cNvSpPr/>
          <p:nvPr/>
        </p:nvSpPr>
        <p:spPr>
          <a:xfrm>
            <a:off x="8686800" y="3291840"/>
            <a:ext cx="914400" cy="0"/>
          </a:xfrm>
          <a:prstGeom prst="line">
            <a:avLst/>
          </a:prstGeom>
          <a:noFill/>
          <a:ln w="22225">
            <a:solidFill>
              <a:srgbClr val="6C7A89"/>
            </a:solidFill>
            <a:prstDash val="solid"/>
            <a:tailEnd type="triangle"/>
          </a:ln>
        </p:spPr>
      </p:sp>
      <p:sp>
        <p:nvSpPr>
          <p:cNvPr id="19" name="Text 17"/>
          <p:cNvSpPr txBox="1"/>
          <p:nvPr/>
        </p:nvSpPr>
        <p:spPr>
          <a:xfrm>
            <a:off x="8686800" y="2926080"/>
            <a:ext cx="914400" cy="320040"/>
          </a:xfrm>
          <a:prstGeom prst="rect">
            <a:avLst/>
          </a:prstGeom>
          <a:noFill/>
          <a:ln/>
        </p:spPr>
        <p:txBody>
          <a:bodyPr wrap="square" lIns="0" tIns="0" rIns="0" bIns="0" rtlCol="0" anchor="t"/>
          <a:lstStyle/>
          <a:p>
            <a:pPr marL="0" indent="0" algn="ctr">
              <a:buNone/>
            </a:pPr>
            <a:r>
              <a:rPr lang="en-US" sz="1100" dirty="0">
                <a:solidFill>
                  <a:schemeClr val="accent3"/>
                </a:solidFill>
              </a:rPr>
              <a:t>JDBC</a:t>
            </a:r>
            <a:endParaRPr lang="en-US" sz="1100" dirty="0"/>
          </a:p>
        </p:txBody>
      </p:sp>
      <p:sp>
        <p:nvSpPr>
          <p:cNvPr id="20" name="Shape 18"/>
          <p:cNvSpPr/>
          <p:nvPr/>
        </p:nvSpPr>
        <p:spPr>
          <a:xfrm>
            <a:off x="6400800" y="5349240"/>
            <a:ext cx="2286000" cy="868680"/>
          </a:xfrm>
          <a:prstGeom prst="roundRect">
            <a:avLst>
              <a:gd name="adj" fmla="val 8421"/>
            </a:avLst>
          </a:prstGeom>
          <a:solidFill>
            <a:schemeClr val="accent3"/>
          </a:solidFill>
          <a:ln/>
        </p:spPr>
      </p:sp>
      <p:sp>
        <p:nvSpPr>
          <p:cNvPr id="21" name="Text 19"/>
          <p:cNvSpPr txBox="1"/>
          <p:nvPr/>
        </p:nvSpPr>
        <p:spPr>
          <a:xfrm>
            <a:off x="6492240" y="5404104"/>
            <a:ext cx="2103120" cy="758952"/>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Swagger UI · Postman</a:t>
            </a:r>
            <a:endParaRPr lang="en-US" sz="1400" dirty="0"/>
          </a:p>
          <a:p>
            <a:pPr marL="0" indent="0" algn="ctr">
              <a:spcAft>
                <a:spcPts val="200"/>
              </a:spcAft>
              <a:buNone/>
            </a:pPr>
            <a:r>
              <a:rPr lang="en-US" sz="1100" i="1" dirty="0">
                <a:solidFill>
                  <a:schemeClr val="bg1"/>
                </a:solidFill>
              </a:rPr>
              <a:t>[Herramientas de prueba]</a:t>
            </a:r>
            <a:endParaRPr lang="en-US" sz="1400" dirty="0"/>
          </a:p>
        </p:txBody>
      </p:sp>
      <p:sp>
        <p:nvSpPr>
          <p:cNvPr id="22" name="Shape 20"/>
          <p:cNvSpPr/>
          <p:nvPr/>
        </p:nvSpPr>
        <p:spPr>
          <a:xfrm>
            <a:off x="7543800" y="4114800"/>
            <a:ext cx="0" cy="1234440"/>
          </a:xfrm>
          <a:prstGeom prst="line">
            <a:avLst/>
          </a:prstGeom>
          <a:noFill/>
          <a:ln w="22225">
            <a:solidFill>
              <a:srgbClr val="6C7A89"/>
            </a:solidFill>
            <a:prstDash val="solid"/>
            <a:headEnd type="triangle"/>
          </a:ln>
        </p:spPr>
      </p:sp>
      <p:sp>
        <p:nvSpPr>
          <p:cNvPr id="23" name="Text 21"/>
          <p:cNvSpPr txBox="1"/>
          <p:nvPr/>
        </p:nvSpPr>
        <p:spPr>
          <a:xfrm>
            <a:off x="7680960" y="4526280"/>
            <a:ext cx="1463040" cy="320040"/>
          </a:xfrm>
          <a:prstGeom prst="rect">
            <a:avLst/>
          </a:prstGeom>
          <a:noFill/>
          <a:ln/>
        </p:spPr>
        <p:txBody>
          <a:bodyPr wrap="square" lIns="0" tIns="0" rIns="0" bIns="0" rtlCol="0" anchor="t"/>
          <a:lstStyle/>
          <a:p>
            <a:pPr marL="0" indent="0">
              <a:buNone/>
            </a:pPr>
            <a:r>
              <a:rPr lang="en-US" sz="1100" dirty="0">
                <a:solidFill>
                  <a:schemeClr val="accent3"/>
                </a:solidFill>
              </a:rPr>
              <a:t>Prueban la API</a:t>
            </a:r>
            <a:endParaRPr lang="en-US" sz="1100" dirty="0"/>
          </a:p>
        </p:txBody>
      </p:sp>
      <p:sp>
        <p:nvSpPr>
          <p:cNvPr id="24" name="Shape 22"/>
          <p:cNvSpPr/>
          <p:nvPr/>
        </p:nvSpPr>
        <p:spPr>
          <a:xfrm>
            <a:off x="457200" y="5349240"/>
            <a:ext cx="5577840" cy="868680"/>
          </a:xfrm>
          <a:prstGeom prst="roundRect">
            <a:avLst>
              <a:gd name="adj" fmla="val 8421"/>
            </a:avLst>
          </a:prstGeom>
          <a:solidFill>
            <a:schemeClr val="bg2"/>
          </a:solidFill>
          <a:ln/>
        </p:spPr>
      </p:sp>
      <p:sp>
        <p:nvSpPr>
          <p:cNvPr id="25" name="Text 23"/>
          <p:cNvSpPr txBox="1"/>
          <p:nvPr/>
        </p:nvSpPr>
        <p:spPr>
          <a:xfrm>
            <a:off x="640080" y="5440680"/>
            <a:ext cx="5212080" cy="685800"/>
          </a:xfrm>
          <a:prstGeom prst="rect">
            <a:avLst/>
          </a:prstGeom>
          <a:noFill/>
          <a:ln/>
        </p:spPr>
        <p:txBody>
          <a:bodyPr wrap="square" lIns="0" tIns="0" rIns="0" bIns="0" rtlCol="0" anchor="ctr"/>
          <a:lstStyle/>
          <a:p>
            <a:pPr marL="0" indent="0">
              <a:buNone/>
            </a:pPr>
            <a:r>
              <a:rPr lang="en-US" sz="1300" dirty="0">
                <a:solidFill>
                  <a:schemeClr val="tx1"/>
                </a:solidFill>
              </a:rPr>
              <a:t>Desarrollo: proxy.conf.json redirige /api a :8080 · El esquema lo gobiernan los scripts SQL (ddl-auto=validate)</a:t>
            </a:r>
            <a:endParaRPr lang="en-US" sz="1300" dirty="0"/>
          </a:p>
        </p:txBody>
      </p:sp>
      <p:sp>
        <p:nvSpPr>
          <p:cNvPr id="26"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Nivel 3 · Componentes del backend</a:t>
            </a:r>
            <a:endParaRPr lang="en-US" sz="3200" dirty="0"/>
          </a:p>
        </p:txBody>
      </p:sp>
      <p:sp>
        <p:nvSpPr>
          <p:cNvPr id="3" name="Shape 1"/>
          <p:cNvSpPr/>
          <p:nvPr/>
        </p:nvSpPr>
        <p:spPr>
          <a:xfrm>
            <a:off x="457200" y="1325880"/>
            <a:ext cx="2560320" cy="4114800"/>
          </a:xfrm>
          <a:prstGeom prst="roundRect">
            <a:avLst>
              <a:gd name="adj" fmla="val 2857"/>
            </a:avLst>
          </a:prstGeom>
          <a:solidFill>
            <a:schemeClr val="bg2"/>
          </a:solidFill>
          <a:ln/>
        </p:spPr>
      </p:sp>
      <p:sp>
        <p:nvSpPr>
          <p:cNvPr id="4" name="Text 2"/>
          <p:cNvSpPr txBox="1"/>
          <p:nvPr/>
        </p:nvSpPr>
        <p:spPr>
          <a:xfrm>
            <a:off x="594360" y="1417320"/>
            <a:ext cx="2286000" cy="320040"/>
          </a:xfrm>
          <a:prstGeom prst="rect">
            <a:avLst/>
          </a:prstGeom>
          <a:noFill/>
          <a:ln/>
        </p:spPr>
        <p:txBody>
          <a:bodyPr wrap="square" lIns="0" tIns="0" rIns="0" bIns="0" rtlCol="0" anchor="t"/>
          <a:lstStyle/>
          <a:p>
            <a:pPr marL="0" indent="0">
              <a:buNone/>
            </a:pPr>
            <a:r>
              <a:rPr lang="en-US" sz="1400" b="1" dirty="0">
                <a:solidFill>
                  <a:schemeClr val="tx2"/>
                </a:solidFill>
              </a:rPr>
              <a:t>Capa web</a:t>
            </a:r>
            <a:endParaRPr lang="en-US" sz="1400" dirty="0"/>
          </a:p>
        </p:txBody>
      </p:sp>
      <p:sp>
        <p:nvSpPr>
          <p:cNvPr id="5" name="Shape 3"/>
          <p:cNvSpPr/>
          <p:nvPr/>
        </p:nvSpPr>
        <p:spPr>
          <a:xfrm>
            <a:off x="594360" y="1801368"/>
            <a:ext cx="2286000" cy="603504"/>
          </a:xfrm>
          <a:prstGeom prst="roundRect">
            <a:avLst>
              <a:gd name="adj" fmla="val 12121"/>
            </a:avLst>
          </a:prstGeom>
          <a:solidFill>
            <a:schemeClr val="accent3"/>
          </a:solidFill>
          <a:ln/>
        </p:spPr>
      </p:sp>
      <p:sp>
        <p:nvSpPr>
          <p:cNvPr id="6" name="Text 4"/>
          <p:cNvSpPr txBox="1"/>
          <p:nvPr/>
        </p:nvSpPr>
        <p:spPr>
          <a:xfrm>
            <a:off x="685800" y="1856232"/>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AuthController</a:t>
            </a:r>
            <a:endParaRPr lang="en-US" sz="1200" dirty="0"/>
          </a:p>
          <a:p>
            <a:pPr marL="0" indent="0" algn="ctr">
              <a:spcAft>
                <a:spcPts val="200"/>
              </a:spcAft>
              <a:buNone/>
            </a:pPr>
            <a:r>
              <a:rPr lang="en-US" sz="1000" dirty="0">
                <a:solidFill>
                  <a:schemeClr val="bg1"/>
                </a:solidFill>
              </a:rPr>
              <a:t>POST /auth/login</a:t>
            </a:r>
            <a:endParaRPr lang="en-US" sz="1200" dirty="0"/>
          </a:p>
        </p:txBody>
      </p:sp>
      <p:sp>
        <p:nvSpPr>
          <p:cNvPr id="7" name="Shape 5"/>
          <p:cNvSpPr/>
          <p:nvPr/>
        </p:nvSpPr>
        <p:spPr>
          <a:xfrm>
            <a:off x="594360" y="2523744"/>
            <a:ext cx="2286000" cy="603504"/>
          </a:xfrm>
          <a:prstGeom prst="roundRect">
            <a:avLst>
              <a:gd name="adj" fmla="val 12121"/>
            </a:avLst>
          </a:prstGeom>
          <a:solidFill>
            <a:schemeClr val="accent3"/>
          </a:solidFill>
          <a:ln/>
        </p:spPr>
      </p:sp>
      <p:sp>
        <p:nvSpPr>
          <p:cNvPr id="8" name="Text 6"/>
          <p:cNvSpPr txBox="1"/>
          <p:nvPr/>
        </p:nvSpPr>
        <p:spPr>
          <a:xfrm>
            <a:off x="685800" y="2578608"/>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ProductController</a:t>
            </a:r>
            <a:endParaRPr lang="en-US" sz="1200" dirty="0"/>
          </a:p>
          <a:p>
            <a:pPr marL="0" indent="0" algn="ctr">
              <a:spcAft>
                <a:spcPts val="200"/>
              </a:spcAft>
              <a:buNone/>
            </a:pPr>
            <a:r>
              <a:rPr lang="en-US" sz="1000" dirty="0">
                <a:solidFill>
                  <a:schemeClr val="bg1"/>
                </a:solidFill>
              </a:rPr>
              <a:t>GET /products · HU1</a:t>
            </a:r>
            <a:endParaRPr lang="en-US" sz="1200" dirty="0"/>
          </a:p>
        </p:txBody>
      </p:sp>
      <p:sp>
        <p:nvSpPr>
          <p:cNvPr id="9" name="Shape 7"/>
          <p:cNvSpPr/>
          <p:nvPr/>
        </p:nvSpPr>
        <p:spPr>
          <a:xfrm>
            <a:off x="594360" y="3246120"/>
            <a:ext cx="2286000" cy="603504"/>
          </a:xfrm>
          <a:prstGeom prst="roundRect">
            <a:avLst>
              <a:gd name="adj" fmla="val 12121"/>
            </a:avLst>
          </a:prstGeom>
          <a:solidFill>
            <a:schemeClr val="accent3"/>
          </a:solidFill>
          <a:ln/>
        </p:spPr>
      </p:sp>
      <p:sp>
        <p:nvSpPr>
          <p:cNvPr id="10" name="Text 8"/>
          <p:cNvSpPr txBox="1"/>
          <p:nvPr/>
        </p:nvSpPr>
        <p:spPr>
          <a:xfrm>
            <a:off x="685800" y="3300984"/>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CartController</a:t>
            </a:r>
            <a:endParaRPr lang="en-US" sz="1200" dirty="0"/>
          </a:p>
          <a:p>
            <a:pPr marL="0" indent="0" algn="ctr">
              <a:spcAft>
                <a:spcPts val="200"/>
              </a:spcAft>
              <a:buNone/>
            </a:pPr>
            <a:r>
              <a:rPr lang="en-US" sz="1000" dirty="0">
                <a:solidFill>
                  <a:schemeClr val="bg1"/>
                </a:solidFill>
              </a:rPr>
              <a:t>POST /cart/quote · HU2/HU4</a:t>
            </a:r>
            <a:endParaRPr lang="en-US" sz="1200" dirty="0"/>
          </a:p>
        </p:txBody>
      </p:sp>
      <p:sp>
        <p:nvSpPr>
          <p:cNvPr id="11" name="Shape 9"/>
          <p:cNvSpPr/>
          <p:nvPr/>
        </p:nvSpPr>
        <p:spPr>
          <a:xfrm>
            <a:off x="594360" y="3968496"/>
            <a:ext cx="2286000" cy="603504"/>
          </a:xfrm>
          <a:prstGeom prst="roundRect">
            <a:avLst>
              <a:gd name="adj" fmla="val 12121"/>
            </a:avLst>
          </a:prstGeom>
          <a:solidFill>
            <a:schemeClr val="accent3"/>
          </a:solidFill>
          <a:ln/>
        </p:spPr>
      </p:sp>
      <p:sp>
        <p:nvSpPr>
          <p:cNvPr id="12" name="Text 10"/>
          <p:cNvSpPr txBox="1"/>
          <p:nvPr/>
        </p:nvSpPr>
        <p:spPr>
          <a:xfrm>
            <a:off x="685800" y="4023360"/>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OrderController</a:t>
            </a:r>
            <a:endParaRPr lang="en-US" sz="1200" dirty="0"/>
          </a:p>
          <a:p>
            <a:pPr marL="0" indent="0" algn="ctr">
              <a:spcAft>
                <a:spcPts val="200"/>
              </a:spcAft>
              <a:buNone/>
            </a:pPr>
            <a:r>
              <a:rPr lang="en-US" sz="1000" dirty="0">
                <a:solidFill>
                  <a:schemeClr val="bg1"/>
                </a:solidFill>
              </a:rPr>
              <a:t>POST /orders · HU3</a:t>
            </a:r>
            <a:endParaRPr lang="en-US" sz="1200" dirty="0"/>
          </a:p>
        </p:txBody>
      </p:sp>
      <p:sp>
        <p:nvSpPr>
          <p:cNvPr id="13" name="Shape 11"/>
          <p:cNvSpPr/>
          <p:nvPr/>
        </p:nvSpPr>
        <p:spPr>
          <a:xfrm>
            <a:off x="594360" y="4690872"/>
            <a:ext cx="2286000" cy="603504"/>
          </a:xfrm>
          <a:prstGeom prst="roundRect">
            <a:avLst>
              <a:gd name="adj" fmla="val 12121"/>
            </a:avLst>
          </a:prstGeom>
          <a:solidFill>
            <a:schemeClr val="accent3"/>
          </a:solidFill>
          <a:ln/>
        </p:spPr>
      </p:sp>
      <p:sp>
        <p:nvSpPr>
          <p:cNvPr id="14" name="Text 12"/>
          <p:cNvSpPr txBox="1"/>
          <p:nvPr/>
        </p:nvSpPr>
        <p:spPr>
          <a:xfrm>
            <a:off x="685800" y="4745736"/>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JwtAuthenticationFilter</a:t>
            </a:r>
            <a:endParaRPr lang="en-US" sz="1200" dirty="0"/>
          </a:p>
          <a:p>
            <a:pPr marL="0" indent="0" algn="ctr">
              <a:spcAft>
                <a:spcPts val="200"/>
              </a:spcAft>
              <a:buNone/>
            </a:pPr>
            <a:r>
              <a:rPr lang="en-US" sz="1000" dirty="0">
                <a:solidFill>
                  <a:schemeClr val="bg1"/>
                </a:solidFill>
              </a:rPr>
              <a:t>valida el token Bearer</a:t>
            </a:r>
            <a:endParaRPr lang="en-US" sz="1200" dirty="0"/>
          </a:p>
        </p:txBody>
      </p:sp>
      <p:sp>
        <p:nvSpPr>
          <p:cNvPr id="15" name="Shape 13"/>
          <p:cNvSpPr/>
          <p:nvPr/>
        </p:nvSpPr>
        <p:spPr>
          <a:xfrm>
            <a:off x="3429000" y="1325880"/>
            <a:ext cx="2560320" cy="4114800"/>
          </a:xfrm>
          <a:prstGeom prst="roundRect">
            <a:avLst>
              <a:gd name="adj" fmla="val 2857"/>
            </a:avLst>
          </a:prstGeom>
          <a:solidFill>
            <a:schemeClr val="bg2"/>
          </a:solidFill>
          <a:ln/>
        </p:spPr>
      </p:sp>
      <p:sp>
        <p:nvSpPr>
          <p:cNvPr id="16" name="Text 14"/>
          <p:cNvSpPr txBox="1"/>
          <p:nvPr/>
        </p:nvSpPr>
        <p:spPr>
          <a:xfrm>
            <a:off x="3566160" y="1417320"/>
            <a:ext cx="2286000" cy="320040"/>
          </a:xfrm>
          <a:prstGeom prst="rect">
            <a:avLst/>
          </a:prstGeom>
          <a:noFill/>
          <a:ln/>
        </p:spPr>
        <p:txBody>
          <a:bodyPr wrap="square" lIns="0" tIns="0" rIns="0" bIns="0" rtlCol="0" anchor="t"/>
          <a:lstStyle/>
          <a:p>
            <a:pPr marL="0" indent="0">
              <a:buNone/>
            </a:pPr>
            <a:r>
              <a:rPr lang="en-US" sz="1400" b="1" dirty="0">
                <a:solidFill>
                  <a:schemeClr val="tx2"/>
                </a:solidFill>
              </a:rPr>
              <a:t>Aplicación</a:t>
            </a:r>
            <a:endParaRPr lang="en-US" sz="1400" dirty="0"/>
          </a:p>
        </p:txBody>
      </p:sp>
      <p:sp>
        <p:nvSpPr>
          <p:cNvPr id="17" name="Shape 15"/>
          <p:cNvSpPr/>
          <p:nvPr/>
        </p:nvSpPr>
        <p:spPr>
          <a:xfrm>
            <a:off x="3566160" y="1801368"/>
            <a:ext cx="2286000" cy="603504"/>
          </a:xfrm>
          <a:prstGeom prst="roundRect">
            <a:avLst>
              <a:gd name="adj" fmla="val 12121"/>
            </a:avLst>
          </a:prstGeom>
          <a:solidFill>
            <a:schemeClr val="accent1"/>
          </a:solidFill>
          <a:ln/>
        </p:spPr>
      </p:sp>
      <p:sp>
        <p:nvSpPr>
          <p:cNvPr id="18" name="Text 16"/>
          <p:cNvSpPr txBox="1"/>
          <p:nvPr/>
        </p:nvSpPr>
        <p:spPr>
          <a:xfrm>
            <a:off x="3657600" y="1856232"/>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PricingService</a:t>
            </a:r>
            <a:endParaRPr lang="en-US" sz="1200" dirty="0"/>
          </a:p>
          <a:p>
            <a:pPr marL="0" indent="0" algn="ctr">
              <a:spcAft>
                <a:spcPts val="200"/>
              </a:spcAft>
              <a:buNone/>
            </a:pPr>
            <a:r>
              <a:rPr lang="en-US" sz="1000" dirty="0">
                <a:solidFill>
                  <a:schemeClr val="bg1"/>
                </a:solidFill>
              </a:rPr>
              <a:t>camino único de cálculo</a:t>
            </a:r>
            <a:endParaRPr lang="en-US" sz="1200" dirty="0"/>
          </a:p>
        </p:txBody>
      </p:sp>
      <p:sp>
        <p:nvSpPr>
          <p:cNvPr id="19" name="Shape 17"/>
          <p:cNvSpPr/>
          <p:nvPr/>
        </p:nvSpPr>
        <p:spPr>
          <a:xfrm>
            <a:off x="3566160" y="2523744"/>
            <a:ext cx="2286000" cy="603504"/>
          </a:xfrm>
          <a:prstGeom prst="roundRect">
            <a:avLst>
              <a:gd name="adj" fmla="val 12121"/>
            </a:avLst>
          </a:prstGeom>
          <a:solidFill>
            <a:schemeClr val="accent1"/>
          </a:solidFill>
          <a:ln/>
        </p:spPr>
      </p:sp>
      <p:sp>
        <p:nvSpPr>
          <p:cNvPr id="20" name="Text 18"/>
          <p:cNvSpPr txBox="1"/>
          <p:nvPr/>
        </p:nvSpPr>
        <p:spPr>
          <a:xfrm>
            <a:off x="3657600" y="2578608"/>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OrderService</a:t>
            </a:r>
            <a:endParaRPr lang="en-US" sz="1200" dirty="0"/>
          </a:p>
          <a:p>
            <a:pPr marL="0" indent="0" algn="ctr">
              <a:spcAft>
                <a:spcPts val="200"/>
              </a:spcAft>
              <a:buNone/>
            </a:pPr>
            <a:r>
              <a:rPr lang="en-US" sz="1000" dirty="0">
                <a:solidFill>
                  <a:schemeClr val="bg1"/>
                </a:solidFill>
              </a:rPr>
              <a:t>transacción + reintento</a:t>
            </a:r>
            <a:endParaRPr lang="en-US" sz="1200" dirty="0"/>
          </a:p>
        </p:txBody>
      </p:sp>
      <p:sp>
        <p:nvSpPr>
          <p:cNvPr id="21" name="Shape 19"/>
          <p:cNvSpPr/>
          <p:nvPr/>
        </p:nvSpPr>
        <p:spPr>
          <a:xfrm>
            <a:off x="3566160" y="3246120"/>
            <a:ext cx="2286000" cy="603504"/>
          </a:xfrm>
          <a:prstGeom prst="roundRect">
            <a:avLst>
              <a:gd name="adj" fmla="val 12121"/>
            </a:avLst>
          </a:prstGeom>
          <a:solidFill>
            <a:schemeClr val="accent1"/>
          </a:solidFill>
          <a:ln/>
        </p:spPr>
      </p:sp>
      <p:sp>
        <p:nvSpPr>
          <p:cNvPr id="22" name="Text 20"/>
          <p:cNvSpPr txBox="1"/>
          <p:nvPr/>
        </p:nvSpPr>
        <p:spPr>
          <a:xfrm>
            <a:off x="3657600" y="3300984"/>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CartValidator · CouponValidator</a:t>
            </a:r>
            <a:endParaRPr lang="en-US" sz="1200" dirty="0"/>
          </a:p>
          <a:p>
            <a:pPr marL="0" indent="0" algn="ctr">
              <a:spcAft>
                <a:spcPts val="200"/>
              </a:spcAft>
              <a:buNone/>
            </a:pPr>
            <a:r>
              <a:rPr lang="en-US" sz="1000" dirty="0">
                <a:solidFill>
                  <a:schemeClr val="bg1"/>
                </a:solidFill>
              </a:rPr>
              <a:t>carrito y vigencia (Clock)</a:t>
            </a:r>
            <a:endParaRPr lang="en-US" sz="1200" dirty="0"/>
          </a:p>
        </p:txBody>
      </p:sp>
      <p:sp>
        <p:nvSpPr>
          <p:cNvPr id="23" name="Shape 21"/>
          <p:cNvSpPr/>
          <p:nvPr/>
        </p:nvSpPr>
        <p:spPr>
          <a:xfrm>
            <a:off x="3566160" y="3968496"/>
            <a:ext cx="2286000" cy="603504"/>
          </a:xfrm>
          <a:prstGeom prst="roundRect">
            <a:avLst>
              <a:gd name="adj" fmla="val 12121"/>
            </a:avLst>
          </a:prstGeom>
          <a:solidFill>
            <a:schemeClr val="accent1"/>
          </a:solidFill>
          <a:ln/>
        </p:spPr>
      </p:sp>
      <p:sp>
        <p:nvSpPr>
          <p:cNvPr id="24" name="Text 22"/>
          <p:cNvSpPr txBox="1"/>
          <p:nvPr/>
        </p:nvSpPr>
        <p:spPr>
          <a:xfrm>
            <a:off x="3657600" y="4023360"/>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StockService</a:t>
            </a:r>
            <a:endParaRPr lang="en-US" sz="1200" dirty="0"/>
          </a:p>
          <a:p>
            <a:pPr marL="0" indent="0" algn="ctr">
              <a:spcAft>
                <a:spcPts val="200"/>
              </a:spcAft>
              <a:buNone/>
            </a:pPr>
            <a:r>
              <a:rPr lang="en-US" sz="1000" dirty="0">
                <a:solidFill>
                  <a:schemeClr val="bg1"/>
                </a:solidFill>
              </a:rPr>
              <a:t>UPDATE atómico de stock</a:t>
            </a:r>
            <a:endParaRPr lang="en-US" sz="1200" dirty="0"/>
          </a:p>
        </p:txBody>
      </p:sp>
      <p:sp>
        <p:nvSpPr>
          <p:cNvPr id="25" name="Shape 23"/>
          <p:cNvSpPr/>
          <p:nvPr/>
        </p:nvSpPr>
        <p:spPr>
          <a:xfrm>
            <a:off x="3566160" y="4690872"/>
            <a:ext cx="2286000" cy="603504"/>
          </a:xfrm>
          <a:prstGeom prst="roundRect">
            <a:avLst>
              <a:gd name="adj" fmla="val 12121"/>
            </a:avLst>
          </a:prstGeom>
          <a:solidFill>
            <a:schemeClr val="accent1"/>
          </a:solidFill>
          <a:ln/>
        </p:spPr>
      </p:sp>
      <p:sp>
        <p:nvSpPr>
          <p:cNvPr id="26" name="Text 24"/>
          <p:cNvSpPr txBox="1"/>
          <p:nvPr/>
        </p:nvSpPr>
        <p:spPr>
          <a:xfrm>
            <a:off x="3657600" y="4745736"/>
            <a:ext cx="2103120" cy="49377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CheckoutMapper</a:t>
            </a:r>
            <a:endParaRPr lang="en-US" sz="1200" dirty="0"/>
          </a:p>
          <a:p>
            <a:pPr marL="0" indent="0" algn="ctr">
              <a:spcAft>
                <a:spcPts val="200"/>
              </a:spcAft>
              <a:buNone/>
            </a:pPr>
            <a:r>
              <a:rPr lang="en-US" sz="1000" dirty="0">
                <a:solidFill>
                  <a:schemeClr val="bg1"/>
                </a:solidFill>
              </a:rPr>
              <a:t>resultado → DTO / Order</a:t>
            </a:r>
            <a:endParaRPr lang="en-US" sz="1200" dirty="0"/>
          </a:p>
        </p:txBody>
      </p:sp>
      <p:sp>
        <p:nvSpPr>
          <p:cNvPr id="27" name="Shape 25"/>
          <p:cNvSpPr/>
          <p:nvPr/>
        </p:nvSpPr>
        <p:spPr>
          <a:xfrm>
            <a:off x="6400800" y="1325880"/>
            <a:ext cx="5349240" cy="1508760"/>
          </a:xfrm>
          <a:prstGeom prst="roundRect">
            <a:avLst>
              <a:gd name="adj" fmla="val 4848"/>
            </a:avLst>
          </a:prstGeom>
          <a:solidFill>
            <a:schemeClr val="bg2"/>
          </a:solidFill>
          <a:ln/>
        </p:spPr>
      </p:sp>
      <p:sp>
        <p:nvSpPr>
          <p:cNvPr id="28" name="Text 26"/>
          <p:cNvSpPr txBox="1"/>
          <p:nvPr/>
        </p:nvSpPr>
        <p:spPr>
          <a:xfrm>
            <a:off x="6537960" y="1417320"/>
            <a:ext cx="2743200" cy="320040"/>
          </a:xfrm>
          <a:prstGeom prst="rect">
            <a:avLst/>
          </a:prstGeom>
          <a:noFill/>
          <a:ln/>
        </p:spPr>
        <p:txBody>
          <a:bodyPr wrap="square" lIns="0" tIns="0" rIns="0" bIns="0" rtlCol="0" anchor="t"/>
          <a:lstStyle/>
          <a:p>
            <a:pPr marL="0" indent="0">
              <a:buNone/>
            </a:pPr>
            <a:r>
              <a:rPr lang="en-US" sz="1400" b="1" dirty="0">
                <a:solidFill>
                  <a:schemeClr val="tx2"/>
                </a:solidFill>
              </a:rPr>
              <a:t>Persistencia</a:t>
            </a:r>
            <a:endParaRPr lang="en-US" sz="1400" dirty="0"/>
          </a:p>
        </p:txBody>
      </p:sp>
      <p:sp>
        <p:nvSpPr>
          <p:cNvPr id="29" name="Shape 27"/>
          <p:cNvSpPr/>
          <p:nvPr/>
        </p:nvSpPr>
        <p:spPr>
          <a:xfrm>
            <a:off x="6537960" y="1801368"/>
            <a:ext cx="1645920" cy="868680"/>
          </a:xfrm>
          <a:prstGeom prst="roundRect">
            <a:avLst>
              <a:gd name="adj" fmla="val 8421"/>
            </a:avLst>
          </a:prstGeom>
          <a:solidFill>
            <a:schemeClr val="tx2"/>
          </a:solidFill>
          <a:ln/>
        </p:spPr>
      </p:sp>
      <p:sp>
        <p:nvSpPr>
          <p:cNvPr id="30" name="Text 28"/>
          <p:cNvSpPr txBox="1"/>
          <p:nvPr/>
        </p:nvSpPr>
        <p:spPr>
          <a:xfrm>
            <a:off x="6629400" y="1856232"/>
            <a:ext cx="1463040" cy="758952"/>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Repositorios</a:t>
            </a:r>
            <a:endParaRPr lang="en-US" sz="1200" dirty="0"/>
          </a:p>
          <a:p>
            <a:pPr marL="0" indent="0" algn="ctr">
              <a:spcAft>
                <a:spcPts val="200"/>
              </a:spcAft>
              <a:buNone/>
            </a:pPr>
            <a:r>
              <a:rPr lang="en-US" sz="1000" dirty="0">
                <a:solidFill>
                  <a:schemeClr val="bg1"/>
                </a:solidFill>
              </a:rPr>
              <a:t>Spring Data JPA</a:t>
            </a:r>
            <a:endParaRPr lang="en-US" sz="1200" dirty="0"/>
          </a:p>
        </p:txBody>
      </p:sp>
      <p:sp>
        <p:nvSpPr>
          <p:cNvPr id="31" name="Shape 29"/>
          <p:cNvSpPr/>
          <p:nvPr/>
        </p:nvSpPr>
        <p:spPr>
          <a:xfrm>
            <a:off x="8321040" y="1801368"/>
            <a:ext cx="1645920" cy="868680"/>
          </a:xfrm>
          <a:prstGeom prst="roundRect">
            <a:avLst>
              <a:gd name="adj" fmla="val 8421"/>
            </a:avLst>
          </a:prstGeom>
          <a:solidFill>
            <a:schemeClr val="tx2"/>
          </a:solidFill>
          <a:ln/>
        </p:spPr>
      </p:sp>
      <p:sp>
        <p:nvSpPr>
          <p:cNvPr id="32" name="Text 30"/>
          <p:cNvSpPr txBox="1"/>
          <p:nvPr/>
        </p:nvSpPr>
        <p:spPr>
          <a:xfrm>
            <a:off x="8412480" y="1856232"/>
            <a:ext cx="1463040" cy="758952"/>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Entidades JPA</a:t>
            </a:r>
            <a:endParaRPr lang="en-US" sz="1200" dirty="0"/>
          </a:p>
          <a:p>
            <a:pPr marL="0" indent="0" algn="ctr">
              <a:spcAft>
                <a:spcPts val="200"/>
              </a:spcAft>
              <a:buNone/>
            </a:pPr>
            <a:r>
              <a:rPr lang="en-US" sz="1000" dirty="0">
                <a:solidFill>
                  <a:schemeClr val="bg1"/>
                </a:solidFill>
              </a:rPr>
              <a:t>snapshots, inmutables</a:t>
            </a:r>
            <a:endParaRPr lang="en-US" sz="1200" dirty="0"/>
          </a:p>
        </p:txBody>
      </p:sp>
      <p:sp>
        <p:nvSpPr>
          <p:cNvPr id="33" name="Shape 31"/>
          <p:cNvSpPr/>
          <p:nvPr/>
        </p:nvSpPr>
        <p:spPr>
          <a:xfrm>
            <a:off x="10104120" y="1801368"/>
            <a:ext cx="1508760" cy="868680"/>
          </a:xfrm>
          <a:prstGeom prst="can">
            <a:avLst>
              <a:gd name="adj" fmla="val 8421"/>
            </a:avLst>
          </a:prstGeom>
          <a:solidFill>
            <a:schemeClr val="accent6"/>
          </a:solidFill>
          <a:ln/>
        </p:spPr>
      </p:sp>
      <p:sp>
        <p:nvSpPr>
          <p:cNvPr id="34" name="Text 32"/>
          <p:cNvSpPr txBox="1"/>
          <p:nvPr/>
        </p:nvSpPr>
        <p:spPr>
          <a:xfrm>
            <a:off x="10195560" y="1856232"/>
            <a:ext cx="1325880" cy="758952"/>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MySQL</a:t>
            </a:r>
            <a:endParaRPr lang="en-US" sz="1200" dirty="0"/>
          </a:p>
          <a:p>
            <a:pPr marL="0" indent="0" algn="ctr">
              <a:spcAft>
                <a:spcPts val="200"/>
              </a:spcAft>
              <a:buNone/>
            </a:pPr>
            <a:r>
              <a:rPr lang="en-US" sz="1000" dirty="0">
                <a:solidFill>
                  <a:schemeClr val="bg1"/>
                </a:solidFill>
              </a:rPr>
              <a:t>kata_ecommerce</a:t>
            </a:r>
            <a:endParaRPr lang="en-US" sz="1200" dirty="0"/>
          </a:p>
        </p:txBody>
      </p:sp>
      <p:sp>
        <p:nvSpPr>
          <p:cNvPr id="35" name="Shape 33"/>
          <p:cNvSpPr/>
          <p:nvPr/>
        </p:nvSpPr>
        <p:spPr>
          <a:xfrm>
            <a:off x="6400800" y="3017520"/>
            <a:ext cx="5349240" cy="2423160"/>
          </a:xfrm>
          <a:prstGeom prst="roundRect">
            <a:avLst>
              <a:gd name="adj" fmla="val 3019"/>
            </a:avLst>
          </a:prstGeom>
          <a:solidFill>
            <a:schemeClr val="accent2">
              <a:alpha val="22000"/>
            </a:schemeClr>
          </a:solidFill>
          <a:ln/>
        </p:spPr>
      </p:sp>
      <p:sp>
        <p:nvSpPr>
          <p:cNvPr id="36" name="Text 34"/>
          <p:cNvSpPr txBox="1"/>
          <p:nvPr/>
        </p:nvSpPr>
        <p:spPr>
          <a:xfrm>
            <a:off x="6537960" y="3090672"/>
            <a:ext cx="5029200" cy="320040"/>
          </a:xfrm>
          <a:prstGeom prst="rect">
            <a:avLst/>
          </a:prstGeom>
          <a:noFill/>
          <a:ln/>
        </p:spPr>
        <p:txBody>
          <a:bodyPr wrap="square" lIns="0" tIns="0" rIns="0" bIns="0" rtlCol="0" anchor="t"/>
          <a:lstStyle/>
          <a:p>
            <a:pPr marL="0" indent="0">
              <a:buNone/>
            </a:pPr>
            <a:r>
              <a:rPr lang="en-US" sz="1400" b="1" dirty="0">
                <a:solidFill>
                  <a:schemeClr val="tx1"/>
                </a:solidFill>
              </a:rPr>
              <a:t>Motor de descuentos · service/discount (aislado)</a:t>
            </a:r>
            <a:endParaRPr lang="en-US" sz="1400" dirty="0"/>
          </a:p>
        </p:txBody>
      </p:sp>
      <p:sp>
        <p:nvSpPr>
          <p:cNvPr id="37" name="Shape 35"/>
          <p:cNvSpPr/>
          <p:nvPr/>
        </p:nvSpPr>
        <p:spPr>
          <a:xfrm>
            <a:off x="6537960" y="3474720"/>
            <a:ext cx="2468880" cy="566928"/>
          </a:xfrm>
          <a:prstGeom prst="roundRect">
            <a:avLst>
              <a:gd name="adj" fmla="val 12903"/>
            </a:avLst>
          </a:prstGeom>
          <a:solidFill>
            <a:schemeClr val="tx2"/>
          </a:solidFill>
          <a:ln/>
        </p:spPr>
      </p:sp>
      <p:sp>
        <p:nvSpPr>
          <p:cNvPr id="38" name="Text 36"/>
          <p:cNvSpPr txBox="1"/>
          <p:nvPr/>
        </p:nvSpPr>
        <p:spPr>
          <a:xfrm>
            <a:off x="6629400" y="3529584"/>
            <a:ext cx="2286000" cy="457200"/>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DiscountCalculator</a:t>
            </a:r>
            <a:endParaRPr lang="en-US" sz="1200" dirty="0"/>
          </a:p>
          <a:p>
            <a:pPr marL="0" indent="0" algn="ctr">
              <a:spcAft>
                <a:spcPts val="200"/>
              </a:spcAft>
              <a:buNone/>
            </a:pPr>
            <a:r>
              <a:rPr lang="en-US" sz="1000" dirty="0">
                <a:solidFill>
                  <a:schemeClr val="bg1"/>
                </a:solidFill>
              </a:rPr>
              <a:t>contexto · aplica el tope</a:t>
            </a:r>
            <a:endParaRPr lang="en-US" sz="1200" dirty="0"/>
          </a:p>
        </p:txBody>
      </p:sp>
      <p:sp>
        <p:nvSpPr>
          <p:cNvPr id="39" name="Shape 37"/>
          <p:cNvSpPr/>
          <p:nvPr/>
        </p:nvSpPr>
        <p:spPr>
          <a:xfrm>
            <a:off x="9144000" y="3474720"/>
            <a:ext cx="2468880" cy="566928"/>
          </a:xfrm>
          <a:prstGeom prst="roundRect">
            <a:avLst>
              <a:gd name="adj" fmla="val 12903"/>
            </a:avLst>
          </a:prstGeom>
          <a:solidFill>
            <a:schemeClr val="accent2"/>
          </a:solidFill>
          <a:ln/>
        </p:spPr>
      </p:sp>
      <p:sp>
        <p:nvSpPr>
          <p:cNvPr id="40" name="Text 38"/>
          <p:cNvSpPr txBox="1"/>
          <p:nvPr/>
        </p:nvSpPr>
        <p:spPr>
          <a:xfrm>
            <a:off x="9235440" y="3529584"/>
            <a:ext cx="2286000" cy="457200"/>
          </a:xfrm>
          <a:prstGeom prst="rect">
            <a:avLst/>
          </a:prstGeom>
          <a:noFill/>
          <a:ln/>
        </p:spPr>
        <p:txBody>
          <a:bodyPr wrap="square" lIns="0" tIns="0" rIns="0" bIns="0" rtlCol="0" anchor="ctr"/>
          <a:lstStyle/>
          <a:p>
            <a:pPr marL="0" indent="0" algn="ctr">
              <a:spcAft>
                <a:spcPts val="200"/>
              </a:spcAft>
              <a:buNone/>
            </a:pPr>
            <a:r>
              <a:rPr lang="en-US" sz="1200" b="1" dirty="0">
                <a:solidFill>
                  <a:schemeClr val="tx1"/>
                </a:solidFill>
              </a:rPr>
              <a:t>DiscountRuleFactory</a:t>
            </a:r>
            <a:endParaRPr lang="en-US" sz="1200" dirty="0"/>
          </a:p>
          <a:p>
            <a:pPr marL="0" indent="0" algn="ctr">
              <a:spcAft>
                <a:spcPts val="200"/>
              </a:spcAft>
              <a:buNone/>
            </a:pPr>
            <a:r>
              <a:rPr lang="en-US" sz="1000" dirty="0">
                <a:solidFill>
                  <a:schemeClr val="tx1"/>
                </a:solidFill>
              </a:rPr>
              <a:t>«Factory» crea y ordena</a:t>
            </a:r>
            <a:endParaRPr lang="en-US" sz="1200" dirty="0"/>
          </a:p>
        </p:txBody>
      </p:sp>
      <p:sp>
        <p:nvSpPr>
          <p:cNvPr id="41" name="Shape 39"/>
          <p:cNvSpPr/>
          <p:nvPr/>
        </p:nvSpPr>
        <p:spPr>
          <a:xfrm>
            <a:off x="6537960" y="4160520"/>
            <a:ext cx="5074920" cy="502920"/>
          </a:xfrm>
          <a:prstGeom prst="roundRect">
            <a:avLst>
              <a:gd name="adj" fmla="val 14545"/>
            </a:avLst>
          </a:prstGeom>
          <a:solidFill>
            <a:schemeClr val="accent1"/>
          </a:solidFill>
          <a:ln/>
        </p:spPr>
      </p:sp>
      <p:sp>
        <p:nvSpPr>
          <p:cNvPr id="42" name="Text 40"/>
          <p:cNvSpPr txBox="1"/>
          <p:nvPr/>
        </p:nvSpPr>
        <p:spPr>
          <a:xfrm>
            <a:off x="6629400" y="4215384"/>
            <a:ext cx="4892040" cy="393192"/>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«interface» DiscountRule  ·  Strategy</a:t>
            </a:r>
            <a:endParaRPr lang="en-US" sz="1200" dirty="0"/>
          </a:p>
        </p:txBody>
      </p:sp>
      <p:sp>
        <p:nvSpPr>
          <p:cNvPr id="43" name="Shape 41"/>
          <p:cNvSpPr/>
          <p:nvPr/>
        </p:nvSpPr>
        <p:spPr>
          <a:xfrm>
            <a:off x="6537960" y="4773168"/>
            <a:ext cx="1636776" cy="548640"/>
          </a:xfrm>
          <a:prstGeom prst="roundRect">
            <a:avLst>
              <a:gd name="adj" fmla="val 13333"/>
            </a:avLst>
          </a:prstGeom>
          <a:solidFill>
            <a:schemeClr val="bg1"/>
          </a:solidFill>
          <a:ln/>
        </p:spPr>
      </p:sp>
      <p:sp>
        <p:nvSpPr>
          <p:cNvPr id="44" name="Text 42"/>
          <p:cNvSpPr txBox="1"/>
          <p:nvPr/>
        </p:nvSpPr>
        <p:spPr>
          <a:xfrm>
            <a:off x="6629400" y="4828032"/>
            <a:ext cx="1453896" cy="438912"/>
          </a:xfrm>
          <a:prstGeom prst="rect">
            <a:avLst/>
          </a:prstGeom>
          <a:noFill/>
          <a:ln/>
        </p:spPr>
        <p:txBody>
          <a:bodyPr wrap="square" lIns="0" tIns="0" rIns="0" bIns="0" rtlCol="0" anchor="ctr"/>
          <a:lstStyle/>
          <a:p>
            <a:pPr marL="0" indent="0" algn="ctr">
              <a:spcAft>
                <a:spcPts val="200"/>
              </a:spcAft>
              <a:buNone/>
            </a:pPr>
            <a:r>
              <a:rPr lang="en-US" sz="1000" b="1" dirty="0">
                <a:solidFill>
                  <a:schemeClr val="tx1"/>
                </a:solidFill>
              </a:rPr>
              <a:t>CategoryDiscountRule</a:t>
            </a:r>
            <a:endParaRPr lang="en-US" sz="1000" dirty="0"/>
          </a:p>
        </p:txBody>
      </p:sp>
      <p:sp>
        <p:nvSpPr>
          <p:cNvPr id="45" name="Shape 43"/>
          <p:cNvSpPr/>
          <p:nvPr/>
        </p:nvSpPr>
        <p:spPr>
          <a:xfrm>
            <a:off x="8257032" y="4773168"/>
            <a:ext cx="1636776" cy="548640"/>
          </a:xfrm>
          <a:prstGeom prst="roundRect">
            <a:avLst>
              <a:gd name="adj" fmla="val 13333"/>
            </a:avLst>
          </a:prstGeom>
          <a:solidFill>
            <a:schemeClr val="bg1"/>
          </a:solidFill>
          <a:ln/>
        </p:spPr>
      </p:sp>
      <p:sp>
        <p:nvSpPr>
          <p:cNvPr id="46" name="Text 44"/>
          <p:cNvSpPr txBox="1"/>
          <p:nvPr/>
        </p:nvSpPr>
        <p:spPr>
          <a:xfrm>
            <a:off x="8348472" y="4828032"/>
            <a:ext cx="1453896" cy="438912"/>
          </a:xfrm>
          <a:prstGeom prst="rect">
            <a:avLst/>
          </a:prstGeom>
          <a:noFill/>
          <a:ln/>
        </p:spPr>
        <p:txBody>
          <a:bodyPr wrap="square" lIns="0" tIns="0" rIns="0" bIns="0" rtlCol="0" anchor="ctr"/>
          <a:lstStyle/>
          <a:p>
            <a:pPr marL="0" indent="0" algn="ctr">
              <a:spcAft>
                <a:spcPts val="200"/>
              </a:spcAft>
              <a:buNone/>
            </a:pPr>
            <a:r>
              <a:rPr lang="en-US" sz="1000" b="1" dirty="0">
                <a:solidFill>
                  <a:schemeClr val="tx1"/>
                </a:solidFill>
              </a:rPr>
              <a:t>VolumeDiscountRule</a:t>
            </a:r>
            <a:endParaRPr lang="en-US" sz="1000" dirty="0"/>
          </a:p>
        </p:txBody>
      </p:sp>
      <p:sp>
        <p:nvSpPr>
          <p:cNvPr id="47" name="Shape 45"/>
          <p:cNvSpPr/>
          <p:nvPr/>
        </p:nvSpPr>
        <p:spPr>
          <a:xfrm>
            <a:off x="9976104" y="4773168"/>
            <a:ext cx="1636776" cy="548640"/>
          </a:xfrm>
          <a:prstGeom prst="roundRect">
            <a:avLst>
              <a:gd name="adj" fmla="val 13333"/>
            </a:avLst>
          </a:prstGeom>
          <a:solidFill>
            <a:schemeClr val="bg1"/>
          </a:solidFill>
          <a:ln/>
        </p:spPr>
      </p:sp>
      <p:sp>
        <p:nvSpPr>
          <p:cNvPr id="48" name="Text 46"/>
          <p:cNvSpPr txBox="1"/>
          <p:nvPr/>
        </p:nvSpPr>
        <p:spPr>
          <a:xfrm>
            <a:off x="10067544" y="4828032"/>
            <a:ext cx="1453896" cy="438912"/>
          </a:xfrm>
          <a:prstGeom prst="rect">
            <a:avLst/>
          </a:prstGeom>
          <a:noFill/>
          <a:ln/>
        </p:spPr>
        <p:txBody>
          <a:bodyPr wrap="square" lIns="0" tIns="0" rIns="0" bIns="0" rtlCol="0" anchor="ctr"/>
          <a:lstStyle/>
          <a:p>
            <a:pPr marL="0" indent="0" algn="ctr">
              <a:spcAft>
                <a:spcPts val="200"/>
              </a:spcAft>
              <a:buNone/>
            </a:pPr>
            <a:r>
              <a:rPr lang="en-US" sz="1000" b="1" dirty="0">
                <a:solidFill>
                  <a:schemeClr val="tx1"/>
                </a:solidFill>
              </a:rPr>
              <a:t>CouponDiscountRule</a:t>
            </a:r>
            <a:endParaRPr lang="en-US" sz="1000" dirty="0"/>
          </a:p>
        </p:txBody>
      </p:sp>
      <p:sp>
        <p:nvSpPr>
          <p:cNvPr id="49" name="Shape 47"/>
          <p:cNvSpPr/>
          <p:nvPr/>
        </p:nvSpPr>
        <p:spPr>
          <a:xfrm>
            <a:off x="3017520" y="3429000"/>
            <a:ext cx="411480" cy="0"/>
          </a:xfrm>
          <a:prstGeom prst="line">
            <a:avLst/>
          </a:prstGeom>
          <a:noFill/>
          <a:ln w="22225">
            <a:solidFill>
              <a:srgbClr val="6C7A89"/>
            </a:solidFill>
            <a:prstDash val="solid"/>
            <a:tailEnd type="triangle"/>
          </a:ln>
        </p:spPr>
      </p:sp>
      <p:sp>
        <p:nvSpPr>
          <p:cNvPr id="50" name="Shape 48"/>
          <p:cNvSpPr/>
          <p:nvPr/>
        </p:nvSpPr>
        <p:spPr>
          <a:xfrm>
            <a:off x="5989320" y="2240280"/>
            <a:ext cx="411480" cy="0"/>
          </a:xfrm>
          <a:prstGeom prst="line">
            <a:avLst/>
          </a:prstGeom>
          <a:noFill/>
          <a:ln w="22225">
            <a:solidFill>
              <a:srgbClr val="6C7A89"/>
            </a:solidFill>
            <a:prstDash val="solid"/>
            <a:tailEnd type="triangle"/>
          </a:ln>
        </p:spPr>
      </p:sp>
      <p:sp>
        <p:nvSpPr>
          <p:cNvPr id="51" name="Shape 49"/>
          <p:cNvSpPr/>
          <p:nvPr/>
        </p:nvSpPr>
        <p:spPr>
          <a:xfrm>
            <a:off x="5989320" y="3749040"/>
            <a:ext cx="411480" cy="0"/>
          </a:xfrm>
          <a:prstGeom prst="line">
            <a:avLst/>
          </a:prstGeom>
          <a:noFill/>
          <a:ln w="22225">
            <a:solidFill>
              <a:srgbClr val="6C7A89"/>
            </a:solidFill>
            <a:prstDash val="solid"/>
            <a:tailEnd type="triangle"/>
          </a:ln>
        </p:spPr>
      </p:sp>
      <p:sp>
        <p:nvSpPr>
          <p:cNvPr id="52" name="Shape 50"/>
          <p:cNvSpPr/>
          <p:nvPr/>
        </p:nvSpPr>
        <p:spPr>
          <a:xfrm>
            <a:off x="457200" y="5623560"/>
            <a:ext cx="11292840" cy="640080"/>
          </a:xfrm>
          <a:prstGeom prst="roundRect">
            <a:avLst>
              <a:gd name="adj" fmla="val 11429"/>
            </a:avLst>
          </a:prstGeom>
          <a:solidFill>
            <a:schemeClr val="bg2"/>
          </a:solidFill>
          <a:ln/>
        </p:spPr>
      </p:sp>
      <p:sp>
        <p:nvSpPr>
          <p:cNvPr id="53" name="Text 51"/>
          <p:cNvSpPr txBox="1"/>
          <p:nvPr/>
        </p:nvSpPr>
        <p:spPr>
          <a:xfrm>
            <a:off x="640080" y="5623560"/>
            <a:ext cx="10972800" cy="640080"/>
          </a:xfrm>
          <a:prstGeom prst="rect">
            <a:avLst/>
          </a:prstGeom>
          <a:noFill/>
          <a:ln/>
        </p:spPr>
        <p:txBody>
          <a:bodyPr wrap="square" lIns="0" tIns="0" rIns="0" bIns="0" rtlCol="0" anchor="ctr"/>
          <a:lstStyle/>
          <a:p>
            <a:pPr marL="0" indent="0">
              <a:buNone/>
            </a:pPr>
            <a:r>
              <a:rPr lang="en-US" sz="1300" dirty="0">
                <a:solidFill>
                  <a:schemeClr val="tx1"/>
                </a:solidFill>
              </a:rPr>
              <a:t>Transversales: GlobalExceptionHandler + ProblemDetails (RFC 9457) · ErrorMessages · MoneyUtils · TimeConfig (Clock) · DiscountProperties · SecurityConfig</a:t>
            </a:r>
            <a:endParaRPr lang="en-US" sz="1300" dirty="0"/>
          </a:p>
        </p:txBody>
      </p:sp>
      <p:sp>
        <p:nvSpPr>
          <p:cNvPr id="54"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Nivel 3 · Componentes del frontend</a:t>
            </a:r>
            <a:endParaRPr lang="en-US" sz="3200" dirty="0"/>
          </a:p>
        </p:txBody>
      </p:sp>
      <p:sp>
        <p:nvSpPr>
          <p:cNvPr id="3" name="Shape 1"/>
          <p:cNvSpPr/>
          <p:nvPr/>
        </p:nvSpPr>
        <p:spPr>
          <a:xfrm>
            <a:off x="457200" y="1325880"/>
            <a:ext cx="3383280" cy="4114800"/>
          </a:xfrm>
          <a:prstGeom prst="roundRect">
            <a:avLst>
              <a:gd name="adj" fmla="val 2162"/>
            </a:avLst>
          </a:prstGeom>
          <a:solidFill>
            <a:schemeClr val="bg2"/>
          </a:solidFill>
          <a:ln/>
        </p:spPr>
      </p:sp>
      <p:sp>
        <p:nvSpPr>
          <p:cNvPr id="4" name="Text 2"/>
          <p:cNvSpPr txBox="1"/>
          <p:nvPr/>
        </p:nvSpPr>
        <p:spPr>
          <a:xfrm>
            <a:off x="594360" y="1417320"/>
            <a:ext cx="3108960" cy="320040"/>
          </a:xfrm>
          <a:prstGeom prst="rect">
            <a:avLst/>
          </a:prstGeom>
          <a:noFill/>
          <a:ln/>
        </p:spPr>
        <p:txBody>
          <a:bodyPr wrap="square" lIns="0" tIns="0" rIns="0" bIns="0" rtlCol="0" anchor="t"/>
          <a:lstStyle/>
          <a:p>
            <a:pPr marL="0" indent="0">
              <a:buNone/>
            </a:pPr>
            <a:r>
              <a:rPr lang="en-US" sz="1400" b="1" dirty="0">
                <a:solidFill>
                  <a:schemeClr val="tx2"/>
                </a:solidFill>
              </a:rPr>
              <a:t>Componentes standalone</a:t>
            </a:r>
            <a:endParaRPr lang="en-US" sz="1400" dirty="0"/>
          </a:p>
        </p:txBody>
      </p:sp>
      <p:sp>
        <p:nvSpPr>
          <p:cNvPr id="5" name="Shape 3"/>
          <p:cNvSpPr/>
          <p:nvPr/>
        </p:nvSpPr>
        <p:spPr>
          <a:xfrm>
            <a:off x="594360" y="1801368"/>
            <a:ext cx="3108960" cy="512064"/>
          </a:xfrm>
          <a:prstGeom prst="roundRect">
            <a:avLst>
              <a:gd name="adj" fmla="val 14286"/>
            </a:avLst>
          </a:prstGeom>
          <a:solidFill>
            <a:schemeClr val="accent1"/>
          </a:solidFill>
          <a:ln/>
        </p:spPr>
      </p:sp>
      <p:sp>
        <p:nvSpPr>
          <p:cNvPr id="6" name="Text 4"/>
          <p:cNvSpPr txBox="1"/>
          <p:nvPr/>
        </p:nvSpPr>
        <p:spPr>
          <a:xfrm>
            <a:off x="685800" y="1856232"/>
            <a:ext cx="292608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App</a:t>
            </a:r>
            <a:endParaRPr lang="en-US" sz="1200" dirty="0"/>
          </a:p>
          <a:p>
            <a:pPr marL="0" indent="0" algn="ctr">
              <a:spcAft>
                <a:spcPts val="200"/>
              </a:spcAft>
              <a:buNone/>
            </a:pPr>
            <a:r>
              <a:rPr lang="en-US" sz="1000" dirty="0">
                <a:solidFill>
                  <a:schemeClr val="bg1"/>
                </a:solidFill>
              </a:rPr>
              <a:t>compone la página y sincroniza el catálogo</a:t>
            </a:r>
            <a:endParaRPr lang="en-US" sz="1200" dirty="0"/>
          </a:p>
        </p:txBody>
      </p:sp>
      <p:sp>
        <p:nvSpPr>
          <p:cNvPr id="7" name="Shape 5"/>
          <p:cNvSpPr/>
          <p:nvPr/>
        </p:nvSpPr>
        <p:spPr>
          <a:xfrm>
            <a:off x="594360" y="2395728"/>
            <a:ext cx="3108960" cy="512064"/>
          </a:xfrm>
          <a:prstGeom prst="roundRect">
            <a:avLst>
              <a:gd name="adj" fmla="val 14286"/>
            </a:avLst>
          </a:prstGeom>
          <a:solidFill>
            <a:schemeClr val="accent1"/>
          </a:solidFill>
          <a:ln/>
        </p:spPr>
      </p:sp>
      <p:sp>
        <p:nvSpPr>
          <p:cNvPr id="8" name="Text 6"/>
          <p:cNvSpPr txBox="1"/>
          <p:nvPr/>
        </p:nvSpPr>
        <p:spPr>
          <a:xfrm>
            <a:off x="685800" y="2450592"/>
            <a:ext cx="292608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ProductList</a:t>
            </a:r>
            <a:endParaRPr lang="en-US" sz="1200" dirty="0"/>
          </a:p>
          <a:p>
            <a:pPr marL="0" indent="0" algn="ctr">
              <a:spcAft>
                <a:spcPts val="200"/>
              </a:spcAft>
              <a:buNone/>
            </a:pPr>
            <a:r>
              <a:rPr lang="en-US" sz="1000" dirty="0">
                <a:solidFill>
                  <a:schemeClr val="bg1"/>
                </a:solidFill>
              </a:rPr>
              <a:t>HU1 · catálogo y Agregar</a:t>
            </a:r>
            <a:endParaRPr lang="en-US" sz="1200" dirty="0"/>
          </a:p>
        </p:txBody>
      </p:sp>
      <p:sp>
        <p:nvSpPr>
          <p:cNvPr id="9" name="Shape 7"/>
          <p:cNvSpPr/>
          <p:nvPr/>
        </p:nvSpPr>
        <p:spPr>
          <a:xfrm>
            <a:off x="594360" y="2990088"/>
            <a:ext cx="3108960" cy="512064"/>
          </a:xfrm>
          <a:prstGeom prst="roundRect">
            <a:avLst>
              <a:gd name="adj" fmla="val 14286"/>
            </a:avLst>
          </a:prstGeom>
          <a:solidFill>
            <a:schemeClr val="accent1"/>
          </a:solidFill>
          <a:ln/>
        </p:spPr>
      </p:sp>
      <p:sp>
        <p:nvSpPr>
          <p:cNvPr id="10" name="Text 8"/>
          <p:cNvSpPr txBox="1"/>
          <p:nvPr/>
        </p:nvSpPr>
        <p:spPr>
          <a:xfrm>
            <a:off x="685800" y="3044952"/>
            <a:ext cx="292608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Cart</a:t>
            </a:r>
            <a:endParaRPr lang="en-US" sz="1200" dirty="0"/>
          </a:p>
          <a:p>
            <a:pPr marL="0" indent="0" algn="ctr">
              <a:spcAft>
                <a:spcPts val="200"/>
              </a:spcAft>
              <a:buNone/>
            </a:pPr>
            <a:r>
              <a:rPr lang="en-US" sz="1000" dirty="0">
                <a:solidFill>
                  <a:schemeClr val="bg1"/>
                </a:solidFill>
              </a:rPr>
              <a:t>HU1/HU3 · cantidades y Finalizar compra</a:t>
            </a:r>
            <a:endParaRPr lang="en-US" sz="1200" dirty="0"/>
          </a:p>
        </p:txBody>
      </p:sp>
      <p:sp>
        <p:nvSpPr>
          <p:cNvPr id="11" name="Shape 9"/>
          <p:cNvSpPr/>
          <p:nvPr/>
        </p:nvSpPr>
        <p:spPr>
          <a:xfrm>
            <a:off x="594360" y="3584448"/>
            <a:ext cx="3108960" cy="512064"/>
          </a:xfrm>
          <a:prstGeom prst="roundRect">
            <a:avLst>
              <a:gd name="adj" fmla="val 14286"/>
            </a:avLst>
          </a:prstGeom>
          <a:solidFill>
            <a:schemeClr val="accent1"/>
          </a:solidFill>
          <a:ln/>
        </p:spPr>
      </p:sp>
      <p:sp>
        <p:nvSpPr>
          <p:cNvPr id="12" name="Text 10"/>
          <p:cNvSpPr txBox="1"/>
          <p:nvPr/>
        </p:nvSpPr>
        <p:spPr>
          <a:xfrm>
            <a:off x="685800" y="3639312"/>
            <a:ext cx="292608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CouponForm</a:t>
            </a:r>
            <a:endParaRPr lang="en-US" sz="1200" dirty="0"/>
          </a:p>
          <a:p>
            <a:pPr marL="0" indent="0" algn="ctr">
              <a:spcAft>
                <a:spcPts val="200"/>
              </a:spcAft>
              <a:buNone/>
            </a:pPr>
            <a:r>
              <a:rPr lang="en-US" sz="1000" dirty="0">
                <a:solidFill>
                  <a:schemeClr val="bg1"/>
                </a:solidFill>
              </a:rPr>
              <a:t>HU2 · aplicar o quitar cupón</a:t>
            </a:r>
            <a:endParaRPr lang="en-US" sz="1200" dirty="0"/>
          </a:p>
        </p:txBody>
      </p:sp>
      <p:sp>
        <p:nvSpPr>
          <p:cNvPr id="13" name="Shape 11"/>
          <p:cNvSpPr/>
          <p:nvPr/>
        </p:nvSpPr>
        <p:spPr>
          <a:xfrm>
            <a:off x="594360" y="4178808"/>
            <a:ext cx="3108960" cy="512064"/>
          </a:xfrm>
          <a:prstGeom prst="roundRect">
            <a:avLst>
              <a:gd name="adj" fmla="val 14286"/>
            </a:avLst>
          </a:prstGeom>
          <a:solidFill>
            <a:schemeClr val="accent1"/>
          </a:solidFill>
          <a:ln/>
        </p:spPr>
      </p:sp>
      <p:sp>
        <p:nvSpPr>
          <p:cNvPr id="14" name="Text 12"/>
          <p:cNvSpPr txBox="1"/>
          <p:nvPr/>
        </p:nvSpPr>
        <p:spPr>
          <a:xfrm>
            <a:off x="685800" y="4233672"/>
            <a:ext cx="292608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DiscountSummary + CapAlert</a:t>
            </a:r>
            <a:endParaRPr lang="en-US" sz="1200" dirty="0"/>
          </a:p>
          <a:p>
            <a:pPr marL="0" indent="0" algn="ctr">
              <a:spcAft>
                <a:spcPts val="200"/>
              </a:spcAft>
              <a:buNone/>
            </a:pPr>
            <a:r>
              <a:rPr lang="en-US" sz="1000" dirty="0">
                <a:solidFill>
                  <a:schemeClr val="bg1"/>
                </a:solidFill>
              </a:rPr>
              <a:t>HU2/HU4 · desglose y alerta del 35 %</a:t>
            </a:r>
            <a:endParaRPr lang="en-US" sz="1200" dirty="0"/>
          </a:p>
        </p:txBody>
      </p:sp>
      <p:sp>
        <p:nvSpPr>
          <p:cNvPr id="15" name="Shape 13"/>
          <p:cNvSpPr/>
          <p:nvPr/>
        </p:nvSpPr>
        <p:spPr>
          <a:xfrm>
            <a:off x="594360" y="4773168"/>
            <a:ext cx="3108960" cy="512064"/>
          </a:xfrm>
          <a:prstGeom prst="roundRect">
            <a:avLst>
              <a:gd name="adj" fmla="val 14286"/>
            </a:avLst>
          </a:prstGeom>
          <a:solidFill>
            <a:schemeClr val="accent1"/>
          </a:solidFill>
          <a:ln/>
        </p:spPr>
      </p:sp>
      <p:sp>
        <p:nvSpPr>
          <p:cNvPr id="16" name="Text 14"/>
          <p:cNvSpPr txBox="1"/>
          <p:nvPr/>
        </p:nvSpPr>
        <p:spPr>
          <a:xfrm>
            <a:off x="685800" y="4828032"/>
            <a:ext cx="292608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OrderConfirmation</a:t>
            </a:r>
            <a:endParaRPr lang="en-US" sz="1200" dirty="0"/>
          </a:p>
          <a:p>
            <a:pPr marL="0" indent="0" algn="ctr">
              <a:spcAft>
                <a:spcPts val="200"/>
              </a:spcAft>
              <a:buNone/>
            </a:pPr>
            <a:r>
              <a:rPr lang="en-US" sz="1000" dirty="0">
                <a:solidFill>
                  <a:schemeClr val="bg1"/>
                </a:solidFill>
              </a:rPr>
              <a:t>HU3 · número de orden</a:t>
            </a:r>
            <a:endParaRPr lang="en-US" sz="1200" dirty="0"/>
          </a:p>
        </p:txBody>
      </p:sp>
      <p:sp>
        <p:nvSpPr>
          <p:cNvPr id="17" name="Shape 15"/>
          <p:cNvSpPr/>
          <p:nvPr/>
        </p:nvSpPr>
        <p:spPr>
          <a:xfrm>
            <a:off x="4251960" y="1325880"/>
            <a:ext cx="3291840" cy="4114800"/>
          </a:xfrm>
          <a:prstGeom prst="roundRect">
            <a:avLst>
              <a:gd name="adj" fmla="val 2222"/>
            </a:avLst>
          </a:prstGeom>
          <a:solidFill>
            <a:schemeClr val="bg2"/>
          </a:solidFill>
          <a:ln/>
        </p:spPr>
      </p:sp>
      <p:sp>
        <p:nvSpPr>
          <p:cNvPr id="18" name="Text 16"/>
          <p:cNvSpPr txBox="1"/>
          <p:nvPr/>
        </p:nvSpPr>
        <p:spPr>
          <a:xfrm>
            <a:off x="4389120" y="1417320"/>
            <a:ext cx="3017520" cy="320040"/>
          </a:xfrm>
          <a:prstGeom prst="rect">
            <a:avLst/>
          </a:prstGeom>
          <a:noFill/>
          <a:ln/>
        </p:spPr>
        <p:txBody>
          <a:bodyPr wrap="square" lIns="0" tIns="0" rIns="0" bIns="0" rtlCol="0" anchor="t"/>
          <a:lstStyle/>
          <a:p>
            <a:pPr marL="0" indent="0">
              <a:buNone/>
            </a:pPr>
            <a:r>
              <a:rPr lang="en-US" sz="1400" b="1" dirty="0">
                <a:solidFill>
                  <a:schemeClr val="tx2"/>
                </a:solidFill>
              </a:rPr>
              <a:t>Servicios (estado con signals)</a:t>
            </a:r>
            <a:endParaRPr lang="en-US" sz="1400" dirty="0"/>
          </a:p>
        </p:txBody>
      </p:sp>
      <p:sp>
        <p:nvSpPr>
          <p:cNvPr id="19" name="Shape 17"/>
          <p:cNvSpPr/>
          <p:nvPr/>
        </p:nvSpPr>
        <p:spPr>
          <a:xfrm>
            <a:off x="4389120" y="1801368"/>
            <a:ext cx="3017520" cy="512064"/>
          </a:xfrm>
          <a:prstGeom prst="roundRect">
            <a:avLst>
              <a:gd name="adj" fmla="val 14286"/>
            </a:avLst>
          </a:prstGeom>
          <a:solidFill>
            <a:schemeClr val="tx2"/>
          </a:solidFill>
          <a:ln/>
        </p:spPr>
      </p:sp>
      <p:sp>
        <p:nvSpPr>
          <p:cNvPr id="20" name="Text 18"/>
          <p:cNvSpPr txBox="1"/>
          <p:nvPr/>
        </p:nvSpPr>
        <p:spPr>
          <a:xfrm>
            <a:off x="4480560" y="1856232"/>
            <a:ext cx="283464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CartService</a:t>
            </a:r>
            <a:endParaRPr lang="en-US" sz="1200" dirty="0"/>
          </a:p>
          <a:p>
            <a:pPr marL="0" indent="0" algn="ctr">
              <a:spcAft>
                <a:spcPts val="200"/>
              </a:spcAft>
              <a:buNone/>
            </a:pPr>
            <a:r>
              <a:rPr lang="en-US" sz="1000" dirty="0">
                <a:solidFill>
                  <a:schemeClr val="bg1"/>
                </a:solidFill>
              </a:rPr>
              <a:t>signals + recotización (debounce 300 ms)</a:t>
            </a:r>
            <a:endParaRPr lang="en-US" sz="1200" dirty="0"/>
          </a:p>
        </p:txBody>
      </p:sp>
      <p:sp>
        <p:nvSpPr>
          <p:cNvPr id="21" name="Shape 19"/>
          <p:cNvSpPr/>
          <p:nvPr/>
        </p:nvSpPr>
        <p:spPr>
          <a:xfrm>
            <a:off x="4389120" y="2395728"/>
            <a:ext cx="3017520" cy="512064"/>
          </a:xfrm>
          <a:prstGeom prst="roundRect">
            <a:avLst>
              <a:gd name="adj" fmla="val 14286"/>
            </a:avLst>
          </a:prstGeom>
          <a:solidFill>
            <a:schemeClr val="tx2"/>
          </a:solidFill>
          <a:ln/>
        </p:spPr>
      </p:sp>
      <p:sp>
        <p:nvSpPr>
          <p:cNvPr id="22" name="Text 20"/>
          <p:cNvSpPr txBox="1"/>
          <p:nvPr/>
        </p:nvSpPr>
        <p:spPr>
          <a:xfrm>
            <a:off x="4480560" y="2450592"/>
            <a:ext cx="283464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ProductService</a:t>
            </a:r>
            <a:endParaRPr lang="en-US" sz="1200" dirty="0"/>
          </a:p>
          <a:p>
            <a:pPr marL="0" indent="0" algn="ctr">
              <a:spcAft>
                <a:spcPts val="200"/>
              </a:spcAft>
              <a:buNone/>
            </a:pPr>
            <a:r>
              <a:rPr lang="en-US" sz="1000" dirty="0">
                <a:solidFill>
                  <a:schemeClr val="bg1"/>
                </a:solidFill>
              </a:rPr>
              <a:t>GET /products</a:t>
            </a:r>
            <a:endParaRPr lang="en-US" sz="1200" dirty="0"/>
          </a:p>
        </p:txBody>
      </p:sp>
      <p:sp>
        <p:nvSpPr>
          <p:cNvPr id="23" name="Shape 21"/>
          <p:cNvSpPr/>
          <p:nvPr/>
        </p:nvSpPr>
        <p:spPr>
          <a:xfrm>
            <a:off x="4389120" y="2990088"/>
            <a:ext cx="3017520" cy="512064"/>
          </a:xfrm>
          <a:prstGeom prst="roundRect">
            <a:avLst>
              <a:gd name="adj" fmla="val 14286"/>
            </a:avLst>
          </a:prstGeom>
          <a:solidFill>
            <a:schemeClr val="tx2"/>
          </a:solidFill>
          <a:ln/>
        </p:spPr>
      </p:sp>
      <p:sp>
        <p:nvSpPr>
          <p:cNvPr id="24" name="Text 22"/>
          <p:cNvSpPr txBox="1"/>
          <p:nvPr/>
        </p:nvSpPr>
        <p:spPr>
          <a:xfrm>
            <a:off x="4480560" y="3044952"/>
            <a:ext cx="283464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OrderService</a:t>
            </a:r>
            <a:endParaRPr lang="en-US" sz="1200" dirty="0"/>
          </a:p>
          <a:p>
            <a:pPr marL="0" indent="0" algn="ctr">
              <a:spcAft>
                <a:spcPts val="200"/>
              </a:spcAft>
              <a:buNone/>
            </a:pPr>
            <a:r>
              <a:rPr lang="en-US" sz="1000" dirty="0">
                <a:solidFill>
                  <a:schemeClr val="bg1"/>
                </a:solidFill>
              </a:rPr>
              <a:t>POST /orders</a:t>
            </a:r>
            <a:endParaRPr lang="en-US" sz="1200" dirty="0"/>
          </a:p>
        </p:txBody>
      </p:sp>
      <p:sp>
        <p:nvSpPr>
          <p:cNvPr id="25" name="Shape 23"/>
          <p:cNvSpPr/>
          <p:nvPr/>
        </p:nvSpPr>
        <p:spPr>
          <a:xfrm>
            <a:off x="4389120" y="3584448"/>
            <a:ext cx="3017520" cy="512064"/>
          </a:xfrm>
          <a:prstGeom prst="roundRect">
            <a:avLst>
              <a:gd name="adj" fmla="val 14286"/>
            </a:avLst>
          </a:prstGeom>
          <a:solidFill>
            <a:schemeClr val="tx2"/>
          </a:solidFill>
          <a:ln/>
        </p:spPr>
      </p:sp>
      <p:sp>
        <p:nvSpPr>
          <p:cNvPr id="26" name="Text 24"/>
          <p:cNvSpPr txBox="1"/>
          <p:nvPr/>
        </p:nvSpPr>
        <p:spPr>
          <a:xfrm>
            <a:off x="4480560" y="3639312"/>
            <a:ext cx="283464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toErrorMessage</a:t>
            </a:r>
            <a:endParaRPr lang="en-US" sz="1200" dirty="0"/>
          </a:p>
          <a:p>
            <a:pPr marL="0" indent="0" algn="ctr">
              <a:spcAft>
                <a:spcPts val="200"/>
              </a:spcAft>
              <a:buNone/>
            </a:pPr>
            <a:r>
              <a:rPr lang="en-US" sz="1000" dirty="0">
                <a:solidFill>
                  <a:schemeClr val="bg1"/>
                </a:solidFill>
              </a:rPr>
              <a:t>Problem Details → mensaje</a:t>
            </a:r>
            <a:endParaRPr lang="en-US" sz="1200" dirty="0"/>
          </a:p>
        </p:txBody>
      </p:sp>
      <p:sp>
        <p:nvSpPr>
          <p:cNvPr id="27" name="Shape 25"/>
          <p:cNvSpPr/>
          <p:nvPr/>
        </p:nvSpPr>
        <p:spPr>
          <a:xfrm>
            <a:off x="7955280" y="1325880"/>
            <a:ext cx="2103120" cy="4114800"/>
          </a:xfrm>
          <a:prstGeom prst="roundRect">
            <a:avLst>
              <a:gd name="adj" fmla="val 3478"/>
            </a:avLst>
          </a:prstGeom>
          <a:solidFill>
            <a:schemeClr val="bg2"/>
          </a:solidFill>
          <a:ln/>
        </p:spPr>
      </p:sp>
      <p:sp>
        <p:nvSpPr>
          <p:cNvPr id="28" name="Text 26"/>
          <p:cNvSpPr txBox="1"/>
          <p:nvPr/>
        </p:nvSpPr>
        <p:spPr>
          <a:xfrm>
            <a:off x="8092440" y="1417320"/>
            <a:ext cx="1828800" cy="320040"/>
          </a:xfrm>
          <a:prstGeom prst="rect">
            <a:avLst/>
          </a:prstGeom>
          <a:noFill/>
          <a:ln/>
        </p:spPr>
        <p:txBody>
          <a:bodyPr wrap="square" lIns="0" tIns="0" rIns="0" bIns="0" rtlCol="0" anchor="t"/>
          <a:lstStyle/>
          <a:p>
            <a:pPr marL="0" indent="0">
              <a:buNone/>
            </a:pPr>
            <a:r>
              <a:rPr lang="en-US" sz="1400" b="1" dirty="0">
                <a:solidFill>
                  <a:schemeClr val="tx2"/>
                </a:solidFill>
              </a:rPr>
              <a:t>HTTP</a:t>
            </a:r>
            <a:endParaRPr lang="en-US" sz="1400" dirty="0"/>
          </a:p>
        </p:txBody>
      </p:sp>
      <p:sp>
        <p:nvSpPr>
          <p:cNvPr id="29" name="Shape 27"/>
          <p:cNvSpPr/>
          <p:nvPr/>
        </p:nvSpPr>
        <p:spPr>
          <a:xfrm>
            <a:off x="8092440" y="1801368"/>
            <a:ext cx="1828800" cy="512064"/>
          </a:xfrm>
          <a:prstGeom prst="roundRect">
            <a:avLst>
              <a:gd name="adj" fmla="val 14286"/>
            </a:avLst>
          </a:prstGeom>
          <a:solidFill>
            <a:schemeClr val="accent3"/>
          </a:solidFill>
          <a:ln/>
        </p:spPr>
      </p:sp>
      <p:sp>
        <p:nvSpPr>
          <p:cNvPr id="30" name="Text 28"/>
          <p:cNvSpPr txBox="1"/>
          <p:nvPr/>
        </p:nvSpPr>
        <p:spPr>
          <a:xfrm>
            <a:off x="8183880" y="1856232"/>
            <a:ext cx="164592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authInterceptor</a:t>
            </a:r>
            <a:endParaRPr lang="en-US" sz="1200" dirty="0"/>
          </a:p>
          <a:p>
            <a:pPr marL="0" indent="0" algn="ctr">
              <a:spcAft>
                <a:spcPts val="200"/>
              </a:spcAft>
              <a:buNone/>
            </a:pPr>
            <a:r>
              <a:rPr lang="en-US" sz="1000" dirty="0">
                <a:solidFill>
                  <a:schemeClr val="bg1"/>
                </a:solidFill>
              </a:rPr>
              <a:t>Bearer + reintento ante 401</a:t>
            </a:r>
            <a:endParaRPr lang="en-US" sz="1200" dirty="0"/>
          </a:p>
        </p:txBody>
      </p:sp>
      <p:sp>
        <p:nvSpPr>
          <p:cNvPr id="31" name="Shape 29"/>
          <p:cNvSpPr/>
          <p:nvPr/>
        </p:nvSpPr>
        <p:spPr>
          <a:xfrm>
            <a:off x="8092440" y="2395728"/>
            <a:ext cx="1828800" cy="512064"/>
          </a:xfrm>
          <a:prstGeom prst="roundRect">
            <a:avLst>
              <a:gd name="adj" fmla="val 14286"/>
            </a:avLst>
          </a:prstGeom>
          <a:solidFill>
            <a:schemeClr val="accent3"/>
          </a:solidFill>
          <a:ln/>
        </p:spPr>
      </p:sp>
      <p:sp>
        <p:nvSpPr>
          <p:cNvPr id="32" name="Text 30"/>
          <p:cNvSpPr txBox="1"/>
          <p:nvPr/>
        </p:nvSpPr>
        <p:spPr>
          <a:xfrm>
            <a:off x="8183880" y="2450592"/>
            <a:ext cx="1645920" cy="402336"/>
          </a:xfrm>
          <a:prstGeom prst="rect">
            <a:avLst/>
          </a:prstGeom>
          <a:noFill/>
          <a:ln/>
        </p:spPr>
        <p:txBody>
          <a:bodyPr wrap="square" lIns="0" tIns="0" rIns="0" bIns="0" rtlCol="0" anchor="ctr"/>
          <a:lstStyle/>
          <a:p>
            <a:pPr marL="0" indent="0" algn="ctr">
              <a:spcAft>
                <a:spcPts val="200"/>
              </a:spcAft>
              <a:buNone/>
            </a:pPr>
            <a:r>
              <a:rPr lang="en-US" sz="1200" b="1" dirty="0">
                <a:solidFill>
                  <a:schemeClr val="bg1"/>
                </a:solidFill>
              </a:rPr>
              <a:t>AuthTokenStore</a:t>
            </a:r>
            <a:endParaRPr lang="en-US" sz="1200" dirty="0"/>
          </a:p>
          <a:p>
            <a:pPr marL="0" indent="0" algn="ctr">
              <a:spcAft>
                <a:spcPts val="200"/>
              </a:spcAft>
              <a:buNone/>
            </a:pPr>
            <a:r>
              <a:rPr lang="en-US" sz="1000" dirty="0">
                <a:solidFill>
                  <a:schemeClr val="bg1"/>
                </a:solidFill>
              </a:rPr>
              <a:t>JWT en memoria</a:t>
            </a:r>
            <a:endParaRPr lang="en-US" sz="1200" dirty="0"/>
          </a:p>
        </p:txBody>
      </p:sp>
      <p:sp>
        <p:nvSpPr>
          <p:cNvPr id="33" name="Shape 31"/>
          <p:cNvSpPr/>
          <p:nvPr/>
        </p:nvSpPr>
        <p:spPr>
          <a:xfrm>
            <a:off x="10424160" y="2651760"/>
            <a:ext cx="1325880" cy="1463040"/>
          </a:xfrm>
          <a:prstGeom prst="roundRect">
            <a:avLst>
              <a:gd name="adj" fmla="val 5517"/>
            </a:avLst>
          </a:prstGeom>
          <a:solidFill>
            <a:schemeClr val="tx2"/>
          </a:solidFill>
          <a:ln/>
        </p:spPr>
      </p:sp>
      <p:sp>
        <p:nvSpPr>
          <p:cNvPr id="34" name="Text 32"/>
          <p:cNvSpPr txBox="1"/>
          <p:nvPr/>
        </p:nvSpPr>
        <p:spPr>
          <a:xfrm>
            <a:off x="10515600" y="2706624"/>
            <a:ext cx="1143000" cy="1353312"/>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API REST</a:t>
            </a:r>
            <a:endParaRPr lang="en-US" sz="1400" dirty="0"/>
          </a:p>
          <a:p>
            <a:pPr marL="0" indent="0" algn="ctr">
              <a:spcAft>
                <a:spcPts val="200"/>
              </a:spcAft>
              <a:buNone/>
            </a:pPr>
            <a:r>
              <a:rPr lang="en-US" sz="1100" i="1" dirty="0">
                <a:solidFill>
                  <a:schemeClr val="bg1"/>
                </a:solidFill>
              </a:rPr>
              <a:t>[:8080]</a:t>
            </a:r>
            <a:endParaRPr lang="en-US" sz="1400" dirty="0"/>
          </a:p>
        </p:txBody>
      </p:sp>
      <p:sp>
        <p:nvSpPr>
          <p:cNvPr id="35" name="Shape 33"/>
          <p:cNvSpPr/>
          <p:nvPr/>
        </p:nvSpPr>
        <p:spPr>
          <a:xfrm>
            <a:off x="3840480" y="3383280"/>
            <a:ext cx="411480" cy="0"/>
          </a:xfrm>
          <a:prstGeom prst="line">
            <a:avLst/>
          </a:prstGeom>
          <a:noFill/>
          <a:ln w="22225">
            <a:solidFill>
              <a:srgbClr val="6C7A89"/>
            </a:solidFill>
            <a:prstDash val="solid"/>
            <a:tailEnd type="triangle"/>
          </a:ln>
        </p:spPr>
      </p:sp>
      <p:sp>
        <p:nvSpPr>
          <p:cNvPr id="36" name="Shape 34"/>
          <p:cNvSpPr/>
          <p:nvPr/>
        </p:nvSpPr>
        <p:spPr>
          <a:xfrm>
            <a:off x="7543800" y="3383280"/>
            <a:ext cx="411480" cy="0"/>
          </a:xfrm>
          <a:prstGeom prst="line">
            <a:avLst/>
          </a:prstGeom>
          <a:noFill/>
          <a:ln w="22225">
            <a:solidFill>
              <a:srgbClr val="6C7A89"/>
            </a:solidFill>
            <a:prstDash val="solid"/>
            <a:tailEnd type="triangle"/>
          </a:ln>
        </p:spPr>
      </p:sp>
      <p:sp>
        <p:nvSpPr>
          <p:cNvPr id="37" name="Shape 35"/>
          <p:cNvSpPr/>
          <p:nvPr/>
        </p:nvSpPr>
        <p:spPr>
          <a:xfrm>
            <a:off x="10058400" y="3383280"/>
            <a:ext cx="365760" cy="0"/>
          </a:xfrm>
          <a:prstGeom prst="line">
            <a:avLst/>
          </a:prstGeom>
          <a:noFill/>
          <a:ln w="22225">
            <a:solidFill>
              <a:srgbClr val="6C7A89"/>
            </a:solidFill>
            <a:prstDash val="solid"/>
            <a:tailEnd type="triangle"/>
          </a:ln>
        </p:spPr>
      </p:sp>
      <p:sp>
        <p:nvSpPr>
          <p:cNvPr id="38" name="Shape 36"/>
          <p:cNvSpPr/>
          <p:nvPr/>
        </p:nvSpPr>
        <p:spPr>
          <a:xfrm>
            <a:off x="457200" y="5623560"/>
            <a:ext cx="11292840" cy="640080"/>
          </a:xfrm>
          <a:prstGeom prst="roundRect">
            <a:avLst>
              <a:gd name="adj" fmla="val 11429"/>
            </a:avLst>
          </a:prstGeom>
          <a:solidFill>
            <a:schemeClr val="bg2"/>
          </a:solidFill>
          <a:ln/>
        </p:spPr>
      </p:sp>
      <p:sp>
        <p:nvSpPr>
          <p:cNvPr id="39" name="Text 37"/>
          <p:cNvSpPr txBox="1"/>
          <p:nvPr/>
        </p:nvSpPr>
        <p:spPr>
          <a:xfrm>
            <a:off x="640080" y="5623560"/>
            <a:ext cx="10972800" cy="640080"/>
          </a:xfrm>
          <a:prstGeom prst="rect">
            <a:avLst/>
          </a:prstGeom>
          <a:noFill/>
          <a:ln/>
        </p:spPr>
        <p:txBody>
          <a:bodyPr wrap="square" lIns="0" tIns="0" rIns="0" bIns="0" rtlCol="0" anchor="ctr"/>
          <a:lstStyle/>
          <a:p>
            <a:pPr marL="0" indent="0">
              <a:buNone/>
            </a:pPr>
            <a:r>
              <a:rPr lang="en-US" sz="1300" dirty="0">
                <a:solidFill>
                  <a:schemeClr val="tx1"/>
                </a:solidFill>
              </a:rPr>
              <a:t>models/: interfaces TypeScript 1:1 con los DTO del backend · El frontend NO calcula descuentos: solo el subtotal original; el desglose lo da la API</a:t>
            </a:r>
            <a:endParaRPr lang="en-US" sz="1300" dirty="0"/>
          </a:p>
        </p:txBody>
      </p:sp>
      <p:sp>
        <p:nvSpPr>
          <p:cNvPr id="40"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3657600" cy="1188720"/>
          </a:xfrm>
          <a:prstGeom prst="rect">
            <a:avLst/>
          </a:prstGeom>
          <a:noFill/>
          <a:ln/>
        </p:spPr>
        <p:txBody>
          <a:bodyPr wrap="square" rtlCol="0" anchor="b"/>
          <a:lstStyle/>
          <a:p>
            <a:pPr marL="0" indent="0">
              <a:buNone/>
            </a:pPr>
            <a:r>
              <a:rPr lang="en-US" sz="6600" b="1" dirty="0">
                <a:solidFill>
                  <a:schemeClr val="accent2"/>
                </a:solidFill>
                <a:latin typeface="Cambria" pitchFamily="34" charset="0"/>
                <a:ea typeface="Cambria" pitchFamily="34" charset="-122"/>
                <a:cs typeface="Cambria" pitchFamily="34" charset="-120"/>
              </a:rPr>
              <a:t>02</a:t>
            </a:r>
            <a:endParaRPr lang="en-US" sz="6600" dirty="0"/>
          </a:p>
        </p:txBody>
      </p:sp>
      <p:sp>
        <p:nvSpPr>
          <p:cNvPr id="3" name="Text 0"/>
          <p:cNvSpPr>
            <a:spLocks noGrp="1"/>
          </p:cNvSpPr>
          <p:nvPr>
            <p:ph type="title" idx="101" hasCustomPrompt="1"/>
          </p:nvPr>
        </p:nvSpPr>
        <p:spPr>
          <a:xfrm>
            <a:off x="731520" y="2788920"/>
            <a:ext cx="10698480" cy="1005840"/>
          </a:xfrm>
          <a:prstGeom prst="rect">
            <a:avLst/>
          </a:prstGeom>
          <a:noFill/>
          <a:ln/>
        </p:spPr>
        <p:txBody>
          <a:bodyPr wrap="square" rtlCol="0" anchor="t"/>
          <a:lstStyle/>
          <a:p>
            <a:pPr marL="0" indent="0" algn="l">
              <a:buNone/>
            </a:pPr>
            <a:r>
              <a:rPr lang="en-US" sz="4000" b="1" dirty="0">
                <a:solidFill>
                  <a:schemeClr val="bg1"/>
                </a:solidFill>
              </a:rPr>
              <a:t>Patrones de diseño aplicados</a:t>
            </a:r>
            <a:endParaRPr lang="en-US" sz="4000" dirty="0"/>
          </a:p>
        </p:txBody>
      </p:sp>
      <p:sp>
        <p:nvSpPr>
          <p:cNvPr id="4" name="Text 0"/>
          <p:cNvSpPr>
            <a:spLocks noGrp="1"/>
          </p:cNvSpPr>
          <p:nvPr>
            <p:ph type="body" idx="102" hasCustomPrompt="1"/>
          </p:nvPr>
        </p:nvSpPr>
        <p:spPr>
          <a:xfrm>
            <a:off x="731520" y="3886200"/>
            <a:ext cx="9601200" cy="1280160"/>
          </a:xfrm>
          <a:prstGeom prst="rect">
            <a:avLst/>
          </a:prstGeom>
          <a:noFill/>
          <a:ln/>
        </p:spPr>
        <p:txBody>
          <a:bodyPr wrap="square" rtlCol="0" anchor="t"/>
          <a:lstStyle/>
          <a:p>
            <a:pPr marL="0" indent="0">
              <a:buNone/>
            </a:pPr>
            <a:r>
              <a:rPr lang="en-US" sz="1800" dirty="0">
                <a:solidFill>
                  <a:schemeClr val="bg2"/>
                </a:solidFill>
              </a:rPr>
              <a:t>Strategy para el cálculo de cada tipo de descuento y Factory para instanciar las </a:t>
            </a:r>
            <a:r>
              <a:rPr lang="en-US" sz="1800" dirty="0" err="1">
                <a:solidFill>
                  <a:schemeClr val="bg2"/>
                </a:solidFill>
              </a:rPr>
              <a:t>reglas</a:t>
            </a:r>
            <a:r>
              <a:rPr lang="en-US" sz="1800" dirty="0">
                <a:solidFill>
                  <a:schemeClr val="bg2"/>
                </a:solidFill>
              </a:rPr>
              <a:t>.</a:t>
            </a:r>
            <a:endParaRPr lang="en-US" sz="1800" dirty="0"/>
          </a:p>
        </p:txBody>
      </p:sp>
      <p:sp>
        <p:nvSpPr>
          <p:cNvPr id="5" name="Shape 3"/>
          <p:cNvSpPr/>
          <p:nvPr/>
        </p:nvSpPr>
        <p:spPr>
          <a:xfrm>
            <a:off x="731520" y="5486400"/>
            <a:ext cx="1298448" cy="502920"/>
          </a:xfrm>
          <a:prstGeom prst="roundRect">
            <a:avLst>
              <a:gd name="adj" fmla="val 49091"/>
            </a:avLst>
          </a:prstGeom>
          <a:solidFill>
            <a:schemeClr val="accent1"/>
          </a:solidFill>
          <a:ln/>
        </p:spPr>
      </p:sp>
      <p:sp>
        <p:nvSpPr>
          <p:cNvPr id="6" name="Text 4"/>
          <p:cNvSpPr txBox="1"/>
          <p:nvPr/>
        </p:nvSpPr>
        <p:spPr>
          <a:xfrm>
            <a:off x="731520" y="5486400"/>
            <a:ext cx="1298448" cy="502920"/>
          </a:xfrm>
          <a:prstGeom prst="rect">
            <a:avLst/>
          </a:prstGeom>
          <a:noFill/>
          <a:ln/>
        </p:spPr>
        <p:txBody>
          <a:bodyPr wrap="square" lIns="0" tIns="0" rIns="0" bIns="0" rtlCol="0" anchor="ctr"/>
          <a:lstStyle/>
          <a:p>
            <a:pPr marL="0" indent="0" algn="ctr">
              <a:buNone/>
            </a:pPr>
            <a:r>
              <a:rPr lang="en-US" sz="1400" b="1" dirty="0">
                <a:solidFill>
                  <a:schemeClr val="bg1"/>
                </a:solidFill>
              </a:rPr>
              <a:t>Strategy</a:t>
            </a:r>
            <a:endParaRPr lang="en-US" sz="1400" dirty="0"/>
          </a:p>
        </p:txBody>
      </p:sp>
      <p:sp>
        <p:nvSpPr>
          <p:cNvPr id="7" name="Shape 5"/>
          <p:cNvSpPr/>
          <p:nvPr/>
        </p:nvSpPr>
        <p:spPr>
          <a:xfrm>
            <a:off x="2258568" y="5486400"/>
            <a:ext cx="1193292" cy="502920"/>
          </a:xfrm>
          <a:prstGeom prst="roundRect">
            <a:avLst>
              <a:gd name="adj" fmla="val 49091"/>
            </a:avLst>
          </a:prstGeom>
          <a:solidFill>
            <a:schemeClr val="accent1"/>
          </a:solidFill>
          <a:ln/>
        </p:spPr>
      </p:sp>
      <p:sp>
        <p:nvSpPr>
          <p:cNvPr id="8" name="Text 6"/>
          <p:cNvSpPr txBox="1"/>
          <p:nvPr/>
        </p:nvSpPr>
        <p:spPr>
          <a:xfrm>
            <a:off x="2258568" y="5486400"/>
            <a:ext cx="1193292" cy="502920"/>
          </a:xfrm>
          <a:prstGeom prst="rect">
            <a:avLst/>
          </a:prstGeom>
          <a:noFill/>
          <a:ln/>
        </p:spPr>
        <p:txBody>
          <a:bodyPr wrap="square" lIns="0" tIns="0" rIns="0" bIns="0" rtlCol="0" anchor="ctr"/>
          <a:lstStyle/>
          <a:p>
            <a:pPr marL="0" indent="0" algn="ctr">
              <a:buNone/>
            </a:pPr>
            <a:r>
              <a:rPr lang="en-US" sz="1400" b="1" dirty="0">
                <a:solidFill>
                  <a:schemeClr val="bg1"/>
                </a:solidFill>
              </a:rPr>
              <a:t>Factory</a:t>
            </a:r>
            <a:endParaRPr lang="en-US" sz="1400" dirty="0"/>
          </a:p>
        </p:txBody>
      </p:sp>
      <p:sp>
        <p:nvSpPr>
          <p:cNvPr id="9" name="Shape 7"/>
          <p:cNvSpPr/>
          <p:nvPr/>
        </p:nvSpPr>
        <p:spPr>
          <a:xfrm>
            <a:off x="3680460" y="5486400"/>
            <a:ext cx="1613916" cy="502920"/>
          </a:xfrm>
          <a:prstGeom prst="roundRect">
            <a:avLst>
              <a:gd name="adj" fmla="val 49091"/>
            </a:avLst>
          </a:prstGeom>
          <a:solidFill>
            <a:schemeClr val="accent1"/>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Strategy: una clase por tipo de descuento</a:t>
            </a:r>
            <a:endParaRPr lang="en-US" sz="3200" dirty="0"/>
          </a:p>
        </p:txBody>
      </p:sp>
      <p:sp>
        <p:nvSpPr>
          <p:cNvPr id="3" name="Shape 1"/>
          <p:cNvSpPr/>
          <p:nvPr/>
        </p:nvSpPr>
        <p:spPr>
          <a:xfrm>
            <a:off x="548640" y="1371600"/>
            <a:ext cx="5303520" cy="1280160"/>
          </a:xfrm>
          <a:prstGeom prst="roundRect">
            <a:avLst>
              <a:gd name="adj" fmla="val 5714"/>
            </a:avLst>
          </a:prstGeom>
          <a:solidFill>
            <a:schemeClr val="accent1"/>
          </a:solidFill>
          <a:ln/>
        </p:spPr>
      </p:sp>
      <p:sp>
        <p:nvSpPr>
          <p:cNvPr id="4" name="Text 2"/>
          <p:cNvSpPr txBox="1"/>
          <p:nvPr/>
        </p:nvSpPr>
        <p:spPr>
          <a:xfrm>
            <a:off x="640080" y="1426464"/>
            <a:ext cx="5120640" cy="1170432"/>
          </a:xfrm>
          <a:prstGeom prst="rect">
            <a:avLst/>
          </a:prstGeom>
          <a:noFill/>
          <a:ln/>
        </p:spPr>
        <p:txBody>
          <a:bodyPr wrap="square" lIns="0" tIns="0" rIns="0" bIns="0" rtlCol="0" anchor="ctr"/>
          <a:lstStyle/>
          <a:p>
            <a:pPr marL="0" indent="0" algn="ctr">
              <a:spcAft>
                <a:spcPts val="200"/>
              </a:spcAft>
              <a:buNone/>
            </a:pPr>
            <a:r>
              <a:rPr lang="en-US" sz="1600" b="1" dirty="0">
                <a:solidFill>
                  <a:schemeClr val="bg1"/>
                </a:solidFill>
              </a:rPr>
              <a:t>«interface» DiscountRule</a:t>
            </a:r>
            <a:endParaRPr lang="en-US" sz="1600" dirty="0"/>
          </a:p>
          <a:p>
            <a:pPr marL="0" indent="0" algn="ctr">
              <a:spcAft>
                <a:spcPts val="200"/>
              </a:spcAft>
              <a:buNone/>
            </a:pPr>
            <a:r>
              <a:rPr lang="en-US" sz="1300" dirty="0">
                <a:solidFill>
                  <a:schemeClr val="bg1"/>
                </a:solidFill>
              </a:rPr>
              <a:t>type(): DiscountType</a:t>
            </a:r>
            <a:endParaRPr lang="en-US" sz="1600" dirty="0"/>
          </a:p>
          <a:p>
            <a:pPr marL="0" indent="0" algn="ctr">
              <a:spcAft>
                <a:spcPts val="200"/>
              </a:spcAft>
              <a:buNone/>
            </a:pPr>
            <a:r>
              <a:rPr lang="en-US" sz="1300" dirty="0">
                <a:solidFill>
                  <a:schemeClr val="bg1"/>
                </a:solidFill>
              </a:rPr>
              <a:t>calculate(lines, subtotal): BigDecimal</a:t>
            </a:r>
            <a:endParaRPr lang="en-US" sz="1600" dirty="0"/>
          </a:p>
        </p:txBody>
      </p:sp>
      <p:sp>
        <p:nvSpPr>
          <p:cNvPr id="5" name="Shape 3"/>
          <p:cNvSpPr/>
          <p:nvPr/>
        </p:nvSpPr>
        <p:spPr>
          <a:xfrm>
            <a:off x="548640" y="3429000"/>
            <a:ext cx="1645920" cy="1234440"/>
          </a:xfrm>
          <a:prstGeom prst="roundRect">
            <a:avLst>
              <a:gd name="adj" fmla="val 5926"/>
            </a:avLst>
          </a:prstGeom>
          <a:solidFill>
            <a:schemeClr val="bg2"/>
          </a:solidFill>
          <a:ln/>
        </p:spPr>
      </p:sp>
      <p:sp>
        <p:nvSpPr>
          <p:cNvPr id="6" name="Text 4"/>
          <p:cNvSpPr txBox="1"/>
          <p:nvPr/>
        </p:nvSpPr>
        <p:spPr>
          <a:xfrm>
            <a:off x="640080" y="3483864"/>
            <a:ext cx="1463040" cy="1124712"/>
          </a:xfrm>
          <a:prstGeom prst="rect">
            <a:avLst/>
          </a:prstGeom>
          <a:noFill/>
          <a:ln/>
        </p:spPr>
        <p:txBody>
          <a:bodyPr wrap="square" lIns="0" tIns="0" rIns="0" bIns="0" rtlCol="0" anchor="ctr"/>
          <a:lstStyle/>
          <a:p>
            <a:pPr marL="0" indent="0" algn="ctr">
              <a:spcAft>
                <a:spcPts val="200"/>
              </a:spcAft>
              <a:buNone/>
            </a:pPr>
            <a:r>
              <a:rPr lang="en-US" sz="1100" b="1" dirty="0">
                <a:solidFill>
                  <a:schemeClr val="tx1"/>
                </a:solidFill>
              </a:rPr>
              <a:t>CategoryDiscountRule</a:t>
            </a:r>
            <a:endParaRPr lang="en-US" sz="1100" dirty="0"/>
          </a:p>
          <a:p>
            <a:pPr marL="0" indent="0" algn="ctr">
              <a:spcAft>
                <a:spcPts val="200"/>
              </a:spcAft>
              <a:buNone/>
            </a:pPr>
            <a:r>
              <a:rPr lang="en-US" sz="1100" dirty="0">
                <a:solidFill>
                  <a:schemeClr val="tx1"/>
                </a:solidFill>
              </a:rPr>
              <a:t>R1 · % de la categoría por línea</a:t>
            </a:r>
            <a:endParaRPr lang="en-US" sz="1100" dirty="0"/>
          </a:p>
        </p:txBody>
      </p:sp>
      <p:sp>
        <p:nvSpPr>
          <p:cNvPr id="7" name="Shape 5"/>
          <p:cNvSpPr/>
          <p:nvPr/>
        </p:nvSpPr>
        <p:spPr>
          <a:xfrm>
            <a:off x="1371600" y="2651760"/>
            <a:ext cx="0" cy="777240"/>
          </a:xfrm>
          <a:prstGeom prst="line">
            <a:avLst/>
          </a:prstGeom>
          <a:noFill/>
          <a:ln w="22225">
            <a:solidFill>
              <a:srgbClr val="6C7A89"/>
            </a:solidFill>
            <a:prstDash val="dash"/>
            <a:headEnd type="triangle"/>
          </a:ln>
        </p:spPr>
      </p:sp>
      <p:sp>
        <p:nvSpPr>
          <p:cNvPr id="8" name="Shape 6"/>
          <p:cNvSpPr/>
          <p:nvPr/>
        </p:nvSpPr>
        <p:spPr>
          <a:xfrm>
            <a:off x="2377440" y="3429000"/>
            <a:ext cx="1645920" cy="1234440"/>
          </a:xfrm>
          <a:prstGeom prst="roundRect">
            <a:avLst>
              <a:gd name="adj" fmla="val 5926"/>
            </a:avLst>
          </a:prstGeom>
          <a:solidFill>
            <a:schemeClr val="bg2"/>
          </a:solidFill>
          <a:ln/>
        </p:spPr>
      </p:sp>
      <p:sp>
        <p:nvSpPr>
          <p:cNvPr id="9" name="Text 7"/>
          <p:cNvSpPr txBox="1"/>
          <p:nvPr/>
        </p:nvSpPr>
        <p:spPr>
          <a:xfrm>
            <a:off x="2468880" y="3483864"/>
            <a:ext cx="1463040" cy="1124712"/>
          </a:xfrm>
          <a:prstGeom prst="rect">
            <a:avLst/>
          </a:prstGeom>
          <a:noFill/>
          <a:ln/>
        </p:spPr>
        <p:txBody>
          <a:bodyPr wrap="square" lIns="0" tIns="0" rIns="0" bIns="0" rtlCol="0" anchor="ctr"/>
          <a:lstStyle/>
          <a:p>
            <a:pPr marL="0" indent="0" algn="ctr">
              <a:spcAft>
                <a:spcPts val="200"/>
              </a:spcAft>
              <a:buNone/>
            </a:pPr>
            <a:r>
              <a:rPr lang="en-US" sz="1100" b="1" dirty="0">
                <a:solidFill>
                  <a:schemeClr val="tx1"/>
                </a:solidFill>
              </a:rPr>
              <a:t>VolumeDiscountRule</a:t>
            </a:r>
            <a:endParaRPr lang="en-US" sz="1100" dirty="0"/>
          </a:p>
          <a:p>
            <a:pPr marL="0" indent="0" algn="ctr">
              <a:spcAft>
                <a:spcPts val="200"/>
              </a:spcAft>
              <a:buNone/>
            </a:pPr>
            <a:r>
              <a:rPr lang="en-US" sz="1100" dirty="0">
                <a:solidFill>
                  <a:schemeClr val="tx1"/>
                </a:solidFill>
              </a:rPr>
              <a:t>R2 · 5 % si subtotal &gt; 100.00</a:t>
            </a:r>
            <a:endParaRPr lang="en-US" sz="1100" dirty="0"/>
          </a:p>
        </p:txBody>
      </p:sp>
      <p:sp>
        <p:nvSpPr>
          <p:cNvPr id="10" name="Shape 8"/>
          <p:cNvSpPr/>
          <p:nvPr/>
        </p:nvSpPr>
        <p:spPr>
          <a:xfrm>
            <a:off x="3200400" y="2651760"/>
            <a:ext cx="0" cy="777240"/>
          </a:xfrm>
          <a:prstGeom prst="line">
            <a:avLst/>
          </a:prstGeom>
          <a:noFill/>
          <a:ln w="22225">
            <a:solidFill>
              <a:srgbClr val="6C7A89"/>
            </a:solidFill>
            <a:prstDash val="dash"/>
            <a:headEnd type="triangle"/>
          </a:ln>
        </p:spPr>
      </p:sp>
      <p:sp>
        <p:nvSpPr>
          <p:cNvPr id="11" name="Shape 9"/>
          <p:cNvSpPr/>
          <p:nvPr/>
        </p:nvSpPr>
        <p:spPr>
          <a:xfrm>
            <a:off x="4206240" y="3429000"/>
            <a:ext cx="1645920" cy="1234440"/>
          </a:xfrm>
          <a:prstGeom prst="roundRect">
            <a:avLst>
              <a:gd name="adj" fmla="val 5926"/>
            </a:avLst>
          </a:prstGeom>
          <a:solidFill>
            <a:schemeClr val="bg2"/>
          </a:solidFill>
          <a:ln/>
        </p:spPr>
      </p:sp>
      <p:sp>
        <p:nvSpPr>
          <p:cNvPr id="12" name="Text 10"/>
          <p:cNvSpPr txBox="1"/>
          <p:nvPr/>
        </p:nvSpPr>
        <p:spPr>
          <a:xfrm>
            <a:off x="4297680" y="3483864"/>
            <a:ext cx="1463040" cy="1124712"/>
          </a:xfrm>
          <a:prstGeom prst="rect">
            <a:avLst/>
          </a:prstGeom>
          <a:noFill/>
          <a:ln/>
        </p:spPr>
        <p:txBody>
          <a:bodyPr wrap="square" lIns="0" tIns="0" rIns="0" bIns="0" rtlCol="0" anchor="ctr"/>
          <a:lstStyle/>
          <a:p>
            <a:pPr marL="0" indent="0" algn="ctr">
              <a:spcAft>
                <a:spcPts val="200"/>
              </a:spcAft>
              <a:buNone/>
            </a:pPr>
            <a:r>
              <a:rPr lang="en-US" sz="1100" b="1" dirty="0">
                <a:solidFill>
                  <a:schemeClr val="tx1"/>
                </a:solidFill>
              </a:rPr>
              <a:t>CouponDiscountRule</a:t>
            </a:r>
            <a:endParaRPr lang="en-US" sz="1100" dirty="0"/>
          </a:p>
          <a:p>
            <a:pPr marL="0" indent="0" algn="ctr">
              <a:spcAft>
                <a:spcPts val="200"/>
              </a:spcAft>
              <a:buNone/>
            </a:pPr>
            <a:r>
              <a:rPr lang="en-US" sz="1100" dirty="0">
                <a:solidFill>
                  <a:schemeClr val="tx1"/>
                </a:solidFill>
              </a:rPr>
              <a:t>R3 · % del cupón validado</a:t>
            </a:r>
            <a:endParaRPr lang="en-US" sz="1100" dirty="0"/>
          </a:p>
        </p:txBody>
      </p:sp>
      <p:sp>
        <p:nvSpPr>
          <p:cNvPr id="13" name="Shape 11"/>
          <p:cNvSpPr/>
          <p:nvPr/>
        </p:nvSpPr>
        <p:spPr>
          <a:xfrm>
            <a:off x="5029200" y="2651760"/>
            <a:ext cx="0" cy="777240"/>
          </a:xfrm>
          <a:prstGeom prst="line">
            <a:avLst/>
          </a:prstGeom>
          <a:noFill/>
          <a:ln w="22225">
            <a:solidFill>
              <a:srgbClr val="6C7A89"/>
            </a:solidFill>
            <a:prstDash val="dash"/>
            <a:headEnd type="triangle"/>
          </a:ln>
        </p:spPr>
      </p:sp>
      <p:sp>
        <p:nvSpPr>
          <p:cNvPr id="14" name="Text 12"/>
          <p:cNvSpPr txBox="1"/>
          <p:nvPr/>
        </p:nvSpPr>
        <p:spPr>
          <a:xfrm>
            <a:off x="1554480" y="2880360"/>
            <a:ext cx="1463040" cy="274320"/>
          </a:xfrm>
          <a:prstGeom prst="rect">
            <a:avLst/>
          </a:prstGeom>
          <a:noFill/>
          <a:ln/>
        </p:spPr>
        <p:txBody>
          <a:bodyPr wrap="square" lIns="0" tIns="0" rIns="0" bIns="0" rtlCol="0" anchor="t"/>
          <a:lstStyle/>
          <a:p>
            <a:pPr marL="0" indent="0">
              <a:buNone/>
            </a:pPr>
            <a:r>
              <a:rPr lang="en-US" sz="1100" i="1" dirty="0">
                <a:solidFill>
                  <a:schemeClr val="accent3"/>
                </a:solidFill>
              </a:rPr>
              <a:t>implementan</a:t>
            </a:r>
            <a:endParaRPr lang="en-US" sz="1100" dirty="0"/>
          </a:p>
        </p:txBody>
      </p:sp>
      <p:sp>
        <p:nvSpPr>
          <p:cNvPr id="15" name="Shape 13"/>
          <p:cNvSpPr/>
          <p:nvPr/>
        </p:nvSpPr>
        <p:spPr>
          <a:xfrm>
            <a:off x="548640" y="4937760"/>
            <a:ext cx="5303520" cy="1188720"/>
          </a:xfrm>
          <a:prstGeom prst="roundRect">
            <a:avLst>
              <a:gd name="adj" fmla="val 6154"/>
            </a:avLst>
          </a:prstGeom>
          <a:solidFill>
            <a:schemeClr val="accent2">
              <a:alpha val="22000"/>
            </a:schemeClr>
          </a:solidFill>
          <a:ln/>
        </p:spPr>
      </p:sp>
      <p:sp>
        <p:nvSpPr>
          <p:cNvPr id="16" name="Text 14"/>
          <p:cNvSpPr txBox="1"/>
          <p:nvPr/>
        </p:nvSpPr>
        <p:spPr>
          <a:xfrm>
            <a:off x="731520" y="5029200"/>
            <a:ext cx="4937760" cy="1005840"/>
          </a:xfrm>
          <a:prstGeom prst="rect">
            <a:avLst/>
          </a:prstGeom>
          <a:noFill/>
          <a:ln/>
        </p:spPr>
        <p:txBody>
          <a:bodyPr wrap="square" lIns="0" tIns="0" rIns="0" bIns="0" rtlCol="0" anchor="ctr"/>
          <a:lstStyle/>
          <a:p>
            <a:pPr marL="0" indent="0">
              <a:buNone/>
            </a:pPr>
            <a:r>
              <a:rPr lang="en-US" sz="1400" dirty="0">
                <a:solidFill>
                  <a:schemeClr val="tx1"/>
                </a:solidFill>
              </a:rPr>
              <a:t>El tope (R4) no es una estrategia: no es un paso de la cascada sino un límite sobre la suma, por eso vive en DiscountCalculator.</a:t>
            </a:r>
            <a:endParaRPr lang="en-US" sz="1400" dirty="0"/>
          </a:p>
        </p:txBody>
      </p:sp>
      <p:sp>
        <p:nvSpPr>
          <p:cNvPr id="17" name="Shape 15"/>
          <p:cNvSpPr/>
          <p:nvPr/>
        </p:nvSpPr>
        <p:spPr>
          <a:xfrm>
            <a:off x="6172200" y="1371600"/>
            <a:ext cx="5577840" cy="1920240"/>
          </a:xfrm>
          <a:prstGeom prst="roundRect">
            <a:avLst>
              <a:gd name="adj" fmla="val 3810"/>
            </a:avLst>
          </a:prstGeom>
          <a:solidFill>
            <a:schemeClr val="accent6"/>
          </a:solidFill>
          <a:ln/>
        </p:spPr>
      </p:sp>
      <p:sp>
        <p:nvSpPr>
          <p:cNvPr id="18" name="Text 16"/>
          <p:cNvSpPr txBox="1"/>
          <p:nvPr/>
        </p:nvSpPr>
        <p:spPr>
          <a:xfrm>
            <a:off x="6355080" y="1481328"/>
            <a:ext cx="5212080" cy="274320"/>
          </a:xfrm>
          <a:prstGeom prst="rect">
            <a:avLst/>
          </a:prstGeom>
          <a:noFill/>
          <a:ln/>
        </p:spPr>
        <p:txBody>
          <a:bodyPr wrap="square" lIns="0" tIns="0" rIns="0" bIns="0" rtlCol="0" anchor="t"/>
          <a:lstStyle/>
          <a:p>
            <a:pPr marL="0" indent="0">
              <a:buNone/>
            </a:pPr>
            <a:r>
              <a:rPr lang="en-US" sz="1100" b="1" dirty="0">
                <a:solidFill>
                  <a:schemeClr val="accent2"/>
                </a:solidFill>
              </a:rPr>
              <a:t>DiscountCalculator.calculate()  ·  el contexto</a:t>
            </a:r>
            <a:endParaRPr lang="en-US" sz="1100" dirty="0"/>
          </a:p>
        </p:txBody>
      </p:sp>
      <p:sp>
        <p:nvSpPr>
          <p:cNvPr id="19" name="Text 17"/>
          <p:cNvSpPr txBox="1"/>
          <p:nvPr/>
        </p:nvSpPr>
        <p:spPr>
          <a:xfrm>
            <a:off x="6355080" y="1874520"/>
            <a:ext cx="5257800" cy="1280160"/>
          </a:xfrm>
          <a:prstGeom prst="rect">
            <a:avLst/>
          </a:prstGeom>
          <a:noFill/>
          <a:ln/>
        </p:spPr>
        <p:txBody>
          <a:bodyPr wrap="square" lIns="0" tIns="0" rIns="0" bIns="0" rtlCol="0" anchor="t"/>
          <a:lstStyle/>
          <a:p>
            <a:pPr marL="0" indent="0">
              <a:buNone/>
            </a:pPr>
            <a:r>
              <a:rPr lang="en-US" sz="1100" dirty="0">
                <a:solidFill>
                  <a:schemeClr val="bg1"/>
                </a:solidFill>
                <a:latin typeface="Courier New" pitchFamily="34" charset="0"/>
                <a:ea typeface="Courier New" pitchFamily="34" charset="-122"/>
                <a:cs typeface="Courier New" pitchFamily="34" charset="-120"/>
              </a:rPr>
              <a:t>for (DiscountRule rule : ruleFactory.createRules(couponPct)) {</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BigDecimal amount = rule.calculate(lines, subtotal);</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amounts.put(rule.type(), amount);</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    subtotal = MoneyUtils.subtract(subtotal, amount);</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20" name="Text 18"/>
          <p:cNvSpPr txBox="1"/>
          <p:nvPr/>
        </p:nvSpPr>
        <p:spPr>
          <a:xfrm>
            <a:off x="6172200" y="3611880"/>
            <a:ext cx="5486400" cy="365760"/>
          </a:xfrm>
          <a:prstGeom prst="rect">
            <a:avLst/>
          </a:prstGeom>
          <a:noFill/>
          <a:ln/>
        </p:spPr>
        <p:txBody>
          <a:bodyPr wrap="square" lIns="0" tIns="0" rIns="0" bIns="0" rtlCol="0" anchor="t"/>
          <a:lstStyle/>
          <a:p>
            <a:pPr marL="0" indent="0">
              <a:buNone/>
            </a:pPr>
            <a:r>
              <a:rPr lang="en-US" sz="1600" b="1" dirty="0">
                <a:solidFill>
                  <a:schemeClr val="tx2"/>
                </a:solidFill>
              </a:rPr>
              <a:t>Por qué Strategy</a:t>
            </a:r>
            <a:endParaRPr lang="en-US" sz="1600" dirty="0"/>
          </a:p>
        </p:txBody>
      </p:sp>
      <p:sp>
        <p:nvSpPr>
          <p:cNvPr id="21" name="Text 19"/>
          <p:cNvSpPr txBox="1"/>
          <p:nvPr/>
        </p:nvSpPr>
        <p:spPr>
          <a:xfrm>
            <a:off x="6172200" y="4069080"/>
            <a:ext cx="55778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Cada descuento tiene su fórmula; el calculador las recorre sin if/switch por tipo</a:t>
            </a:r>
            <a:endParaRPr lang="en-US" sz="1500" dirty="0"/>
          </a:p>
          <a:p>
            <a:pPr marL="342900" indent="-342900">
              <a:spcAft>
                <a:spcPts val="600"/>
              </a:spcAft>
              <a:buSzPct val="100000"/>
              <a:buChar char="•"/>
            </a:pPr>
            <a:r>
              <a:rPr lang="en-US" sz="1500" dirty="0">
                <a:solidFill>
                  <a:schemeClr val="tx1"/>
                </a:solidFill>
              </a:rPr>
              <a:t>Nueva promoción = nueva clase + registro en la fábrica (abierto/cerrado)</a:t>
            </a:r>
            <a:endParaRPr lang="en-US" sz="1500" dirty="0"/>
          </a:p>
          <a:p>
            <a:pPr marL="342900" indent="-342900">
              <a:spcAft>
                <a:spcPts val="600"/>
              </a:spcAft>
              <a:buSzPct val="100000"/>
              <a:buChar char="•"/>
            </a:pPr>
            <a:r>
              <a:rPr lang="en-US" sz="1500" dirty="0">
                <a:solidFill>
                  <a:schemeClr val="tx1"/>
                </a:solidFill>
              </a:rPr>
              <a:t>Cada regla se prueba sola: CategoryDiscountTest, VolumeDiscountTest, CouponDiscountTest</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Factory: un único punto que crea y ordena las reglas</a:t>
            </a:r>
            <a:endParaRPr lang="en-US" sz="3200" dirty="0"/>
          </a:p>
        </p:txBody>
      </p:sp>
      <p:sp>
        <p:nvSpPr>
          <p:cNvPr id="3" name="Shape 1"/>
          <p:cNvSpPr/>
          <p:nvPr/>
        </p:nvSpPr>
        <p:spPr>
          <a:xfrm>
            <a:off x="548640" y="1371600"/>
            <a:ext cx="6263640" cy="1188720"/>
          </a:xfrm>
          <a:prstGeom prst="roundRect">
            <a:avLst>
              <a:gd name="adj" fmla="val 6154"/>
            </a:avLst>
          </a:prstGeom>
          <a:solidFill>
            <a:schemeClr val="accent2"/>
          </a:solidFill>
          <a:ln/>
        </p:spPr>
      </p:sp>
      <p:sp>
        <p:nvSpPr>
          <p:cNvPr id="4" name="Text 2"/>
          <p:cNvSpPr txBox="1"/>
          <p:nvPr/>
        </p:nvSpPr>
        <p:spPr>
          <a:xfrm>
            <a:off x="640080" y="1426464"/>
            <a:ext cx="6080760" cy="1078992"/>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DiscountRuleFactory.createRules(couponPct)</a:t>
            </a:r>
            <a:endParaRPr lang="en-US" sz="1600" dirty="0"/>
          </a:p>
          <a:p>
            <a:pPr marL="0" indent="0" algn="ctr">
              <a:spcAft>
                <a:spcPts val="200"/>
              </a:spcAft>
              <a:buNone/>
            </a:pPr>
            <a:r>
              <a:rPr lang="en-US" sz="1300" dirty="0">
                <a:solidFill>
                  <a:schemeClr val="tx1"/>
                </a:solidFill>
              </a:rPr>
              <a:t>Recibe DiscountProperties (5 %, umbral 100.00) · @Component inyectado en DiscountCalculator</a:t>
            </a:r>
            <a:endParaRPr lang="en-US" sz="1600" dirty="0"/>
          </a:p>
        </p:txBody>
      </p:sp>
      <p:sp>
        <p:nvSpPr>
          <p:cNvPr id="5" name="Shape 3"/>
          <p:cNvSpPr/>
          <p:nvPr/>
        </p:nvSpPr>
        <p:spPr>
          <a:xfrm>
            <a:off x="3657600" y="2560320"/>
            <a:ext cx="0" cy="640080"/>
          </a:xfrm>
          <a:prstGeom prst="line">
            <a:avLst/>
          </a:prstGeom>
          <a:noFill/>
          <a:ln w="22225">
            <a:solidFill>
              <a:srgbClr val="6C7A89"/>
            </a:solidFill>
            <a:prstDash val="solid"/>
            <a:tailEnd type="triangle"/>
          </a:ln>
        </p:spPr>
      </p:sp>
      <p:sp>
        <p:nvSpPr>
          <p:cNvPr id="6" name="Text 4"/>
          <p:cNvSpPr txBox="1"/>
          <p:nvPr/>
        </p:nvSpPr>
        <p:spPr>
          <a:xfrm>
            <a:off x="3794760" y="2697480"/>
            <a:ext cx="2743200" cy="320040"/>
          </a:xfrm>
          <a:prstGeom prst="rect">
            <a:avLst/>
          </a:prstGeom>
          <a:noFill/>
          <a:ln/>
        </p:spPr>
        <p:txBody>
          <a:bodyPr wrap="square" lIns="0" tIns="0" rIns="0" bIns="0" rtlCol="0" anchor="t"/>
          <a:lstStyle/>
          <a:p>
            <a:pPr marL="0" indent="0">
              <a:buNone/>
            </a:pPr>
            <a:r>
              <a:rPr lang="en-US" sz="1100" i="1" dirty="0">
                <a:solidFill>
                  <a:schemeClr val="accent3"/>
                </a:solidFill>
              </a:rPr>
              <a:t>devuelve la lista en orden</a:t>
            </a:r>
            <a:endParaRPr lang="en-US" sz="1100" dirty="0"/>
          </a:p>
        </p:txBody>
      </p:sp>
      <p:sp>
        <p:nvSpPr>
          <p:cNvPr id="7" name="Shape 5"/>
          <p:cNvSpPr/>
          <p:nvPr/>
        </p:nvSpPr>
        <p:spPr>
          <a:xfrm>
            <a:off x="548640" y="3200400"/>
            <a:ext cx="1965960" cy="1234440"/>
          </a:xfrm>
          <a:prstGeom prst="roundRect">
            <a:avLst>
              <a:gd name="adj" fmla="val 5926"/>
            </a:avLst>
          </a:prstGeom>
          <a:solidFill>
            <a:schemeClr val="accent1"/>
          </a:solidFill>
          <a:ln/>
        </p:spPr>
      </p:sp>
      <p:sp>
        <p:nvSpPr>
          <p:cNvPr id="8" name="Text 6"/>
          <p:cNvSpPr txBox="1"/>
          <p:nvPr/>
        </p:nvSpPr>
        <p:spPr>
          <a:xfrm>
            <a:off x="640080" y="3255264"/>
            <a:ext cx="1783080" cy="112471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1 · Categoría</a:t>
            </a:r>
            <a:endParaRPr lang="en-US" sz="1500" dirty="0"/>
          </a:p>
          <a:p>
            <a:pPr marL="0" indent="0" algn="ctr">
              <a:spcAft>
                <a:spcPts val="200"/>
              </a:spcAft>
              <a:buNone/>
            </a:pPr>
            <a:r>
              <a:rPr lang="en-US" sz="1200" dirty="0">
                <a:solidFill>
                  <a:schemeClr val="bg1"/>
                </a:solidFill>
              </a:rPr>
              <a:t>siempre</a:t>
            </a:r>
            <a:endParaRPr lang="en-US" sz="1500" dirty="0"/>
          </a:p>
        </p:txBody>
      </p:sp>
      <p:sp>
        <p:nvSpPr>
          <p:cNvPr id="9" name="Shape 7"/>
          <p:cNvSpPr/>
          <p:nvPr/>
        </p:nvSpPr>
        <p:spPr>
          <a:xfrm>
            <a:off x="2514600" y="3822192"/>
            <a:ext cx="182880" cy="0"/>
          </a:xfrm>
          <a:prstGeom prst="line">
            <a:avLst/>
          </a:prstGeom>
          <a:noFill/>
          <a:ln w="22225">
            <a:solidFill>
              <a:srgbClr val="6C7A89"/>
            </a:solidFill>
            <a:prstDash val="solid"/>
            <a:tailEnd type="triangle"/>
          </a:ln>
        </p:spPr>
      </p:sp>
      <p:sp>
        <p:nvSpPr>
          <p:cNvPr id="10" name="Shape 8"/>
          <p:cNvSpPr/>
          <p:nvPr/>
        </p:nvSpPr>
        <p:spPr>
          <a:xfrm>
            <a:off x="2697480" y="3200400"/>
            <a:ext cx="1965960" cy="1234440"/>
          </a:xfrm>
          <a:prstGeom prst="roundRect">
            <a:avLst>
              <a:gd name="adj" fmla="val 5926"/>
            </a:avLst>
          </a:prstGeom>
          <a:solidFill>
            <a:schemeClr val="accent1"/>
          </a:solidFill>
          <a:ln/>
        </p:spPr>
      </p:sp>
      <p:sp>
        <p:nvSpPr>
          <p:cNvPr id="11" name="Text 9"/>
          <p:cNvSpPr txBox="1"/>
          <p:nvPr/>
        </p:nvSpPr>
        <p:spPr>
          <a:xfrm>
            <a:off x="2788920" y="3255264"/>
            <a:ext cx="1783080" cy="112471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2 · Volumen</a:t>
            </a:r>
            <a:endParaRPr lang="en-US" sz="1500" dirty="0"/>
          </a:p>
          <a:p>
            <a:pPr marL="0" indent="0" algn="ctr">
              <a:spcAft>
                <a:spcPts val="200"/>
              </a:spcAft>
              <a:buNone/>
            </a:pPr>
            <a:r>
              <a:rPr lang="en-US" sz="1200" dirty="0">
                <a:solidFill>
                  <a:schemeClr val="bg1"/>
                </a:solidFill>
              </a:rPr>
              <a:t>siempre</a:t>
            </a:r>
            <a:endParaRPr lang="en-US" sz="1500" dirty="0"/>
          </a:p>
        </p:txBody>
      </p:sp>
      <p:sp>
        <p:nvSpPr>
          <p:cNvPr id="12" name="Shape 10"/>
          <p:cNvSpPr/>
          <p:nvPr/>
        </p:nvSpPr>
        <p:spPr>
          <a:xfrm>
            <a:off x="4663440" y="3822192"/>
            <a:ext cx="182880" cy="0"/>
          </a:xfrm>
          <a:prstGeom prst="line">
            <a:avLst/>
          </a:prstGeom>
          <a:noFill/>
          <a:ln w="22225">
            <a:solidFill>
              <a:srgbClr val="6C7A89"/>
            </a:solidFill>
            <a:prstDash val="solid"/>
            <a:tailEnd type="triangle"/>
          </a:ln>
        </p:spPr>
      </p:sp>
      <p:sp>
        <p:nvSpPr>
          <p:cNvPr id="13" name="Shape 11"/>
          <p:cNvSpPr/>
          <p:nvPr/>
        </p:nvSpPr>
        <p:spPr>
          <a:xfrm>
            <a:off x="4846320" y="3200400"/>
            <a:ext cx="1965960" cy="1234440"/>
          </a:xfrm>
          <a:prstGeom prst="roundRect">
            <a:avLst>
              <a:gd name="adj" fmla="val 5926"/>
            </a:avLst>
          </a:prstGeom>
          <a:solidFill>
            <a:schemeClr val="accent1"/>
          </a:solidFill>
          <a:ln/>
        </p:spPr>
      </p:sp>
      <p:sp>
        <p:nvSpPr>
          <p:cNvPr id="14" name="Text 12"/>
          <p:cNvSpPr txBox="1"/>
          <p:nvPr/>
        </p:nvSpPr>
        <p:spPr>
          <a:xfrm>
            <a:off x="4937760" y="3255264"/>
            <a:ext cx="1783080" cy="1124712"/>
          </a:xfrm>
          <a:prstGeom prst="rect">
            <a:avLst/>
          </a:prstGeom>
          <a:noFill/>
          <a:ln/>
        </p:spPr>
        <p:txBody>
          <a:bodyPr wrap="square" lIns="0" tIns="0" rIns="0" bIns="0" rtlCol="0" anchor="ctr"/>
          <a:lstStyle/>
          <a:p>
            <a:pPr marL="0" indent="0" algn="ctr">
              <a:spcAft>
                <a:spcPts val="200"/>
              </a:spcAft>
              <a:buNone/>
            </a:pPr>
            <a:r>
              <a:rPr lang="en-US" sz="1500" b="1" dirty="0">
                <a:solidFill>
                  <a:schemeClr val="bg1"/>
                </a:solidFill>
              </a:rPr>
              <a:t>3 · Cupón</a:t>
            </a:r>
            <a:endParaRPr lang="en-US" sz="1500" dirty="0"/>
          </a:p>
          <a:p>
            <a:pPr marL="0" indent="0" algn="ctr">
              <a:spcAft>
                <a:spcPts val="200"/>
              </a:spcAft>
              <a:buNone/>
            </a:pPr>
            <a:r>
              <a:rPr lang="en-US" sz="1200" dirty="0">
                <a:solidFill>
                  <a:schemeClr val="bg1"/>
                </a:solidFill>
              </a:rPr>
              <a:t>solo si hay cupón válido · se crea por petición</a:t>
            </a:r>
            <a:endParaRPr lang="en-US" sz="1500" dirty="0"/>
          </a:p>
        </p:txBody>
      </p:sp>
      <p:sp>
        <p:nvSpPr>
          <p:cNvPr id="15" name="Shape 13"/>
          <p:cNvSpPr/>
          <p:nvPr/>
        </p:nvSpPr>
        <p:spPr>
          <a:xfrm>
            <a:off x="548640" y="4709160"/>
            <a:ext cx="6263640" cy="1417320"/>
          </a:xfrm>
          <a:prstGeom prst="roundRect">
            <a:avLst>
              <a:gd name="adj" fmla="val 5161"/>
            </a:avLst>
          </a:prstGeom>
          <a:solidFill>
            <a:schemeClr val="bg2"/>
          </a:solidFill>
          <a:ln/>
        </p:spPr>
      </p:sp>
      <p:sp>
        <p:nvSpPr>
          <p:cNvPr id="16" name="Text 14"/>
          <p:cNvSpPr txBox="1"/>
          <p:nvPr/>
        </p:nvSpPr>
        <p:spPr>
          <a:xfrm>
            <a:off x="731520" y="4800600"/>
            <a:ext cx="5897880" cy="1234440"/>
          </a:xfrm>
          <a:prstGeom prst="rect">
            <a:avLst/>
          </a:prstGeom>
          <a:noFill/>
          <a:ln/>
        </p:spPr>
        <p:txBody>
          <a:bodyPr wrap="square" lIns="0" tIns="0" rIns="0" bIns="0" rtlCol="0" anchor="ctr"/>
          <a:lstStyle/>
          <a:p>
            <a:pPr marL="0" indent="0">
              <a:buNone/>
            </a:pPr>
            <a:r>
              <a:rPr lang="en-US" sz="1400" b="1" dirty="0">
                <a:solidFill>
                  <a:schemeClr val="accent5"/>
                </a:solidFill>
              </a:rPr>
              <a:t>Alternativa descartada: </a:t>
            </a:r>
            <a:r>
              <a:rPr lang="en-US" sz="1400" dirty="0">
                <a:solidFill>
                  <a:schemeClr val="tx1"/>
                </a:solidFill>
              </a:rPr>
              <a:t>un @Component por regla y List&lt;DiscountRule&gt; inyectada. La regla de cupón depende del porcentaje de cada petición (no es un singleton) y el orden de la cascada quedaría implícito.</a:t>
            </a:r>
            <a:endParaRPr lang="en-US" sz="1400" dirty="0"/>
          </a:p>
        </p:txBody>
      </p:sp>
      <p:sp>
        <p:nvSpPr>
          <p:cNvPr id="17" name="Shape 15"/>
          <p:cNvSpPr/>
          <p:nvPr/>
        </p:nvSpPr>
        <p:spPr>
          <a:xfrm>
            <a:off x="7223760" y="1371600"/>
            <a:ext cx="4526280" cy="1371600"/>
          </a:xfrm>
          <a:prstGeom prst="roundRect">
            <a:avLst>
              <a:gd name="adj" fmla="val 5333"/>
            </a:avLst>
          </a:prstGeom>
          <a:solidFill>
            <a:schemeClr val="bg2"/>
          </a:solidFill>
          <a:ln/>
        </p:spPr>
      </p:sp>
      <p:sp>
        <p:nvSpPr>
          <p:cNvPr id="18" name="Shape 16"/>
          <p:cNvSpPr/>
          <p:nvPr/>
        </p:nvSpPr>
        <p:spPr>
          <a:xfrm>
            <a:off x="7406640" y="1737360"/>
            <a:ext cx="640080" cy="640080"/>
          </a:xfrm>
          <a:prstGeom prst="ellipse">
            <a:avLst/>
          </a:prstGeom>
          <a:solidFill>
            <a:schemeClr val="accent2"/>
          </a:solidFill>
          <a:ln/>
        </p:spPr>
      </p:sp>
      <p:sp>
        <p:nvSpPr>
          <p:cNvPr id="19" name="Text 17"/>
          <p:cNvSpPr txBox="1"/>
          <p:nvPr/>
        </p:nvSpPr>
        <p:spPr>
          <a:xfrm>
            <a:off x="7406640" y="173736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20" name="Text 18"/>
          <p:cNvSpPr txBox="1"/>
          <p:nvPr/>
        </p:nvSpPr>
        <p:spPr>
          <a:xfrm>
            <a:off x="8229600" y="1600200"/>
            <a:ext cx="3383280" cy="365760"/>
          </a:xfrm>
          <a:prstGeom prst="rect">
            <a:avLst/>
          </a:prstGeom>
          <a:noFill/>
          <a:ln/>
        </p:spPr>
        <p:txBody>
          <a:bodyPr wrap="square" lIns="0" tIns="0" rIns="0" bIns="0" rtlCol="0" anchor="t"/>
          <a:lstStyle/>
          <a:p>
            <a:pPr marL="0" indent="0">
              <a:buNone/>
            </a:pPr>
            <a:r>
              <a:rPr lang="en-US" sz="1600" b="1" dirty="0">
                <a:solidFill>
                  <a:schemeClr val="tx2"/>
                </a:solidFill>
              </a:rPr>
              <a:t>Único punto de creación</a:t>
            </a:r>
            <a:endParaRPr lang="en-US" sz="1600" dirty="0"/>
          </a:p>
        </p:txBody>
      </p:sp>
      <p:sp>
        <p:nvSpPr>
          <p:cNvPr id="21" name="Text 19"/>
          <p:cNvSpPr txBox="1"/>
          <p:nvPr/>
        </p:nvSpPr>
        <p:spPr>
          <a:xfrm>
            <a:off x="8229600" y="2011680"/>
            <a:ext cx="3383280" cy="640080"/>
          </a:xfrm>
          <a:prstGeom prst="rect">
            <a:avLst/>
          </a:prstGeom>
          <a:noFill/>
          <a:ln/>
        </p:spPr>
        <p:txBody>
          <a:bodyPr wrap="square" lIns="0" tIns="0" rIns="0" bIns="0" rtlCol="0" anchor="t"/>
          <a:lstStyle/>
          <a:p>
            <a:pPr marL="0" indent="0">
              <a:buNone/>
            </a:pPr>
            <a:r>
              <a:rPr lang="en-US" sz="1400" dirty="0">
                <a:solidFill>
                  <a:schemeClr val="tx1"/>
                </a:solidFill>
              </a:rPr>
              <a:t>Ningún otro lugar hace new de reglas</a:t>
            </a:r>
            <a:endParaRPr lang="en-US" sz="1400" dirty="0"/>
          </a:p>
        </p:txBody>
      </p:sp>
      <p:sp>
        <p:nvSpPr>
          <p:cNvPr id="22" name="Shape 20"/>
          <p:cNvSpPr/>
          <p:nvPr/>
        </p:nvSpPr>
        <p:spPr>
          <a:xfrm>
            <a:off x="7223760" y="2971800"/>
            <a:ext cx="4526280" cy="1371600"/>
          </a:xfrm>
          <a:prstGeom prst="roundRect">
            <a:avLst>
              <a:gd name="adj" fmla="val 5333"/>
            </a:avLst>
          </a:prstGeom>
          <a:solidFill>
            <a:schemeClr val="bg2"/>
          </a:solidFill>
          <a:ln/>
        </p:spPr>
      </p:sp>
      <p:sp>
        <p:nvSpPr>
          <p:cNvPr id="23" name="Shape 21"/>
          <p:cNvSpPr/>
          <p:nvPr/>
        </p:nvSpPr>
        <p:spPr>
          <a:xfrm>
            <a:off x="7406640" y="3337560"/>
            <a:ext cx="640080" cy="640080"/>
          </a:xfrm>
          <a:prstGeom prst="ellipse">
            <a:avLst/>
          </a:prstGeom>
          <a:solidFill>
            <a:schemeClr val="accent2"/>
          </a:solidFill>
          <a:ln/>
        </p:spPr>
      </p:sp>
      <p:sp>
        <p:nvSpPr>
          <p:cNvPr id="24" name="Text 22"/>
          <p:cNvSpPr txBox="1"/>
          <p:nvPr/>
        </p:nvSpPr>
        <p:spPr>
          <a:xfrm>
            <a:off x="7406640" y="333756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25" name="Text 23"/>
          <p:cNvSpPr txBox="1"/>
          <p:nvPr/>
        </p:nvSpPr>
        <p:spPr>
          <a:xfrm>
            <a:off x="8229600" y="3200400"/>
            <a:ext cx="3383280" cy="365760"/>
          </a:xfrm>
          <a:prstGeom prst="rect">
            <a:avLst/>
          </a:prstGeom>
          <a:noFill/>
          <a:ln/>
        </p:spPr>
        <p:txBody>
          <a:bodyPr wrap="square" lIns="0" tIns="0" rIns="0" bIns="0" rtlCol="0" anchor="t"/>
          <a:lstStyle/>
          <a:p>
            <a:pPr marL="0" indent="0">
              <a:buNone/>
            </a:pPr>
            <a:r>
              <a:rPr lang="en-US" sz="1600" b="1" dirty="0">
                <a:solidFill>
                  <a:schemeClr val="tx2"/>
                </a:solidFill>
              </a:rPr>
              <a:t>Orden explícito de la cascada</a:t>
            </a:r>
            <a:endParaRPr lang="en-US" sz="1600" dirty="0"/>
          </a:p>
        </p:txBody>
      </p:sp>
      <p:sp>
        <p:nvSpPr>
          <p:cNvPr id="26" name="Text 24"/>
          <p:cNvSpPr txBox="1"/>
          <p:nvPr/>
        </p:nvSpPr>
        <p:spPr>
          <a:xfrm>
            <a:off x="8229600" y="3611880"/>
            <a:ext cx="3383280" cy="640080"/>
          </a:xfrm>
          <a:prstGeom prst="rect">
            <a:avLst/>
          </a:prstGeom>
          <a:noFill/>
          <a:ln/>
        </p:spPr>
        <p:txBody>
          <a:bodyPr wrap="square" lIns="0" tIns="0" rIns="0" bIns="0" rtlCol="0" anchor="t"/>
          <a:lstStyle/>
          <a:p>
            <a:pPr marL="0" indent="0">
              <a:buNone/>
            </a:pPr>
            <a:r>
              <a:rPr lang="en-US" sz="1400" dirty="0">
                <a:solidFill>
                  <a:schemeClr val="tx1"/>
                </a:solidFill>
              </a:rPr>
              <a:t>Categoría → Volumen → Cupón: el orden cambia el resultado</a:t>
            </a:r>
            <a:endParaRPr lang="en-US" sz="1400" dirty="0"/>
          </a:p>
        </p:txBody>
      </p:sp>
      <p:sp>
        <p:nvSpPr>
          <p:cNvPr id="27" name="Shape 25"/>
          <p:cNvSpPr/>
          <p:nvPr/>
        </p:nvSpPr>
        <p:spPr>
          <a:xfrm>
            <a:off x="7223760" y="4572000"/>
            <a:ext cx="4526280" cy="1371600"/>
          </a:xfrm>
          <a:prstGeom prst="roundRect">
            <a:avLst>
              <a:gd name="adj" fmla="val 5333"/>
            </a:avLst>
          </a:prstGeom>
          <a:solidFill>
            <a:schemeClr val="bg2"/>
          </a:solidFill>
          <a:ln/>
        </p:spPr>
      </p:sp>
      <p:sp>
        <p:nvSpPr>
          <p:cNvPr id="28" name="Shape 26"/>
          <p:cNvSpPr/>
          <p:nvPr/>
        </p:nvSpPr>
        <p:spPr>
          <a:xfrm>
            <a:off x="7406640" y="4937760"/>
            <a:ext cx="640080" cy="640080"/>
          </a:xfrm>
          <a:prstGeom prst="ellipse">
            <a:avLst/>
          </a:prstGeom>
          <a:solidFill>
            <a:schemeClr val="accent2"/>
          </a:solidFill>
          <a:ln/>
        </p:spPr>
      </p:sp>
      <p:sp>
        <p:nvSpPr>
          <p:cNvPr id="29" name="Text 27"/>
          <p:cNvSpPr txBox="1"/>
          <p:nvPr/>
        </p:nvSpPr>
        <p:spPr>
          <a:xfrm>
            <a:off x="7406640" y="493776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30" name="Text 28"/>
          <p:cNvSpPr txBox="1"/>
          <p:nvPr/>
        </p:nvSpPr>
        <p:spPr>
          <a:xfrm>
            <a:off x="8229600" y="4800600"/>
            <a:ext cx="3383280" cy="365760"/>
          </a:xfrm>
          <a:prstGeom prst="rect">
            <a:avLst/>
          </a:prstGeom>
          <a:noFill/>
          <a:ln/>
        </p:spPr>
        <p:txBody>
          <a:bodyPr wrap="square" lIns="0" tIns="0" rIns="0" bIns="0" rtlCol="0" anchor="t"/>
          <a:lstStyle/>
          <a:p>
            <a:pPr marL="0" indent="0">
              <a:buNone/>
            </a:pPr>
            <a:r>
              <a:rPr lang="en-US" sz="1600" b="1" dirty="0">
                <a:solidFill>
                  <a:schemeClr val="tx2"/>
                </a:solidFill>
              </a:rPr>
              <a:t>Inversión de dependencias</a:t>
            </a:r>
            <a:endParaRPr lang="en-US" sz="1600" dirty="0"/>
          </a:p>
        </p:txBody>
      </p:sp>
      <p:sp>
        <p:nvSpPr>
          <p:cNvPr id="31" name="Text 29"/>
          <p:cNvSpPr txBox="1"/>
          <p:nvPr/>
        </p:nvSpPr>
        <p:spPr>
          <a:xfrm>
            <a:off x="8229600" y="5212080"/>
            <a:ext cx="3383280" cy="640080"/>
          </a:xfrm>
          <a:prstGeom prst="rect">
            <a:avLst/>
          </a:prstGeom>
          <a:noFill/>
          <a:ln/>
        </p:spPr>
        <p:txBody>
          <a:bodyPr wrap="square" lIns="0" tIns="0" rIns="0" bIns="0" rtlCol="0" anchor="t"/>
          <a:lstStyle/>
          <a:p>
            <a:pPr marL="0" indent="0">
              <a:buNone/>
            </a:pPr>
            <a:r>
              <a:rPr lang="en-US" sz="1400" dirty="0">
                <a:solidFill>
                  <a:schemeClr val="tx1"/>
                </a:solidFill>
              </a:rPr>
              <a:t>La fábrica se inyecta; el calculador no decide cómo se construye</a:t>
            </a:r>
            <a:endParaRPr lang="en-US" sz="1400" dirty="0"/>
          </a:p>
        </p:txBody>
      </p:sp>
      <p:sp>
        <p:nvSpPr>
          <p:cNvPr id="32"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3657600" cy="1188720"/>
          </a:xfrm>
          <a:prstGeom prst="rect">
            <a:avLst/>
          </a:prstGeom>
          <a:noFill/>
          <a:ln/>
        </p:spPr>
        <p:txBody>
          <a:bodyPr wrap="square" rtlCol="0" anchor="b"/>
          <a:lstStyle/>
          <a:p>
            <a:pPr marL="0" indent="0">
              <a:buNone/>
            </a:pPr>
            <a:r>
              <a:rPr lang="en-US" sz="6600" b="1" dirty="0">
                <a:solidFill>
                  <a:schemeClr val="accent2"/>
                </a:solidFill>
                <a:latin typeface="Cambria" pitchFamily="34" charset="0"/>
                <a:ea typeface="Cambria" pitchFamily="34" charset="-122"/>
                <a:cs typeface="Cambria" pitchFamily="34" charset="-120"/>
              </a:rPr>
              <a:t>03</a:t>
            </a:r>
            <a:endParaRPr lang="en-US" sz="6600" dirty="0"/>
          </a:p>
        </p:txBody>
      </p:sp>
      <p:sp>
        <p:nvSpPr>
          <p:cNvPr id="3" name="Text 0"/>
          <p:cNvSpPr>
            <a:spLocks noGrp="1"/>
          </p:cNvSpPr>
          <p:nvPr>
            <p:ph type="title" idx="101" hasCustomPrompt="1"/>
          </p:nvPr>
        </p:nvSpPr>
        <p:spPr>
          <a:xfrm>
            <a:off x="731520" y="2788920"/>
            <a:ext cx="10698480" cy="1005840"/>
          </a:xfrm>
          <a:prstGeom prst="rect">
            <a:avLst/>
          </a:prstGeom>
          <a:noFill/>
          <a:ln/>
        </p:spPr>
        <p:txBody>
          <a:bodyPr wrap="square" rtlCol="0" anchor="t"/>
          <a:lstStyle/>
          <a:p>
            <a:pPr marL="0" indent="0" algn="l">
              <a:buNone/>
            </a:pPr>
            <a:r>
              <a:rPr lang="en-US" sz="4000" b="1" dirty="0">
                <a:solidFill>
                  <a:schemeClr val="bg1"/>
                </a:solidFill>
              </a:rPr>
              <a:t>Decisiones documentadas en docs/arquitectura.md</a:t>
            </a:r>
            <a:endParaRPr lang="en-US" sz="4000" dirty="0"/>
          </a:p>
        </p:txBody>
      </p:sp>
      <p:sp>
        <p:nvSpPr>
          <p:cNvPr id="4" name="Text 0"/>
          <p:cNvSpPr>
            <a:spLocks noGrp="1"/>
          </p:cNvSpPr>
          <p:nvPr>
            <p:ph type="body" idx="102" hasCustomPrompt="1"/>
          </p:nvPr>
        </p:nvSpPr>
        <p:spPr>
          <a:xfrm>
            <a:off x="731520" y="3886200"/>
            <a:ext cx="9601200" cy="1280160"/>
          </a:xfrm>
          <a:prstGeom prst="rect">
            <a:avLst/>
          </a:prstGeom>
          <a:noFill/>
          <a:ln/>
        </p:spPr>
        <p:txBody>
          <a:bodyPr wrap="square" rtlCol="0" anchor="t"/>
          <a:lstStyle/>
          <a:p>
            <a:pPr marL="0" indent="0">
              <a:buNone/>
            </a:pPr>
            <a:r>
              <a:rPr lang="en-US" sz="1800" dirty="0">
                <a:solidFill>
                  <a:schemeClr val="bg2"/>
                </a:solidFill>
              </a:rPr>
              <a:t>Por qué este stack, qué trade-offs se asumieron y cómo se aislaron las reglas de descuento</a:t>
            </a:r>
            <a:endParaRPr lang="en-US" sz="1800" dirty="0"/>
          </a:p>
        </p:txBody>
      </p:sp>
      <p:sp>
        <p:nvSpPr>
          <p:cNvPr id="5" name="Shape 3"/>
          <p:cNvSpPr/>
          <p:nvPr/>
        </p:nvSpPr>
        <p:spPr>
          <a:xfrm>
            <a:off x="731520" y="5486400"/>
            <a:ext cx="2560320" cy="502920"/>
          </a:xfrm>
          <a:prstGeom prst="roundRect">
            <a:avLst>
              <a:gd name="adj" fmla="val 49091"/>
            </a:avLst>
          </a:prstGeom>
          <a:solidFill>
            <a:schemeClr val="accent1"/>
          </a:solidFill>
          <a:ln/>
        </p:spPr>
      </p:sp>
      <p:sp>
        <p:nvSpPr>
          <p:cNvPr id="6" name="Text 4"/>
          <p:cNvSpPr txBox="1"/>
          <p:nvPr/>
        </p:nvSpPr>
        <p:spPr>
          <a:xfrm>
            <a:off x="731520" y="5486400"/>
            <a:ext cx="2560320" cy="502920"/>
          </a:xfrm>
          <a:prstGeom prst="rect">
            <a:avLst/>
          </a:prstGeom>
          <a:noFill/>
          <a:ln/>
        </p:spPr>
        <p:txBody>
          <a:bodyPr wrap="square" lIns="0" tIns="0" rIns="0" bIns="0" rtlCol="0" anchor="ctr"/>
          <a:lstStyle/>
          <a:p>
            <a:pPr marL="0" indent="0" algn="ctr">
              <a:buNone/>
            </a:pPr>
            <a:r>
              <a:rPr lang="en-US" sz="1400" b="1" dirty="0">
                <a:solidFill>
                  <a:schemeClr val="bg1"/>
                </a:solidFill>
              </a:rPr>
              <a:t>A · Stack y carpetas</a:t>
            </a:r>
            <a:endParaRPr lang="en-US" sz="1400" dirty="0"/>
          </a:p>
        </p:txBody>
      </p:sp>
      <p:sp>
        <p:nvSpPr>
          <p:cNvPr id="7" name="Shape 5"/>
          <p:cNvSpPr/>
          <p:nvPr/>
        </p:nvSpPr>
        <p:spPr>
          <a:xfrm>
            <a:off x="3520440" y="5486400"/>
            <a:ext cx="1929384" cy="502920"/>
          </a:xfrm>
          <a:prstGeom prst="roundRect">
            <a:avLst>
              <a:gd name="adj" fmla="val 49091"/>
            </a:avLst>
          </a:prstGeom>
          <a:solidFill>
            <a:schemeClr val="accent1"/>
          </a:solidFill>
          <a:ln/>
        </p:spPr>
      </p:sp>
      <p:sp>
        <p:nvSpPr>
          <p:cNvPr id="8" name="Text 6"/>
          <p:cNvSpPr txBox="1"/>
          <p:nvPr/>
        </p:nvSpPr>
        <p:spPr>
          <a:xfrm>
            <a:off x="3520440" y="5486400"/>
            <a:ext cx="1929384" cy="502920"/>
          </a:xfrm>
          <a:prstGeom prst="rect">
            <a:avLst/>
          </a:prstGeom>
          <a:noFill/>
          <a:ln/>
        </p:spPr>
        <p:txBody>
          <a:bodyPr wrap="square" lIns="0" tIns="0" rIns="0" bIns="0" rtlCol="0" anchor="ctr"/>
          <a:lstStyle/>
          <a:p>
            <a:pPr marL="0" indent="0" algn="ctr">
              <a:buNone/>
            </a:pPr>
            <a:r>
              <a:rPr lang="en-US" sz="1400" b="1" dirty="0">
                <a:solidFill>
                  <a:schemeClr val="bg1"/>
                </a:solidFill>
              </a:rPr>
              <a:t>B · Trade-offs</a:t>
            </a:r>
            <a:endParaRPr lang="en-US" sz="1400" dirty="0"/>
          </a:p>
        </p:txBody>
      </p:sp>
      <p:sp>
        <p:nvSpPr>
          <p:cNvPr id="9" name="Shape 7"/>
          <p:cNvSpPr/>
          <p:nvPr/>
        </p:nvSpPr>
        <p:spPr>
          <a:xfrm>
            <a:off x="5678424" y="5486400"/>
            <a:ext cx="3086100" cy="502920"/>
          </a:xfrm>
          <a:prstGeom prst="roundRect">
            <a:avLst>
              <a:gd name="adj" fmla="val 49091"/>
            </a:avLst>
          </a:prstGeom>
          <a:solidFill>
            <a:schemeClr val="accent1"/>
          </a:solidFill>
          <a:ln/>
        </p:spPr>
      </p:sp>
      <p:sp>
        <p:nvSpPr>
          <p:cNvPr id="10" name="Text 8"/>
          <p:cNvSpPr txBox="1"/>
          <p:nvPr/>
        </p:nvSpPr>
        <p:spPr>
          <a:xfrm>
            <a:off x="5678424" y="5486400"/>
            <a:ext cx="3086100" cy="502920"/>
          </a:xfrm>
          <a:prstGeom prst="rect">
            <a:avLst/>
          </a:prstGeom>
          <a:noFill/>
          <a:ln/>
        </p:spPr>
        <p:txBody>
          <a:bodyPr wrap="square" lIns="0" tIns="0" rIns="0" bIns="0" rtlCol="0" anchor="ctr"/>
          <a:lstStyle/>
          <a:p>
            <a:pPr marL="0" indent="0" algn="ctr">
              <a:buNone/>
            </a:pPr>
            <a:r>
              <a:rPr lang="en-US" sz="1400" b="1" dirty="0">
                <a:solidFill>
                  <a:schemeClr val="bg1"/>
                </a:solidFill>
              </a:rPr>
              <a:t>C · Aislamiento del motor</a:t>
            </a:r>
            <a:endParaRPr lang="en-US" sz="1400" dirty="0"/>
          </a:p>
        </p:txBody>
      </p:sp>
      <p:sp>
        <p:nvSpPr>
          <p:cNvPr id="11" name="Shape 9"/>
          <p:cNvSpPr/>
          <p:nvPr/>
        </p:nvSpPr>
        <p:spPr>
          <a:xfrm>
            <a:off x="8993124" y="5486400"/>
            <a:ext cx="1298448" cy="502920"/>
          </a:xfrm>
          <a:prstGeom prst="roundRect">
            <a:avLst>
              <a:gd name="adj" fmla="val 49091"/>
            </a:avLst>
          </a:prstGeom>
          <a:solidFill>
            <a:schemeClr val="accent1"/>
          </a:solidFill>
          <a:ln/>
        </p:spPr>
      </p:sp>
      <p:sp>
        <p:nvSpPr>
          <p:cNvPr id="12" name="Text 10"/>
          <p:cNvSpPr txBox="1"/>
          <p:nvPr/>
        </p:nvSpPr>
        <p:spPr>
          <a:xfrm>
            <a:off x="8993124" y="5486400"/>
            <a:ext cx="1298448" cy="502920"/>
          </a:xfrm>
          <a:prstGeom prst="rect">
            <a:avLst/>
          </a:prstGeom>
          <a:noFill/>
          <a:ln/>
        </p:spPr>
        <p:txBody>
          <a:bodyPr wrap="square" lIns="0" tIns="0" rIns="0" bIns="0" rtlCol="0" anchor="ctr"/>
          <a:lstStyle/>
          <a:p>
            <a:pPr marL="0" indent="0" algn="ctr">
              <a:buNone/>
            </a:pPr>
            <a:r>
              <a:rPr lang="en-US" sz="1400" b="1" dirty="0">
                <a:solidFill>
                  <a:schemeClr val="bg1"/>
                </a:solidFill>
              </a:rPr>
              <a:t>Caso (d)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A · Por qué este stack y este diseño de carpetas</a:t>
            </a:r>
            <a:endParaRPr lang="en-US" sz="3200" dirty="0"/>
          </a:p>
        </p:txBody>
      </p:sp>
      <p:sp>
        <p:nvSpPr>
          <p:cNvPr id="3" name="Shape 1"/>
          <p:cNvSpPr/>
          <p:nvPr/>
        </p:nvSpPr>
        <p:spPr>
          <a:xfrm>
            <a:off x="548640" y="1371600"/>
            <a:ext cx="3566160" cy="1965960"/>
          </a:xfrm>
          <a:prstGeom prst="roundRect">
            <a:avLst>
              <a:gd name="adj" fmla="val 3721"/>
            </a:avLst>
          </a:prstGeom>
          <a:solidFill>
            <a:schemeClr val="bg2"/>
          </a:solidFill>
          <a:ln/>
        </p:spPr>
      </p:sp>
      <p:sp>
        <p:nvSpPr>
          <p:cNvPr id="4" name="Text 2"/>
          <p:cNvSpPr txBox="1"/>
          <p:nvPr/>
        </p:nvSpPr>
        <p:spPr>
          <a:xfrm>
            <a:off x="777240" y="1554480"/>
            <a:ext cx="3108960" cy="274320"/>
          </a:xfrm>
          <a:prstGeom prst="rect">
            <a:avLst/>
          </a:prstGeom>
          <a:noFill/>
          <a:ln/>
        </p:spPr>
        <p:txBody>
          <a:bodyPr wrap="square" lIns="0" tIns="0" rIns="0" bIns="0" rtlCol="0" anchor="t"/>
          <a:lstStyle/>
          <a:p>
            <a:pPr marL="0" indent="0">
              <a:buNone/>
            </a:pPr>
            <a:r>
              <a:rPr lang="en-US" sz="1100" b="1" dirty="0">
                <a:solidFill>
                  <a:schemeClr val="accent1"/>
                </a:solidFill>
              </a:rPr>
              <a:t>DINERO EXACTO</a:t>
            </a:r>
            <a:endParaRPr lang="en-US" sz="1100" dirty="0"/>
          </a:p>
        </p:txBody>
      </p:sp>
      <p:sp>
        <p:nvSpPr>
          <p:cNvPr id="5" name="Text 3"/>
          <p:cNvSpPr txBox="1"/>
          <p:nvPr/>
        </p:nvSpPr>
        <p:spPr>
          <a:xfrm>
            <a:off x="777240" y="1874520"/>
            <a:ext cx="3108960" cy="411480"/>
          </a:xfrm>
          <a:prstGeom prst="rect">
            <a:avLst/>
          </a:prstGeom>
          <a:noFill/>
          <a:ln/>
        </p:spPr>
        <p:txBody>
          <a:bodyPr wrap="square" lIns="0" tIns="0" rIns="0" bIns="0" rtlCol="0" anchor="t"/>
          <a:lstStyle/>
          <a:p>
            <a:pPr marL="0" indent="0">
              <a:buNone/>
            </a:pPr>
            <a:r>
              <a:rPr lang="en-US" sz="1800" b="1" dirty="0">
                <a:solidFill>
                  <a:schemeClr val="tx2"/>
                </a:solidFill>
              </a:rPr>
              <a:t>Java 17 + BigDecimal</a:t>
            </a:r>
            <a:endParaRPr lang="en-US" sz="1800" dirty="0"/>
          </a:p>
        </p:txBody>
      </p:sp>
      <p:sp>
        <p:nvSpPr>
          <p:cNvPr id="6" name="Text 4"/>
          <p:cNvSpPr txBox="1"/>
          <p:nvPr/>
        </p:nvSpPr>
        <p:spPr>
          <a:xfrm>
            <a:off x="777240" y="2377440"/>
            <a:ext cx="3108960" cy="822960"/>
          </a:xfrm>
          <a:prstGeom prst="rect">
            <a:avLst/>
          </a:prstGeom>
          <a:noFill/>
          <a:ln/>
        </p:spPr>
        <p:txBody>
          <a:bodyPr wrap="square" lIns="0" tIns="0" rIns="0" bIns="0" rtlCol="0" anchor="t"/>
          <a:lstStyle/>
          <a:p>
            <a:pPr marL="0" indent="0">
              <a:buNone/>
            </a:pPr>
            <a:r>
              <a:rPr lang="en-US" sz="1300" dirty="0">
                <a:solidFill>
                  <a:schemeClr val="tx1"/>
                </a:solidFill>
              </a:rPr>
              <a:t>Sin errores de coma flotante; records inmutables</a:t>
            </a:r>
            <a:endParaRPr lang="en-US" sz="1300" dirty="0"/>
          </a:p>
        </p:txBody>
      </p:sp>
      <p:sp>
        <p:nvSpPr>
          <p:cNvPr id="7" name="Shape 5"/>
          <p:cNvSpPr/>
          <p:nvPr/>
        </p:nvSpPr>
        <p:spPr>
          <a:xfrm>
            <a:off x="4297680" y="1371600"/>
            <a:ext cx="3566160" cy="1965960"/>
          </a:xfrm>
          <a:prstGeom prst="roundRect">
            <a:avLst>
              <a:gd name="adj" fmla="val 3721"/>
            </a:avLst>
          </a:prstGeom>
          <a:solidFill>
            <a:schemeClr val="bg2"/>
          </a:solidFill>
          <a:ln/>
        </p:spPr>
      </p:sp>
      <p:sp>
        <p:nvSpPr>
          <p:cNvPr id="8" name="Text 6"/>
          <p:cNvSpPr txBox="1"/>
          <p:nvPr/>
        </p:nvSpPr>
        <p:spPr>
          <a:xfrm>
            <a:off x="4526280" y="1554480"/>
            <a:ext cx="3108960" cy="274320"/>
          </a:xfrm>
          <a:prstGeom prst="rect">
            <a:avLst/>
          </a:prstGeom>
          <a:noFill/>
          <a:ln/>
        </p:spPr>
        <p:txBody>
          <a:bodyPr wrap="square" lIns="0" tIns="0" rIns="0" bIns="0" rtlCol="0" anchor="t"/>
          <a:lstStyle/>
          <a:p>
            <a:pPr marL="0" indent="0">
              <a:buNone/>
            </a:pPr>
            <a:r>
              <a:rPr lang="en-US" sz="1100" b="1" dirty="0">
                <a:solidFill>
                  <a:schemeClr val="accent1"/>
                </a:solidFill>
              </a:rPr>
              <a:t>REGLAS CONFIGURABLES</a:t>
            </a:r>
            <a:endParaRPr lang="en-US" sz="1100" dirty="0"/>
          </a:p>
        </p:txBody>
      </p:sp>
      <p:sp>
        <p:nvSpPr>
          <p:cNvPr id="9" name="Text 7"/>
          <p:cNvSpPr txBox="1"/>
          <p:nvPr/>
        </p:nvSpPr>
        <p:spPr>
          <a:xfrm>
            <a:off x="4526280" y="1874520"/>
            <a:ext cx="3108960" cy="411480"/>
          </a:xfrm>
          <a:prstGeom prst="rect">
            <a:avLst/>
          </a:prstGeom>
          <a:noFill/>
          <a:ln/>
        </p:spPr>
        <p:txBody>
          <a:bodyPr wrap="square" lIns="0" tIns="0" rIns="0" bIns="0" rtlCol="0" anchor="t"/>
          <a:lstStyle/>
          <a:p>
            <a:pPr marL="0" indent="0">
              <a:buNone/>
            </a:pPr>
            <a:r>
              <a:rPr lang="en-US" sz="1800" b="1" dirty="0">
                <a:solidFill>
                  <a:schemeClr val="tx2"/>
                </a:solidFill>
              </a:rPr>
              <a:t>Spring Boot 3.2</a:t>
            </a:r>
            <a:endParaRPr lang="en-US" sz="1800" dirty="0"/>
          </a:p>
        </p:txBody>
      </p:sp>
      <p:sp>
        <p:nvSpPr>
          <p:cNvPr id="10" name="Text 8"/>
          <p:cNvSpPr txBox="1"/>
          <p:nvPr/>
        </p:nvSpPr>
        <p:spPr>
          <a:xfrm>
            <a:off x="4526280" y="2377440"/>
            <a:ext cx="3108960" cy="822960"/>
          </a:xfrm>
          <a:prstGeom prst="rect">
            <a:avLst/>
          </a:prstGeom>
          <a:noFill/>
          <a:ln/>
        </p:spPr>
        <p:txBody>
          <a:bodyPr wrap="square" lIns="0" tIns="0" rIns="0" bIns="0" rtlCol="0" anchor="t"/>
          <a:lstStyle/>
          <a:p>
            <a:pPr marL="0" indent="0">
              <a:buNone/>
            </a:pPr>
            <a:r>
              <a:rPr lang="en-US" sz="1300" dirty="0">
                <a:solidFill>
                  <a:schemeClr val="tx1"/>
                </a:solidFill>
              </a:rPr>
              <a:t>@ConfigurationProperties validadas; Boot 3.2 por compatibilidad con MySQL 5.7</a:t>
            </a:r>
            <a:endParaRPr lang="en-US" sz="1300" dirty="0"/>
          </a:p>
        </p:txBody>
      </p:sp>
      <p:sp>
        <p:nvSpPr>
          <p:cNvPr id="11" name="Shape 9"/>
          <p:cNvSpPr/>
          <p:nvPr/>
        </p:nvSpPr>
        <p:spPr>
          <a:xfrm>
            <a:off x="8046720" y="1371600"/>
            <a:ext cx="3566160" cy="1965960"/>
          </a:xfrm>
          <a:prstGeom prst="roundRect">
            <a:avLst>
              <a:gd name="adj" fmla="val 3721"/>
            </a:avLst>
          </a:prstGeom>
          <a:solidFill>
            <a:schemeClr val="bg2"/>
          </a:solidFill>
          <a:ln/>
        </p:spPr>
      </p:sp>
      <p:sp>
        <p:nvSpPr>
          <p:cNvPr id="12" name="Text 10"/>
          <p:cNvSpPr txBox="1"/>
          <p:nvPr/>
        </p:nvSpPr>
        <p:spPr>
          <a:xfrm>
            <a:off x="8275320" y="1554480"/>
            <a:ext cx="3108960" cy="274320"/>
          </a:xfrm>
          <a:prstGeom prst="rect">
            <a:avLst/>
          </a:prstGeom>
          <a:noFill/>
          <a:ln/>
        </p:spPr>
        <p:txBody>
          <a:bodyPr wrap="square" lIns="0" tIns="0" rIns="0" bIns="0" rtlCol="0" anchor="t"/>
          <a:lstStyle/>
          <a:p>
            <a:pPr marL="0" indent="0">
              <a:buNone/>
            </a:pPr>
            <a:r>
              <a:rPr lang="en-US" sz="1100" b="1" dirty="0">
                <a:solidFill>
                  <a:schemeClr val="accent1"/>
                </a:solidFill>
              </a:rPr>
              <a:t>STOCK SIN SOBREVENTA</a:t>
            </a:r>
            <a:endParaRPr lang="en-US" sz="1100" dirty="0"/>
          </a:p>
        </p:txBody>
      </p:sp>
      <p:sp>
        <p:nvSpPr>
          <p:cNvPr id="13" name="Text 11"/>
          <p:cNvSpPr txBox="1"/>
          <p:nvPr/>
        </p:nvSpPr>
        <p:spPr>
          <a:xfrm>
            <a:off x="8275320" y="1874520"/>
            <a:ext cx="3108960" cy="411480"/>
          </a:xfrm>
          <a:prstGeom prst="rect">
            <a:avLst/>
          </a:prstGeom>
          <a:noFill/>
          <a:ln/>
        </p:spPr>
        <p:txBody>
          <a:bodyPr wrap="square" lIns="0" tIns="0" rIns="0" bIns="0" rtlCol="0" anchor="t"/>
          <a:lstStyle/>
          <a:p>
            <a:pPr marL="0" indent="0">
              <a:buNone/>
            </a:pPr>
            <a:r>
              <a:rPr lang="en-US" sz="1800" b="1" dirty="0">
                <a:solidFill>
                  <a:schemeClr val="tx2"/>
                </a:solidFill>
              </a:rPr>
              <a:t>MySQL 5.7 + ACID</a:t>
            </a:r>
            <a:endParaRPr lang="en-US" sz="1800" dirty="0"/>
          </a:p>
        </p:txBody>
      </p:sp>
      <p:sp>
        <p:nvSpPr>
          <p:cNvPr id="14" name="Text 12"/>
          <p:cNvSpPr txBox="1"/>
          <p:nvPr/>
        </p:nvSpPr>
        <p:spPr>
          <a:xfrm>
            <a:off x="8275320" y="2377440"/>
            <a:ext cx="3108960" cy="822960"/>
          </a:xfrm>
          <a:prstGeom prst="rect">
            <a:avLst/>
          </a:prstGeom>
          <a:noFill/>
          <a:ln/>
        </p:spPr>
        <p:txBody>
          <a:bodyPr wrap="square" lIns="0" tIns="0" rIns="0" bIns="0" rtlCol="0" anchor="t"/>
          <a:lstStyle/>
          <a:p>
            <a:pPr marL="0" indent="0">
              <a:buNone/>
            </a:pPr>
            <a:r>
              <a:rPr lang="en-US" sz="1300" dirty="0">
                <a:solidFill>
                  <a:schemeClr val="tx1"/>
                </a:solidFill>
              </a:rPr>
              <a:t>DECIMAL, FK RESTRICT y transacción todo o nada</a:t>
            </a:r>
            <a:endParaRPr lang="en-US" sz="1300" dirty="0"/>
          </a:p>
        </p:txBody>
      </p:sp>
      <p:sp>
        <p:nvSpPr>
          <p:cNvPr id="15" name="Shape 13"/>
          <p:cNvSpPr/>
          <p:nvPr/>
        </p:nvSpPr>
        <p:spPr>
          <a:xfrm>
            <a:off x="548640" y="3520440"/>
            <a:ext cx="3566160" cy="1965960"/>
          </a:xfrm>
          <a:prstGeom prst="roundRect">
            <a:avLst>
              <a:gd name="adj" fmla="val 3721"/>
            </a:avLst>
          </a:prstGeom>
          <a:solidFill>
            <a:schemeClr val="bg2"/>
          </a:solidFill>
          <a:ln/>
        </p:spPr>
      </p:sp>
      <p:sp>
        <p:nvSpPr>
          <p:cNvPr id="16" name="Text 14"/>
          <p:cNvSpPr txBox="1"/>
          <p:nvPr/>
        </p:nvSpPr>
        <p:spPr>
          <a:xfrm>
            <a:off x="777240" y="3703320"/>
            <a:ext cx="3108960" cy="274320"/>
          </a:xfrm>
          <a:prstGeom prst="rect">
            <a:avLst/>
          </a:prstGeom>
          <a:noFill/>
          <a:ln/>
        </p:spPr>
        <p:txBody>
          <a:bodyPr wrap="square" lIns="0" tIns="0" rIns="0" bIns="0" rtlCol="0" anchor="t"/>
          <a:lstStyle/>
          <a:p>
            <a:pPr marL="0" indent="0">
              <a:buNone/>
            </a:pPr>
            <a:r>
              <a:rPr lang="en-US" sz="1100" b="1" dirty="0">
                <a:solidFill>
                  <a:schemeClr val="accent1"/>
                </a:solidFill>
              </a:rPr>
              <a:t>INTERFAZ REACTIVA</a:t>
            </a:r>
            <a:endParaRPr lang="en-US" sz="1100" dirty="0"/>
          </a:p>
        </p:txBody>
      </p:sp>
      <p:sp>
        <p:nvSpPr>
          <p:cNvPr id="17" name="Text 15"/>
          <p:cNvSpPr txBox="1"/>
          <p:nvPr/>
        </p:nvSpPr>
        <p:spPr>
          <a:xfrm>
            <a:off x="777240" y="4023360"/>
            <a:ext cx="3108960" cy="411480"/>
          </a:xfrm>
          <a:prstGeom prst="rect">
            <a:avLst/>
          </a:prstGeom>
          <a:noFill/>
          <a:ln/>
        </p:spPr>
        <p:txBody>
          <a:bodyPr wrap="square" lIns="0" tIns="0" rIns="0" bIns="0" rtlCol="0" anchor="t"/>
          <a:lstStyle/>
          <a:p>
            <a:pPr marL="0" indent="0">
              <a:buNone/>
            </a:pPr>
            <a:r>
              <a:rPr lang="en-US" sz="1800" b="1" dirty="0">
                <a:solidFill>
                  <a:schemeClr val="tx2"/>
                </a:solidFill>
              </a:rPr>
              <a:t>Angular 22 + signals</a:t>
            </a:r>
            <a:endParaRPr lang="en-US" sz="1800" dirty="0"/>
          </a:p>
        </p:txBody>
      </p:sp>
      <p:sp>
        <p:nvSpPr>
          <p:cNvPr id="18" name="Text 16"/>
          <p:cNvSpPr txBox="1"/>
          <p:nvPr/>
        </p:nvSpPr>
        <p:spPr>
          <a:xfrm>
            <a:off x="777240" y="4526280"/>
            <a:ext cx="3108960" cy="822960"/>
          </a:xfrm>
          <a:prstGeom prst="rect">
            <a:avLst/>
          </a:prstGeom>
          <a:noFill/>
          <a:ln/>
        </p:spPr>
        <p:txBody>
          <a:bodyPr wrap="square" lIns="0" tIns="0" rIns="0" bIns="0" rtlCol="0" anchor="t"/>
          <a:lstStyle/>
          <a:p>
            <a:pPr marL="0" indent="0">
              <a:buNone/>
            </a:pPr>
            <a:r>
              <a:rPr lang="en-US" sz="1300" dirty="0">
                <a:solidFill>
                  <a:schemeClr val="tx1"/>
                </a:solidFill>
              </a:rPr>
              <a:t>Subtotal al instante y recotización sin librería de estado</a:t>
            </a:r>
            <a:endParaRPr lang="en-US" sz="1300" dirty="0"/>
          </a:p>
        </p:txBody>
      </p:sp>
      <p:sp>
        <p:nvSpPr>
          <p:cNvPr id="19" name="Shape 17"/>
          <p:cNvSpPr/>
          <p:nvPr/>
        </p:nvSpPr>
        <p:spPr>
          <a:xfrm>
            <a:off x="4297680" y="3520440"/>
            <a:ext cx="3566160" cy="1965960"/>
          </a:xfrm>
          <a:prstGeom prst="roundRect">
            <a:avLst>
              <a:gd name="adj" fmla="val 3721"/>
            </a:avLst>
          </a:prstGeom>
          <a:solidFill>
            <a:schemeClr val="bg2"/>
          </a:solidFill>
          <a:ln/>
        </p:spPr>
      </p:sp>
      <p:sp>
        <p:nvSpPr>
          <p:cNvPr id="20" name="Text 18"/>
          <p:cNvSpPr txBox="1"/>
          <p:nvPr/>
        </p:nvSpPr>
        <p:spPr>
          <a:xfrm>
            <a:off x="4526280" y="3703320"/>
            <a:ext cx="3108960" cy="274320"/>
          </a:xfrm>
          <a:prstGeom prst="rect">
            <a:avLst/>
          </a:prstGeom>
          <a:noFill/>
          <a:ln/>
        </p:spPr>
        <p:txBody>
          <a:bodyPr wrap="square" lIns="0" tIns="0" rIns="0" bIns="0" rtlCol="0" anchor="t"/>
          <a:lstStyle/>
          <a:p>
            <a:pPr marL="0" indent="0">
              <a:buNone/>
            </a:pPr>
            <a:r>
              <a:rPr lang="en-US" sz="1100" b="1" dirty="0">
                <a:solidFill>
                  <a:schemeClr val="accent1"/>
                </a:solidFill>
              </a:rPr>
              <a:t>API SIN ESTADO</a:t>
            </a:r>
            <a:endParaRPr lang="en-US" sz="1100" dirty="0"/>
          </a:p>
        </p:txBody>
      </p:sp>
      <p:sp>
        <p:nvSpPr>
          <p:cNvPr id="21" name="Text 19"/>
          <p:cNvSpPr txBox="1"/>
          <p:nvPr/>
        </p:nvSpPr>
        <p:spPr>
          <a:xfrm>
            <a:off x="4526280" y="4023360"/>
            <a:ext cx="3108960" cy="411480"/>
          </a:xfrm>
          <a:prstGeom prst="rect">
            <a:avLst/>
          </a:prstGeom>
          <a:noFill/>
          <a:ln/>
        </p:spPr>
        <p:txBody>
          <a:bodyPr wrap="square" lIns="0" tIns="0" rIns="0" bIns="0" rtlCol="0" anchor="t"/>
          <a:lstStyle/>
          <a:p>
            <a:pPr marL="0" indent="0">
              <a:buNone/>
            </a:pPr>
            <a:r>
              <a:rPr lang="en-US" sz="1800" b="1" dirty="0">
                <a:solidFill>
                  <a:schemeClr val="tx2"/>
                </a:solidFill>
              </a:rPr>
              <a:t>JWT HS256 + BCrypt</a:t>
            </a:r>
            <a:endParaRPr lang="en-US" sz="1800" dirty="0"/>
          </a:p>
        </p:txBody>
      </p:sp>
      <p:sp>
        <p:nvSpPr>
          <p:cNvPr id="22" name="Text 20"/>
          <p:cNvSpPr txBox="1"/>
          <p:nvPr/>
        </p:nvSpPr>
        <p:spPr>
          <a:xfrm>
            <a:off x="4526280" y="4526280"/>
            <a:ext cx="3108960" cy="822960"/>
          </a:xfrm>
          <a:prstGeom prst="rect">
            <a:avLst/>
          </a:prstGeom>
          <a:noFill/>
          <a:ln/>
        </p:spPr>
        <p:txBody>
          <a:bodyPr wrap="square" lIns="0" tIns="0" rIns="0" bIns="0" rtlCol="0" anchor="t"/>
          <a:lstStyle/>
          <a:p>
            <a:pPr marL="0" indent="0">
              <a:buNone/>
            </a:pPr>
            <a:r>
              <a:rPr lang="en-US" sz="1300" dirty="0">
                <a:solidFill>
                  <a:schemeClr val="tx1"/>
                </a:solidFill>
              </a:rPr>
              <a:t>SPA separada; usuarios en app_users</a:t>
            </a:r>
            <a:endParaRPr lang="en-US" sz="1300" dirty="0"/>
          </a:p>
        </p:txBody>
      </p:sp>
      <p:sp>
        <p:nvSpPr>
          <p:cNvPr id="23" name="Shape 21"/>
          <p:cNvSpPr/>
          <p:nvPr/>
        </p:nvSpPr>
        <p:spPr>
          <a:xfrm>
            <a:off x="8046720" y="3520440"/>
            <a:ext cx="3566160" cy="1965960"/>
          </a:xfrm>
          <a:prstGeom prst="roundRect">
            <a:avLst>
              <a:gd name="adj" fmla="val 3721"/>
            </a:avLst>
          </a:prstGeom>
          <a:solidFill>
            <a:schemeClr val="bg2"/>
          </a:solidFill>
          <a:ln/>
        </p:spPr>
      </p:sp>
      <p:sp>
        <p:nvSpPr>
          <p:cNvPr id="24" name="Text 22"/>
          <p:cNvSpPr txBox="1"/>
          <p:nvPr/>
        </p:nvSpPr>
        <p:spPr>
          <a:xfrm>
            <a:off x="8275320" y="3703320"/>
            <a:ext cx="3108960" cy="274320"/>
          </a:xfrm>
          <a:prstGeom prst="rect">
            <a:avLst/>
          </a:prstGeom>
          <a:noFill/>
          <a:ln/>
        </p:spPr>
        <p:txBody>
          <a:bodyPr wrap="square" lIns="0" tIns="0" rIns="0" bIns="0" rtlCol="0" anchor="t"/>
          <a:lstStyle/>
          <a:p>
            <a:pPr marL="0" indent="0">
              <a:buNone/>
            </a:pPr>
            <a:r>
              <a:rPr lang="en-US" sz="1100" b="1" dirty="0">
                <a:solidFill>
                  <a:schemeClr val="accent1"/>
                </a:solidFill>
              </a:rPr>
              <a:t>CONTRATO VERIFICABLE</a:t>
            </a:r>
            <a:endParaRPr lang="en-US" sz="1100" dirty="0"/>
          </a:p>
        </p:txBody>
      </p:sp>
      <p:sp>
        <p:nvSpPr>
          <p:cNvPr id="25" name="Text 23"/>
          <p:cNvSpPr txBox="1"/>
          <p:nvPr/>
        </p:nvSpPr>
        <p:spPr>
          <a:xfrm>
            <a:off x="8275320" y="4023360"/>
            <a:ext cx="3108960" cy="411480"/>
          </a:xfrm>
          <a:prstGeom prst="rect">
            <a:avLst/>
          </a:prstGeom>
          <a:noFill/>
          <a:ln/>
        </p:spPr>
        <p:txBody>
          <a:bodyPr wrap="square" lIns="0" tIns="0" rIns="0" bIns="0" rtlCol="0" anchor="t"/>
          <a:lstStyle/>
          <a:p>
            <a:pPr marL="0" indent="0">
              <a:buNone/>
            </a:pPr>
            <a:r>
              <a:rPr lang="en-US" sz="1800" b="1" dirty="0">
                <a:solidFill>
                  <a:schemeClr val="tx2"/>
                </a:solidFill>
              </a:rPr>
              <a:t>OpenAPI + Postman</a:t>
            </a:r>
            <a:endParaRPr lang="en-US" sz="1800" dirty="0"/>
          </a:p>
        </p:txBody>
      </p:sp>
      <p:sp>
        <p:nvSpPr>
          <p:cNvPr id="26" name="Text 24"/>
          <p:cNvSpPr txBox="1"/>
          <p:nvPr/>
        </p:nvSpPr>
        <p:spPr>
          <a:xfrm>
            <a:off x="8275320" y="4526280"/>
            <a:ext cx="3108960" cy="822960"/>
          </a:xfrm>
          <a:prstGeom prst="rect">
            <a:avLst/>
          </a:prstGeom>
          <a:noFill/>
          <a:ln/>
        </p:spPr>
        <p:txBody>
          <a:bodyPr wrap="square" lIns="0" tIns="0" rIns="0" bIns="0" rtlCol="0" anchor="t"/>
          <a:lstStyle/>
          <a:p>
            <a:pPr marL="0" indent="0">
              <a:buNone/>
            </a:pPr>
            <a:r>
              <a:rPr lang="en-US" sz="1300" dirty="0">
                <a:solidFill>
                  <a:schemeClr val="tx1"/>
                </a:solidFill>
              </a:rPr>
              <a:t>HU1–HU4 probables de punta a punta</a:t>
            </a:r>
            <a:endParaRPr lang="en-US" sz="1300" dirty="0"/>
          </a:p>
        </p:txBody>
      </p:sp>
      <p:sp>
        <p:nvSpPr>
          <p:cNvPr id="27" name="Shape 25"/>
          <p:cNvSpPr/>
          <p:nvPr/>
        </p:nvSpPr>
        <p:spPr>
          <a:xfrm>
            <a:off x="548640" y="5715000"/>
            <a:ext cx="11155680" cy="548640"/>
          </a:xfrm>
          <a:prstGeom prst="roundRect">
            <a:avLst>
              <a:gd name="adj" fmla="val 13333"/>
            </a:avLst>
          </a:prstGeom>
          <a:solidFill>
            <a:schemeClr val="tx2"/>
          </a:solidFill>
          <a:ln/>
        </p:spPr>
      </p:sp>
      <p:sp>
        <p:nvSpPr>
          <p:cNvPr id="28" name="Text 26"/>
          <p:cNvSpPr txBox="1"/>
          <p:nvPr/>
        </p:nvSpPr>
        <p:spPr>
          <a:xfrm>
            <a:off x="731520" y="5715000"/>
            <a:ext cx="10789920" cy="548640"/>
          </a:xfrm>
          <a:prstGeom prst="rect">
            <a:avLst/>
          </a:prstGeom>
          <a:noFill/>
          <a:ln/>
        </p:spPr>
        <p:txBody>
          <a:bodyPr wrap="square" lIns="0" tIns="0" rIns="0" bIns="0" rtlCol="0" anchor="ctr"/>
          <a:lstStyle/>
          <a:p>
            <a:pPr marL="0" indent="0">
              <a:buNone/>
            </a:pPr>
            <a:r>
              <a:rPr lang="en-US" sz="1300" dirty="0">
                <a:solidFill>
                  <a:schemeClr val="bg1"/>
                </a:solidFill>
              </a:rPr>
              <a:t>Carpetas: monorepo apps/backend · apps/frontend · docs · postman  —  backend por capas técnicas con service/discount como subpaquete aislado</a:t>
            </a:r>
            <a:endParaRPr lang="en-US" sz="1300" dirty="0"/>
          </a:p>
        </p:txBody>
      </p:sp>
      <p:sp>
        <p:nvSpPr>
          <p:cNvPr id="29"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B · Trade-offs asumidos (negocio y técnica)</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55680" cy="4096512"/>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512064">
                <a:tc>
                  <a:txBody>
                    <a:bodyPr/>
                    <a:lstStyle/>
                    <a:p>
                      <a:pPr marL="0" indent="0">
                        <a:buNone/>
                      </a:pPr>
                      <a:r>
                        <a:rPr lang="en-US" sz="1300" b="1" dirty="0">
                          <a:solidFill>
                            <a:schemeClr val="bg1"/>
                          </a:solidFill>
                        </a:rPr>
                        <a:t>Trade-off</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300" b="1" dirty="0">
                          <a:solidFill>
                            <a:schemeClr val="bg1"/>
                          </a:solidFill>
                        </a:rPr>
                        <a:t>Se priorizó</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300" b="1" dirty="0">
                          <a:solidFill>
                            <a:schemeClr val="bg1"/>
                          </a:solidFill>
                        </a:rPr>
                        <a:t>Se cedió</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tx2"/>
                    </a:solidFill>
                  </a:tcPr>
                </a:tc>
                <a:extLst>
                  <a:ext uri="{0D108BD9-81ED-4DB2-BD59-A6C34878D82A}">
                    <a16:rowId xmlns:a16="http://schemas.microsoft.com/office/drawing/2014/main" val="10000"/>
                  </a:ext>
                </a:extLst>
              </a:tr>
              <a:tr h="512064">
                <a:tc>
                  <a:txBody>
                    <a:bodyPr/>
                    <a:lstStyle/>
                    <a:p>
                      <a:pPr marL="0" indent="0">
                        <a:buNone/>
                      </a:pPr>
                      <a:r>
                        <a:rPr lang="en-US" sz="1300" b="1" dirty="0">
                          <a:solidFill>
                            <a:schemeClr val="tx1"/>
                          </a:solidFill>
                        </a:rPr>
                        <a:t>Simplicidad vs. extensibilidad</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Código simple; extensión solo en promociones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Interfaces en el resto de servicios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1"/>
                  </a:ext>
                </a:extLst>
              </a:tr>
              <a:tr h="512064">
                <a:tc>
                  <a:txBody>
                    <a:bodyPr/>
                    <a:lstStyle/>
                    <a:p>
                      <a:pPr marL="0" indent="0">
                        <a:buNone/>
                      </a:pPr>
                      <a:r>
                        <a:rPr lang="en-US" sz="1300" b="1" dirty="0">
                          <a:solidFill>
                            <a:schemeClr val="tx1"/>
                          </a:solidFill>
                        </a:rPr>
                        <a:t>Exactitud vs. rendimiento</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300" dirty="0">
                          <a:solidFill>
                            <a:schemeClr val="tx1"/>
                          </a:solidFill>
                        </a:rPr>
                        <a:t>Dinero exacto y auditable al centavo</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300" dirty="0">
                          <a:solidFill>
                            <a:schemeClr val="tx1"/>
                          </a:solidFill>
                        </a:rPr>
                        <a:t>Microsegundos de CPU (BigDecimal)</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2"/>
                  </a:ext>
                </a:extLst>
              </a:tr>
              <a:tr h="512064">
                <a:tc>
                  <a:txBody>
                    <a:bodyPr/>
                    <a:lstStyle/>
                    <a:p>
                      <a:pPr marL="0" indent="0">
                        <a:buNone/>
                      </a:pPr>
                      <a:r>
                        <a:rPr lang="en-US" sz="1300" b="1" dirty="0">
                          <a:solidFill>
                            <a:schemeClr val="tx1"/>
                          </a:solidFill>
                        </a:rPr>
                        <a:t>Fuente única de verdad vs. latencia</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Precios no manipulables; cotización = orden</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Un viaje de red por cambio (debounce 300 ms)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3"/>
                  </a:ext>
                </a:extLst>
              </a:tr>
              <a:tr h="512064">
                <a:tc>
                  <a:txBody>
                    <a:bodyPr/>
                    <a:lstStyle/>
                    <a:p>
                      <a:pPr marL="0" indent="0">
                        <a:buNone/>
                      </a:pPr>
                      <a:r>
                        <a:rPr lang="en-US" sz="1300" b="1" dirty="0">
                          <a:solidFill>
                            <a:schemeClr val="tx1"/>
                          </a:solidFill>
                        </a:rPr>
                        <a:t>Consistencia vs. throughput</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300" dirty="0">
                          <a:solidFill>
                            <a:schemeClr val="tx1"/>
                          </a:solidFill>
                        </a:rPr>
                        <a:t>Cero sobreventa y cero órdenes duplicadas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300" dirty="0">
                          <a:solidFill>
                            <a:schemeClr val="tx1"/>
                          </a:solidFill>
                        </a:rPr>
                        <a:t>Reintentos bajo picos de concurrencia</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4"/>
                  </a:ext>
                </a:extLst>
              </a:tr>
              <a:tr h="512064">
                <a:tc>
                  <a:txBody>
                    <a:bodyPr/>
                    <a:lstStyle/>
                    <a:p>
                      <a:pPr marL="0" indent="0">
                        <a:buNone/>
                      </a:pPr>
                      <a:r>
                        <a:rPr lang="en-US" sz="1300" b="1" dirty="0">
                          <a:solidFill>
                            <a:schemeClr val="tx1"/>
                          </a:solidFill>
                        </a:rPr>
                        <a:t>Entrega vs. automatización</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Tiempo en las reglas, cobertura ≥ 80 % verificada</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Flyway, Testcontainers y CI</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5"/>
                  </a:ext>
                </a:extLst>
              </a:tr>
              <a:tr h="512064">
                <a:tc>
                  <a:txBody>
                    <a:bodyPr/>
                    <a:lstStyle/>
                    <a:p>
                      <a:pPr marL="0" indent="0">
                        <a:buNone/>
                      </a:pPr>
                      <a:r>
                        <a:rPr lang="en-US" sz="1300" b="1" dirty="0">
                          <a:solidFill>
                            <a:schemeClr val="tx1"/>
                          </a:solidFill>
                        </a:rPr>
                        <a:t>Configuración vs. administración</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300" dirty="0">
                          <a:solidFill>
                            <a:schemeClr val="tx1"/>
                          </a:solidFill>
                        </a:rPr>
                        <a:t>Validación al arrancar, sin desarrollo</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300" dirty="0">
                          <a:solidFill>
                            <a:schemeClr val="tx1"/>
                          </a:solidFill>
                        </a:rPr>
                        <a:t>Cambiar reglas sin reiniciar</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6"/>
                  </a:ext>
                </a:extLst>
              </a:tr>
              <a:tr h="512064">
                <a:tc>
                  <a:txBody>
                    <a:bodyPr/>
                    <a:lstStyle/>
                    <a:p>
                      <a:pPr marL="0" indent="0">
                        <a:buNone/>
                      </a:pPr>
                      <a:r>
                        <a:rPr lang="en-US" sz="1300" b="1" dirty="0">
                          <a:solidFill>
                            <a:schemeClr val="tx1"/>
                          </a:solidFill>
                        </a:rPr>
                        <a:t>Compatibilidad vs. actualización</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Entorno dado, sin migrar datos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300" dirty="0">
                          <a:solidFill>
                            <a:schemeClr val="tx1"/>
                          </a:solidFill>
                        </a:rPr>
                        <a:t>Soporte de MySQL 5.7 / Boot 3.2</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7"/>
                  </a:ext>
                </a:extLst>
              </a:tr>
            </a:tbl>
          </a:graphicData>
        </a:graphic>
      </p:graphicFrame>
      <p:sp>
        <p:nvSpPr>
          <p:cNvPr id="4" name="Shape 1"/>
          <p:cNvSpPr/>
          <p:nvPr/>
        </p:nvSpPr>
        <p:spPr>
          <a:xfrm>
            <a:off x="548640" y="5577840"/>
            <a:ext cx="11155680" cy="658368"/>
          </a:xfrm>
          <a:prstGeom prst="roundRect">
            <a:avLst>
              <a:gd name="adj" fmla="val 11111"/>
            </a:avLst>
          </a:prstGeom>
          <a:solidFill>
            <a:schemeClr val="accent2">
              <a:alpha val="22000"/>
            </a:schemeClr>
          </a:solidFill>
          <a:ln/>
        </p:spPr>
      </p:sp>
      <p:sp>
        <p:nvSpPr>
          <p:cNvPr id="5" name="Text 2"/>
          <p:cNvSpPr txBox="1"/>
          <p:nvPr/>
        </p:nvSpPr>
        <p:spPr>
          <a:xfrm>
            <a:off x="731520" y="5577840"/>
            <a:ext cx="10789920" cy="658368"/>
          </a:xfrm>
          <a:prstGeom prst="rect">
            <a:avLst/>
          </a:prstGeom>
          <a:noFill/>
          <a:ln/>
        </p:spPr>
        <p:txBody>
          <a:bodyPr wrap="square" lIns="0" tIns="0" rIns="0" bIns="0" rtlCol="0" anchor="ctr"/>
          <a:lstStyle/>
          <a:p>
            <a:pPr marL="0" indent="0">
              <a:buNone/>
            </a:pPr>
            <a:r>
              <a:rPr lang="en-US" sz="1400" i="1" dirty="0">
                <a:solidFill>
                  <a:schemeClr val="tx1"/>
                </a:solidFill>
              </a:rPr>
              <a:t>Criterio: se paga complejidad solo donde el negocio genera variación o riesgo; el resto es lo más simple, con el camino de salida documentado</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C · Cómo se aisló el motor de descuentos</a:t>
            </a:r>
            <a:endParaRPr lang="en-US" sz="3200" dirty="0"/>
          </a:p>
        </p:txBody>
      </p:sp>
      <p:sp>
        <p:nvSpPr>
          <p:cNvPr id="3" name="Shape 1"/>
          <p:cNvSpPr/>
          <p:nvPr/>
        </p:nvSpPr>
        <p:spPr>
          <a:xfrm>
            <a:off x="548640" y="1417320"/>
            <a:ext cx="1920240" cy="1325880"/>
          </a:xfrm>
          <a:prstGeom prst="roundRect">
            <a:avLst>
              <a:gd name="adj" fmla="val 5517"/>
            </a:avLst>
          </a:prstGeom>
          <a:solidFill>
            <a:schemeClr val="accent3"/>
          </a:solidFill>
          <a:ln/>
        </p:spPr>
      </p:sp>
      <p:sp>
        <p:nvSpPr>
          <p:cNvPr id="4" name="Text 2"/>
          <p:cNvSpPr txBox="1"/>
          <p:nvPr/>
        </p:nvSpPr>
        <p:spPr>
          <a:xfrm>
            <a:off x="640080" y="1472184"/>
            <a:ext cx="1737360" cy="1216152"/>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CartRequest</a:t>
            </a:r>
            <a:endParaRPr lang="en-US" sz="1400" dirty="0"/>
          </a:p>
          <a:p>
            <a:pPr marL="0" indent="0" algn="ctr">
              <a:spcAft>
                <a:spcPts val="200"/>
              </a:spcAft>
              <a:buNone/>
            </a:pPr>
            <a:r>
              <a:rPr lang="en-US" sz="1200" dirty="0">
                <a:solidFill>
                  <a:schemeClr val="bg1"/>
                </a:solidFill>
              </a:rPr>
              <a:t>DTO HTTP</a:t>
            </a:r>
            <a:endParaRPr lang="en-US" sz="1400" dirty="0"/>
          </a:p>
        </p:txBody>
      </p:sp>
      <p:sp>
        <p:nvSpPr>
          <p:cNvPr id="5" name="Shape 3"/>
          <p:cNvSpPr/>
          <p:nvPr/>
        </p:nvSpPr>
        <p:spPr>
          <a:xfrm>
            <a:off x="2468880" y="2084832"/>
            <a:ext cx="347472" cy="0"/>
          </a:xfrm>
          <a:prstGeom prst="line">
            <a:avLst/>
          </a:prstGeom>
          <a:noFill/>
          <a:ln w="22225">
            <a:solidFill>
              <a:srgbClr val="6C7A89"/>
            </a:solidFill>
            <a:prstDash val="solid"/>
            <a:tailEnd type="triangle"/>
          </a:ln>
        </p:spPr>
      </p:sp>
      <p:sp>
        <p:nvSpPr>
          <p:cNvPr id="6" name="Shape 4"/>
          <p:cNvSpPr/>
          <p:nvPr/>
        </p:nvSpPr>
        <p:spPr>
          <a:xfrm>
            <a:off x="2816352" y="1417320"/>
            <a:ext cx="1920240" cy="1325880"/>
          </a:xfrm>
          <a:prstGeom prst="roundRect">
            <a:avLst>
              <a:gd name="adj" fmla="val 5517"/>
            </a:avLst>
          </a:prstGeom>
          <a:solidFill>
            <a:schemeClr val="accent1"/>
          </a:solidFill>
          <a:ln/>
        </p:spPr>
      </p:sp>
      <p:sp>
        <p:nvSpPr>
          <p:cNvPr id="7" name="Text 5"/>
          <p:cNvSpPr txBox="1"/>
          <p:nvPr/>
        </p:nvSpPr>
        <p:spPr>
          <a:xfrm>
            <a:off x="2907792" y="1472184"/>
            <a:ext cx="1737360" cy="1216152"/>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PricingService</a:t>
            </a:r>
            <a:endParaRPr lang="en-US" sz="1400" dirty="0"/>
          </a:p>
          <a:p>
            <a:pPr marL="0" indent="0" algn="ctr">
              <a:spcAft>
                <a:spcPts val="200"/>
              </a:spcAft>
              <a:buNone/>
            </a:pPr>
            <a:r>
              <a:rPr lang="en-US" sz="1200" dirty="0">
                <a:solidFill>
                  <a:schemeClr val="bg1"/>
                </a:solidFill>
              </a:rPr>
              <a:t>valida y traduce Product → DiscountLine</a:t>
            </a:r>
            <a:endParaRPr lang="en-US" sz="1400" dirty="0"/>
          </a:p>
        </p:txBody>
      </p:sp>
      <p:sp>
        <p:nvSpPr>
          <p:cNvPr id="8" name="Shape 6"/>
          <p:cNvSpPr/>
          <p:nvPr/>
        </p:nvSpPr>
        <p:spPr>
          <a:xfrm>
            <a:off x="4736592" y="2084832"/>
            <a:ext cx="347472" cy="0"/>
          </a:xfrm>
          <a:prstGeom prst="line">
            <a:avLst/>
          </a:prstGeom>
          <a:noFill/>
          <a:ln w="22225">
            <a:solidFill>
              <a:srgbClr val="6C7A89"/>
            </a:solidFill>
            <a:prstDash val="solid"/>
            <a:tailEnd type="triangle"/>
          </a:ln>
        </p:spPr>
      </p:sp>
      <p:sp>
        <p:nvSpPr>
          <p:cNvPr id="9" name="Shape 7"/>
          <p:cNvSpPr/>
          <p:nvPr/>
        </p:nvSpPr>
        <p:spPr>
          <a:xfrm>
            <a:off x="5084064" y="1417320"/>
            <a:ext cx="1920240" cy="1325880"/>
          </a:xfrm>
          <a:prstGeom prst="roundRect">
            <a:avLst>
              <a:gd name="adj" fmla="val 5517"/>
            </a:avLst>
          </a:prstGeom>
          <a:solidFill>
            <a:schemeClr val="accent2"/>
          </a:solidFill>
          <a:ln/>
        </p:spPr>
      </p:sp>
      <p:sp>
        <p:nvSpPr>
          <p:cNvPr id="10" name="Text 8"/>
          <p:cNvSpPr txBox="1"/>
          <p:nvPr/>
        </p:nvSpPr>
        <p:spPr>
          <a:xfrm>
            <a:off x="5175504" y="1472184"/>
            <a:ext cx="1737360" cy="1216152"/>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DiscountCalculator</a:t>
            </a:r>
            <a:endParaRPr lang="en-US" sz="1400" dirty="0"/>
          </a:p>
          <a:p>
            <a:pPr marL="0" indent="0" algn="ctr">
              <a:spcAft>
                <a:spcPts val="200"/>
              </a:spcAft>
              <a:buNone/>
            </a:pPr>
            <a:r>
              <a:rPr lang="en-US" sz="1200" dirty="0">
                <a:solidFill>
                  <a:schemeClr val="tx1"/>
                </a:solidFill>
              </a:rPr>
              <a:t>cálculo puro, determinista</a:t>
            </a:r>
            <a:endParaRPr lang="en-US" sz="1400" dirty="0"/>
          </a:p>
        </p:txBody>
      </p:sp>
      <p:sp>
        <p:nvSpPr>
          <p:cNvPr id="11" name="Shape 9"/>
          <p:cNvSpPr/>
          <p:nvPr/>
        </p:nvSpPr>
        <p:spPr>
          <a:xfrm>
            <a:off x="7004304" y="2084832"/>
            <a:ext cx="347472" cy="0"/>
          </a:xfrm>
          <a:prstGeom prst="line">
            <a:avLst/>
          </a:prstGeom>
          <a:noFill/>
          <a:ln w="22225">
            <a:solidFill>
              <a:srgbClr val="6C7A89"/>
            </a:solidFill>
            <a:prstDash val="solid"/>
            <a:tailEnd type="triangle"/>
          </a:ln>
        </p:spPr>
      </p:sp>
      <p:sp>
        <p:nvSpPr>
          <p:cNvPr id="12" name="Shape 10"/>
          <p:cNvSpPr/>
          <p:nvPr/>
        </p:nvSpPr>
        <p:spPr>
          <a:xfrm>
            <a:off x="7351776" y="1417320"/>
            <a:ext cx="1920240" cy="1325880"/>
          </a:xfrm>
          <a:prstGeom prst="roundRect">
            <a:avLst>
              <a:gd name="adj" fmla="val 5517"/>
            </a:avLst>
          </a:prstGeom>
          <a:solidFill>
            <a:schemeClr val="accent1"/>
          </a:solidFill>
          <a:ln/>
        </p:spPr>
      </p:sp>
      <p:sp>
        <p:nvSpPr>
          <p:cNvPr id="13" name="Text 11"/>
          <p:cNvSpPr txBox="1"/>
          <p:nvPr/>
        </p:nvSpPr>
        <p:spPr>
          <a:xfrm>
            <a:off x="7443216" y="1472184"/>
            <a:ext cx="1737360" cy="1216152"/>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DiscountResult</a:t>
            </a:r>
            <a:endParaRPr lang="en-US" sz="1400" dirty="0"/>
          </a:p>
          <a:p>
            <a:pPr marL="0" indent="0" algn="ctr">
              <a:spcAft>
                <a:spcPts val="200"/>
              </a:spcAft>
              <a:buNone/>
            </a:pPr>
            <a:r>
              <a:rPr lang="en-US" sz="1200" dirty="0">
                <a:solidFill>
                  <a:schemeClr val="bg1"/>
                </a:solidFill>
              </a:rPr>
              <a:t>record propio</a:t>
            </a:r>
            <a:endParaRPr lang="en-US" sz="1400" dirty="0"/>
          </a:p>
        </p:txBody>
      </p:sp>
      <p:sp>
        <p:nvSpPr>
          <p:cNvPr id="14" name="Shape 12"/>
          <p:cNvSpPr/>
          <p:nvPr/>
        </p:nvSpPr>
        <p:spPr>
          <a:xfrm>
            <a:off x="9272016" y="2084832"/>
            <a:ext cx="347472" cy="0"/>
          </a:xfrm>
          <a:prstGeom prst="line">
            <a:avLst/>
          </a:prstGeom>
          <a:noFill/>
          <a:ln w="22225">
            <a:solidFill>
              <a:srgbClr val="6C7A89"/>
            </a:solidFill>
            <a:prstDash val="solid"/>
            <a:tailEnd type="triangle"/>
          </a:ln>
        </p:spPr>
      </p:sp>
      <p:sp>
        <p:nvSpPr>
          <p:cNvPr id="15" name="Shape 13"/>
          <p:cNvSpPr/>
          <p:nvPr/>
        </p:nvSpPr>
        <p:spPr>
          <a:xfrm>
            <a:off x="9619488" y="1417320"/>
            <a:ext cx="1920240" cy="1325880"/>
          </a:xfrm>
          <a:prstGeom prst="roundRect">
            <a:avLst>
              <a:gd name="adj" fmla="val 5517"/>
            </a:avLst>
          </a:prstGeom>
          <a:solidFill>
            <a:schemeClr val="accent1"/>
          </a:solidFill>
          <a:ln/>
        </p:spPr>
      </p:sp>
      <p:sp>
        <p:nvSpPr>
          <p:cNvPr id="16" name="Text 14"/>
          <p:cNvSpPr txBox="1"/>
          <p:nvPr/>
        </p:nvSpPr>
        <p:spPr>
          <a:xfrm>
            <a:off x="9710928" y="1472184"/>
            <a:ext cx="1737360" cy="1216152"/>
          </a:xfrm>
          <a:prstGeom prst="rect">
            <a:avLst/>
          </a:prstGeom>
          <a:noFill/>
          <a:ln/>
        </p:spPr>
        <p:txBody>
          <a:bodyPr wrap="square" lIns="0" tIns="0" rIns="0" bIns="0" rtlCol="0" anchor="ctr"/>
          <a:lstStyle/>
          <a:p>
            <a:pPr marL="0" indent="0" algn="ctr">
              <a:spcAft>
                <a:spcPts val="200"/>
              </a:spcAft>
              <a:buNone/>
            </a:pPr>
            <a:r>
              <a:rPr lang="en-US" sz="1400" b="1" dirty="0">
                <a:solidFill>
                  <a:schemeClr val="bg1"/>
                </a:solidFill>
              </a:rPr>
              <a:t>CheckoutMapper</a:t>
            </a:r>
            <a:endParaRPr lang="en-US" sz="1400" dirty="0"/>
          </a:p>
          <a:p>
            <a:pPr marL="0" indent="0" algn="ctr">
              <a:spcAft>
                <a:spcPts val="200"/>
              </a:spcAft>
              <a:buNone/>
            </a:pPr>
            <a:r>
              <a:rPr lang="en-US" sz="1200" dirty="0">
                <a:solidFill>
                  <a:schemeClr val="bg1"/>
                </a:solidFill>
              </a:rPr>
              <a:t>→ CartQuoteResponse / Order</a:t>
            </a:r>
            <a:endParaRPr lang="en-US" sz="1400" dirty="0"/>
          </a:p>
        </p:txBody>
      </p:sp>
      <p:sp>
        <p:nvSpPr>
          <p:cNvPr id="17" name="Text 15"/>
          <p:cNvSpPr txBox="1"/>
          <p:nvPr/>
        </p:nvSpPr>
        <p:spPr>
          <a:xfrm>
            <a:off x="2816352" y="2834640"/>
            <a:ext cx="1920240" cy="274320"/>
          </a:xfrm>
          <a:prstGeom prst="rect">
            <a:avLst/>
          </a:prstGeom>
          <a:noFill/>
          <a:ln/>
        </p:spPr>
        <p:txBody>
          <a:bodyPr wrap="square" lIns="0" tIns="0" rIns="0" bIns="0" rtlCol="0" anchor="t"/>
          <a:lstStyle/>
          <a:p>
            <a:pPr marL="0" indent="0" algn="ctr">
              <a:buNone/>
            </a:pPr>
            <a:r>
              <a:rPr lang="en-US" sz="1100" i="1" dirty="0">
                <a:solidFill>
                  <a:schemeClr val="accent3"/>
                </a:solidFill>
              </a:rPr>
              <a:t>Frontera de traducción</a:t>
            </a:r>
            <a:endParaRPr lang="en-US" sz="1100" dirty="0"/>
          </a:p>
        </p:txBody>
      </p:sp>
      <p:sp>
        <p:nvSpPr>
          <p:cNvPr id="18" name="Text 16"/>
          <p:cNvSpPr txBox="1"/>
          <p:nvPr/>
        </p:nvSpPr>
        <p:spPr>
          <a:xfrm>
            <a:off x="5084064" y="2834640"/>
            <a:ext cx="1920240" cy="274320"/>
          </a:xfrm>
          <a:prstGeom prst="rect">
            <a:avLst/>
          </a:prstGeom>
          <a:noFill/>
          <a:ln/>
        </p:spPr>
        <p:txBody>
          <a:bodyPr wrap="square" lIns="0" tIns="0" rIns="0" bIns="0" rtlCol="0" anchor="t"/>
          <a:lstStyle/>
          <a:p>
            <a:pPr marL="0" indent="0" algn="ctr">
              <a:buNone/>
            </a:pPr>
            <a:r>
              <a:rPr lang="en-US" sz="1100" i="1" dirty="0">
                <a:solidFill>
                  <a:schemeClr val="accent3"/>
                </a:solidFill>
              </a:rPr>
              <a:t>Motor (service/discount)</a:t>
            </a:r>
            <a:endParaRPr lang="en-US" sz="1100" dirty="0"/>
          </a:p>
        </p:txBody>
      </p:sp>
      <p:sp>
        <p:nvSpPr>
          <p:cNvPr id="19" name="Text 17"/>
          <p:cNvSpPr txBox="1"/>
          <p:nvPr/>
        </p:nvSpPr>
        <p:spPr>
          <a:xfrm>
            <a:off x="9619488" y="2834640"/>
            <a:ext cx="1920240" cy="274320"/>
          </a:xfrm>
          <a:prstGeom prst="rect">
            <a:avLst/>
          </a:prstGeom>
          <a:noFill/>
          <a:ln/>
        </p:spPr>
        <p:txBody>
          <a:bodyPr wrap="square" lIns="0" tIns="0" rIns="0" bIns="0" rtlCol="0" anchor="t"/>
          <a:lstStyle/>
          <a:p>
            <a:pPr marL="0" indent="0" algn="ctr">
              <a:buNone/>
            </a:pPr>
            <a:r>
              <a:rPr lang="en-US" sz="1100" i="1" dirty="0">
                <a:solidFill>
                  <a:schemeClr val="accent3"/>
                </a:solidFill>
              </a:rPr>
              <a:t>Frontera de traducción</a:t>
            </a:r>
            <a:endParaRPr lang="en-US" sz="1100" dirty="0"/>
          </a:p>
        </p:txBody>
      </p:sp>
      <p:sp>
        <p:nvSpPr>
          <p:cNvPr id="20" name="Shape 18"/>
          <p:cNvSpPr/>
          <p:nvPr/>
        </p:nvSpPr>
        <p:spPr>
          <a:xfrm>
            <a:off x="548640" y="3337560"/>
            <a:ext cx="5440680" cy="2377440"/>
          </a:xfrm>
          <a:prstGeom prst="roundRect">
            <a:avLst>
              <a:gd name="adj" fmla="val 3077"/>
            </a:avLst>
          </a:prstGeom>
          <a:solidFill>
            <a:schemeClr val="bg2"/>
          </a:solidFill>
          <a:ln/>
        </p:spPr>
      </p:sp>
      <p:sp>
        <p:nvSpPr>
          <p:cNvPr id="21" name="Text 19"/>
          <p:cNvSpPr txBox="1"/>
          <p:nvPr/>
        </p:nvSpPr>
        <p:spPr>
          <a:xfrm>
            <a:off x="777240" y="3474720"/>
            <a:ext cx="5029200" cy="365760"/>
          </a:xfrm>
          <a:prstGeom prst="rect">
            <a:avLst/>
          </a:prstGeom>
          <a:noFill/>
          <a:ln/>
        </p:spPr>
        <p:txBody>
          <a:bodyPr wrap="square" lIns="0" tIns="0" rIns="0" bIns="0" rtlCol="0" anchor="t"/>
          <a:lstStyle/>
          <a:p>
            <a:pPr marL="0" indent="0">
              <a:buNone/>
            </a:pPr>
            <a:r>
              <a:rPr lang="en-US" sz="1600" b="1" dirty="0">
                <a:solidFill>
                  <a:schemeClr val="accent5"/>
                </a:solidFill>
              </a:rPr>
              <a:t>Lo que el motor NO conoce</a:t>
            </a:r>
            <a:endParaRPr lang="en-US" sz="1600" dirty="0"/>
          </a:p>
        </p:txBody>
      </p:sp>
      <p:sp>
        <p:nvSpPr>
          <p:cNvPr id="22" name="Text 20"/>
          <p:cNvSpPr txBox="1"/>
          <p:nvPr/>
        </p:nvSpPr>
        <p:spPr>
          <a:xfrm>
            <a:off x="777240" y="3931920"/>
            <a:ext cx="502920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HTTP, JSON ni DTO de la API</a:t>
            </a:r>
            <a:endParaRPr lang="en-US" sz="1400" dirty="0"/>
          </a:p>
          <a:p>
            <a:pPr marL="342900" indent="-342900">
              <a:spcAft>
                <a:spcPts val="600"/>
              </a:spcAft>
              <a:buSzPct val="100000"/>
              <a:buChar char="•"/>
            </a:pPr>
            <a:r>
              <a:rPr lang="en-US" sz="1400" dirty="0">
                <a:solidFill>
                  <a:schemeClr val="tx1"/>
                </a:solidFill>
              </a:rPr>
              <a:t>Entidades JPA, repositorios ni la base de datos</a:t>
            </a:r>
            <a:endParaRPr lang="en-US" sz="1400" dirty="0"/>
          </a:p>
          <a:p>
            <a:pPr marL="342900" indent="-342900">
              <a:spcAft>
                <a:spcPts val="600"/>
              </a:spcAft>
              <a:buSzPct val="100000"/>
              <a:buChar char="•"/>
            </a:pPr>
            <a:r>
              <a:rPr lang="en-US" sz="1400" dirty="0">
                <a:solidFill>
                  <a:schemeClr val="tx1"/>
                </a:solidFill>
              </a:rPr>
              <a:t>La fecha: la vigencia del cupón la valida CouponValidator antes</a:t>
            </a:r>
            <a:endParaRPr lang="en-US" sz="1400" dirty="0"/>
          </a:p>
          <a:p>
            <a:pPr marL="342900" indent="-342900">
              <a:spcAft>
                <a:spcPts val="600"/>
              </a:spcAft>
              <a:buSzPct val="100000"/>
              <a:buChar char="•"/>
            </a:pPr>
            <a:r>
              <a:rPr lang="en-US" sz="1400" dirty="0">
                <a:solidFill>
                  <a:schemeClr val="tx1"/>
                </a:solidFill>
              </a:rPr>
              <a:t>El stock: lo verifica y descuenta StockService</a:t>
            </a:r>
            <a:endParaRPr lang="en-US" sz="1400" dirty="0"/>
          </a:p>
        </p:txBody>
      </p:sp>
      <p:sp>
        <p:nvSpPr>
          <p:cNvPr id="23" name="Shape 21"/>
          <p:cNvSpPr/>
          <p:nvPr/>
        </p:nvSpPr>
        <p:spPr>
          <a:xfrm>
            <a:off x="6263640" y="3337560"/>
            <a:ext cx="5440680" cy="2377440"/>
          </a:xfrm>
          <a:prstGeom prst="roundRect">
            <a:avLst>
              <a:gd name="adj" fmla="val 3077"/>
            </a:avLst>
          </a:prstGeom>
          <a:solidFill>
            <a:schemeClr val="bg2"/>
          </a:solidFill>
          <a:ln/>
        </p:spPr>
      </p:sp>
      <p:sp>
        <p:nvSpPr>
          <p:cNvPr id="24" name="Text 22"/>
          <p:cNvSpPr txBox="1"/>
          <p:nvPr/>
        </p:nvSpPr>
        <p:spPr>
          <a:xfrm>
            <a:off x="6492240" y="3474720"/>
            <a:ext cx="5029200" cy="365760"/>
          </a:xfrm>
          <a:prstGeom prst="rect">
            <a:avLst/>
          </a:prstGeom>
          <a:noFill/>
          <a:ln/>
        </p:spPr>
        <p:txBody>
          <a:bodyPr wrap="square" lIns="0" tIns="0" rIns="0" bIns="0" rtlCol="0" anchor="t"/>
          <a:lstStyle/>
          <a:p>
            <a:pPr marL="0" indent="0">
              <a:buNone/>
            </a:pPr>
            <a:r>
              <a:rPr lang="en-US" sz="1600" b="1" dirty="0">
                <a:solidFill>
                  <a:schemeClr val="accent4"/>
                </a:solidFill>
              </a:rPr>
              <a:t>Evidencia en el código</a:t>
            </a:r>
            <a:endParaRPr lang="en-US" sz="1600" dirty="0"/>
          </a:p>
        </p:txBody>
      </p:sp>
      <p:sp>
        <p:nvSpPr>
          <p:cNvPr id="25" name="Text 23"/>
          <p:cNvSpPr txBox="1"/>
          <p:nvPr/>
        </p:nvSpPr>
        <p:spPr>
          <a:xfrm>
            <a:off x="6492240" y="3931920"/>
            <a:ext cx="502920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Imports del paquete: solo java.*, MoneyUtils, DiscountProperties y @Component</a:t>
            </a:r>
            <a:endParaRPr lang="en-US" sz="1400" dirty="0"/>
          </a:p>
          <a:p>
            <a:pPr marL="342900" indent="-342900">
              <a:spcAft>
                <a:spcPts val="600"/>
              </a:spcAft>
              <a:buSzPct val="100000"/>
              <a:buChar char="•"/>
            </a:pPr>
            <a:r>
              <a:rPr lang="en-US" sz="1400" dirty="0">
                <a:solidFill>
                  <a:schemeClr val="tx1"/>
                </a:solidFill>
              </a:rPr>
              <a:t>5 clases de prueba JUnit puras: sin Spring ni BD, en milisegundos</a:t>
            </a:r>
            <a:endParaRPr lang="en-US" sz="1400" dirty="0"/>
          </a:p>
          <a:p>
            <a:pPr marL="342900" indent="-342900">
              <a:spcAft>
                <a:spcPts val="600"/>
              </a:spcAft>
              <a:buSzPct val="100000"/>
              <a:buChar char="•"/>
            </a:pPr>
            <a:r>
              <a:rPr lang="en-US" sz="1400" dirty="0">
                <a:solidFill>
                  <a:schemeClr val="tx1"/>
                </a:solidFill>
              </a:rPr>
              <a:t>Cobertura del paquete service.discount: 100 %</a:t>
            </a:r>
            <a:endParaRPr lang="en-US" sz="1400" dirty="0"/>
          </a:p>
          <a:p>
            <a:pPr marL="342900" indent="-342900">
              <a:spcAft>
                <a:spcPts val="600"/>
              </a:spcAft>
              <a:buSzPct val="100000"/>
              <a:buChar char="•"/>
            </a:pPr>
            <a:r>
              <a:rPr lang="en-US" sz="1400" dirty="0">
                <a:solidFill>
                  <a:schemeClr val="tx1"/>
                </a:solidFill>
              </a:rPr>
              <a:t>Cotización (HU2) y orden (HU3) usan el mismo cálculo</a:t>
            </a:r>
            <a:endParaRPr lang="en-US" sz="1400" dirty="0"/>
          </a:p>
        </p:txBody>
      </p:sp>
      <p:sp>
        <p:nvSpPr>
          <p:cNvPr id="26"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Caso (d): la cascada verificada al centavo</a:t>
            </a:r>
            <a:endParaRPr lang="en-US" sz="3200" dirty="0"/>
          </a:p>
        </p:txBody>
      </p:sp>
      <p:sp>
        <p:nvSpPr>
          <p:cNvPr id="3" name="Text 1"/>
          <p:cNvSpPr txBox="1"/>
          <p:nvPr/>
        </p:nvSpPr>
        <p:spPr>
          <a:xfrm>
            <a:off x="548640" y="1234440"/>
            <a:ext cx="10972800" cy="365760"/>
          </a:xfrm>
          <a:prstGeom prst="rect">
            <a:avLst/>
          </a:prstGeom>
          <a:noFill/>
          <a:ln/>
        </p:spPr>
        <p:txBody>
          <a:bodyPr wrap="square" lIns="0" tIns="0" rIns="0" bIns="0" rtlCol="0" anchor="t"/>
          <a:lstStyle/>
          <a:p>
            <a:pPr marL="0" indent="0">
              <a:buNone/>
            </a:pPr>
            <a:r>
              <a:rPr lang="en-US" sz="1600" dirty="0">
                <a:solidFill>
                  <a:schemeClr val="accent3"/>
                </a:solidFill>
              </a:rPr>
              <a:t>Monitor + Smartwatch + Balón ×2 + cupón TESTCAP30</a:t>
            </a:r>
            <a:endParaRPr lang="en-US" sz="1600" dirty="0"/>
          </a:p>
        </p:txBody>
      </p:sp>
      <p:sp>
        <p:nvSpPr>
          <p:cNvPr id="4" name="Shape 2"/>
          <p:cNvSpPr/>
          <p:nvPr/>
        </p:nvSpPr>
        <p:spPr>
          <a:xfrm>
            <a:off x="548640" y="1874520"/>
            <a:ext cx="1691640" cy="1783080"/>
          </a:xfrm>
          <a:prstGeom prst="roundRect">
            <a:avLst>
              <a:gd name="adj" fmla="val 4324"/>
            </a:avLst>
          </a:prstGeom>
          <a:solidFill>
            <a:schemeClr val="bg2"/>
          </a:solidFill>
          <a:ln/>
        </p:spPr>
      </p:sp>
      <p:sp>
        <p:nvSpPr>
          <p:cNvPr id="5" name="Text 3"/>
          <p:cNvSpPr txBox="1"/>
          <p:nvPr/>
        </p:nvSpPr>
        <p:spPr>
          <a:xfrm>
            <a:off x="548640" y="2103120"/>
            <a:ext cx="1691640" cy="59436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320.00</a:t>
            </a:r>
            <a:endParaRPr lang="en-US" sz="2600" dirty="0"/>
          </a:p>
        </p:txBody>
      </p:sp>
      <p:sp>
        <p:nvSpPr>
          <p:cNvPr id="6" name="Text 4"/>
          <p:cNvSpPr txBox="1"/>
          <p:nvPr/>
        </p:nvSpPr>
        <p:spPr>
          <a:xfrm>
            <a:off x="658368" y="2788920"/>
            <a:ext cx="1472184" cy="1051560"/>
          </a:xfrm>
          <a:prstGeom prst="rect">
            <a:avLst/>
          </a:prstGeom>
          <a:noFill/>
          <a:ln/>
        </p:spPr>
        <p:txBody>
          <a:bodyPr wrap="square" lIns="0" tIns="0" rIns="0" bIns="0" rtlCol="0" anchor="t"/>
          <a:lstStyle/>
          <a:p>
            <a:pPr marL="0" indent="0" algn="ctr">
              <a:buNone/>
            </a:pPr>
            <a:r>
              <a:rPr lang="en-US" sz="1200" dirty="0">
                <a:solidFill>
                  <a:schemeClr val="tx1"/>
                </a:solidFill>
              </a:rPr>
              <a:t>Subtotal original</a:t>
            </a:r>
            <a:endParaRPr lang="en-US" sz="1200" dirty="0"/>
          </a:p>
        </p:txBody>
      </p:sp>
      <p:sp>
        <p:nvSpPr>
          <p:cNvPr id="7" name="Shape 5"/>
          <p:cNvSpPr/>
          <p:nvPr/>
        </p:nvSpPr>
        <p:spPr>
          <a:xfrm>
            <a:off x="2249424" y="2926080"/>
            <a:ext cx="164592" cy="0"/>
          </a:xfrm>
          <a:prstGeom prst="line">
            <a:avLst/>
          </a:prstGeom>
          <a:noFill/>
          <a:ln w="22225">
            <a:solidFill>
              <a:srgbClr val="6C7A89"/>
            </a:solidFill>
            <a:prstDash val="solid"/>
            <a:tailEnd type="triangle"/>
          </a:ln>
        </p:spPr>
      </p:sp>
      <p:sp>
        <p:nvSpPr>
          <p:cNvPr id="8" name="Shape 6"/>
          <p:cNvSpPr/>
          <p:nvPr/>
        </p:nvSpPr>
        <p:spPr>
          <a:xfrm>
            <a:off x="2423160" y="1874520"/>
            <a:ext cx="1691640" cy="1783080"/>
          </a:xfrm>
          <a:prstGeom prst="roundRect">
            <a:avLst>
              <a:gd name="adj" fmla="val 4324"/>
            </a:avLst>
          </a:prstGeom>
          <a:solidFill>
            <a:schemeClr val="bg2"/>
          </a:solidFill>
          <a:ln/>
        </p:spPr>
      </p:sp>
      <p:sp>
        <p:nvSpPr>
          <p:cNvPr id="9" name="Text 7"/>
          <p:cNvSpPr txBox="1"/>
          <p:nvPr/>
        </p:nvSpPr>
        <p:spPr>
          <a:xfrm>
            <a:off x="2423160" y="2103120"/>
            <a:ext cx="1691640" cy="59436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− 27.00</a:t>
            </a:r>
            <a:endParaRPr lang="en-US" sz="2600" dirty="0"/>
          </a:p>
        </p:txBody>
      </p:sp>
      <p:sp>
        <p:nvSpPr>
          <p:cNvPr id="10" name="Text 8"/>
          <p:cNvSpPr txBox="1"/>
          <p:nvPr/>
        </p:nvSpPr>
        <p:spPr>
          <a:xfrm>
            <a:off x="2532888" y="2788920"/>
            <a:ext cx="1472184" cy="1051560"/>
          </a:xfrm>
          <a:prstGeom prst="rect">
            <a:avLst/>
          </a:prstGeom>
          <a:noFill/>
          <a:ln/>
        </p:spPr>
        <p:txBody>
          <a:bodyPr wrap="square" lIns="0" tIns="0" rIns="0" bIns="0" rtlCol="0" anchor="t"/>
          <a:lstStyle/>
          <a:p>
            <a:pPr marL="0" indent="0" algn="ctr">
              <a:buNone/>
            </a:pPr>
            <a:r>
              <a:rPr lang="en-US" sz="1200" dirty="0">
                <a:solidFill>
                  <a:schemeClr val="tx1"/>
                </a:solidFill>
              </a:rPr>
              <a:t>Categoría 10 % (Tecnología)</a:t>
            </a:r>
            <a:endParaRPr lang="en-US" sz="1200" dirty="0"/>
          </a:p>
        </p:txBody>
      </p:sp>
      <p:sp>
        <p:nvSpPr>
          <p:cNvPr id="11" name="Shape 9"/>
          <p:cNvSpPr/>
          <p:nvPr/>
        </p:nvSpPr>
        <p:spPr>
          <a:xfrm>
            <a:off x="4123944" y="2926080"/>
            <a:ext cx="164592" cy="0"/>
          </a:xfrm>
          <a:prstGeom prst="line">
            <a:avLst/>
          </a:prstGeom>
          <a:noFill/>
          <a:ln w="22225">
            <a:solidFill>
              <a:srgbClr val="6C7A89"/>
            </a:solidFill>
            <a:prstDash val="solid"/>
            <a:tailEnd type="triangle"/>
          </a:ln>
        </p:spPr>
      </p:sp>
      <p:sp>
        <p:nvSpPr>
          <p:cNvPr id="12" name="Shape 10"/>
          <p:cNvSpPr/>
          <p:nvPr/>
        </p:nvSpPr>
        <p:spPr>
          <a:xfrm>
            <a:off x="4297680" y="1874520"/>
            <a:ext cx="1691640" cy="1783080"/>
          </a:xfrm>
          <a:prstGeom prst="roundRect">
            <a:avLst>
              <a:gd name="adj" fmla="val 4324"/>
            </a:avLst>
          </a:prstGeom>
          <a:solidFill>
            <a:schemeClr val="bg2"/>
          </a:solidFill>
          <a:ln/>
        </p:spPr>
      </p:sp>
      <p:sp>
        <p:nvSpPr>
          <p:cNvPr id="13" name="Text 11"/>
          <p:cNvSpPr txBox="1"/>
          <p:nvPr/>
        </p:nvSpPr>
        <p:spPr>
          <a:xfrm>
            <a:off x="4297680" y="2103120"/>
            <a:ext cx="1691640" cy="59436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− 14.65</a:t>
            </a:r>
            <a:endParaRPr lang="en-US" sz="2600" dirty="0"/>
          </a:p>
        </p:txBody>
      </p:sp>
      <p:sp>
        <p:nvSpPr>
          <p:cNvPr id="14" name="Text 12"/>
          <p:cNvSpPr txBox="1"/>
          <p:nvPr/>
        </p:nvSpPr>
        <p:spPr>
          <a:xfrm>
            <a:off x="4407408" y="2788920"/>
            <a:ext cx="1472184" cy="1051560"/>
          </a:xfrm>
          <a:prstGeom prst="rect">
            <a:avLst/>
          </a:prstGeom>
          <a:noFill/>
          <a:ln/>
        </p:spPr>
        <p:txBody>
          <a:bodyPr wrap="square" lIns="0" tIns="0" rIns="0" bIns="0" rtlCol="0" anchor="t"/>
          <a:lstStyle/>
          <a:p>
            <a:pPr marL="0" indent="0" algn="ctr">
              <a:buNone/>
            </a:pPr>
            <a:r>
              <a:rPr lang="en-US" sz="1200" dirty="0">
                <a:solidFill>
                  <a:schemeClr val="tx1"/>
                </a:solidFill>
              </a:rPr>
              <a:t>Volumen 5 % de 293.00</a:t>
            </a:r>
            <a:endParaRPr lang="en-US" sz="1200" dirty="0"/>
          </a:p>
        </p:txBody>
      </p:sp>
      <p:sp>
        <p:nvSpPr>
          <p:cNvPr id="15" name="Shape 13"/>
          <p:cNvSpPr/>
          <p:nvPr/>
        </p:nvSpPr>
        <p:spPr>
          <a:xfrm>
            <a:off x="5998464" y="2926080"/>
            <a:ext cx="164592" cy="0"/>
          </a:xfrm>
          <a:prstGeom prst="line">
            <a:avLst/>
          </a:prstGeom>
          <a:noFill/>
          <a:ln w="22225">
            <a:solidFill>
              <a:srgbClr val="6C7A89"/>
            </a:solidFill>
            <a:prstDash val="solid"/>
            <a:tailEnd type="triangle"/>
          </a:ln>
        </p:spPr>
      </p:sp>
      <p:sp>
        <p:nvSpPr>
          <p:cNvPr id="16" name="Shape 14"/>
          <p:cNvSpPr/>
          <p:nvPr/>
        </p:nvSpPr>
        <p:spPr>
          <a:xfrm>
            <a:off x="6172200" y="1874520"/>
            <a:ext cx="1691640" cy="1783080"/>
          </a:xfrm>
          <a:prstGeom prst="roundRect">
            <a:avLst>
              <a:gd name="adj" fmla="val 4324"/>
            </a:avLst>
          </a:prstGeom>
          <a:solidFill>
            <a:schemeClr val="bg2"/>
          </a:solidFill>
          <a:ln/>
        </p:spPr>
      </p:sp>
      <p:sp>
        <p:nvSpPr>
          <p:cNvPr id="17" name="Text 15"/>
          <p:cNvSpPr txBox="1"/>
          <p:nvPr/>
        </p:nvSpPr>
        <p:spPr>
          <a:xfrm>
            <a:off x="6172200" y="2103120"/>
            <a:ext cx="1691640" cy="59436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− 83.51</a:t>
            </a:r>
            <a:endParaRPr lang="en-US" sz="2600" dirty="0"/>
          </a:p>
        </p:txBody>
      </p:sp>
      <p:sp>
        <p:nvSpPr>
          <p:cNvPr id="18" name="Text 16"/>
          <p:cNvSpPr txBox="1"/>
          <p:nvPr/>
        </p:nvSpPr>
        <p:spPr>
          <a:xfrm>
            <a:off x="6281928" y="2788920"/>
            <a:ext cx="1472184" cy="1051560"/>
          </a:xfrm>
          <a:prstGeom prst="rect">
            <a:avLst/>
          </a:prstGeom>
          <a:noFill/>
          <a:ln/>
        </p:spPr>
        <p:txBody>
          <a:bodyPr wrap="square" lIns="0" tIns="0" rIns="0" bIns="0" rtlCol="0" anchor="t"/>
          <a:lstStyle/>
          <a:p>
            <a:pPr marL="0" indent="0" algn="ctr">
              <a:buNone/>
            </a:pPr>
            <a:r>
              <a:rPr lang="en-US" sz="1200" dirty="0">
                <a:solidFill>
                  <a:schemeClr val="tx1"/>
                </a:solidFill>
              </a:rPr>
              <a:t>Cupón 30 % de 278.35 (83.505 → HALF_UP)</a:t>
            </a:r>
            <a:endParaRPr lang="en-US" sz="1200" dirty="0"/>
          </a:p>
        </p:txBody>
      </p:sp>
      <p:sp>
        <p:nvSpPr>
          <p:cNvPr id="19" name="Shape 17"/>
          <p:cNvSpPr/>
          <p:nvPr/>
        </p:nvSpPr>
        <p:spPr>
          <a:xfrm>
            <a:off x="7872984" y="2926080"/>
            <a:ext cx="164592" cy="0"/>
          </a:xfrm>
          <a:prstGeom prst="line">
            <a:avLst/>
          </a:prstGeom>
          <a:noFill/>
          <a:ln w="22225">
            <a:solidFill>
              <a:srgbClr val="6C7A89"/>
            </a:solidFill>
            <a:prstDash val="solid"/>
            <a:tailEnd type="triangle"/>
          </a:ln>
        </p:spPr>
      </p:sp>
      <p:sp>
        <p:nvSpPr>
          <p:cNvPr id="20" name="Shape 18"/>
          <p:cNvSpPr/>
          <p:nvPr/>
        </p:nvSpPr>
        <p:spPr>
          <a:xfrm>
            <a:off x="8046720" y="1874520"/>
            <a:ext cx="1691640" cy="1783080"/>
          </a:xfrm>
          <a:prstGeom prst="roundRect">
            <a:avLst>
              <a:gd name="adj" fmla="val 4324"/>
            </a:avLst>
          </a:prstGeom>
          <a:solidFill>
            <a:schemeClr val="bg2"/>
          </a:solidFill>
          <a:ln/>
        </p:spPr>
      </p:sp>
      <p:sp>
        <p:nvSpPr>
          <p:cNvPr id="21" name="Text 19"/>
          <p:cNvSpPr txBox="1"/>
          <p:nvPr/>
        </p:nvSpPr>
        <p:spPr>
          <a:xfrm>
            <a:off x="8046720" y="2103120"/>
            <a:ext cx="1691640" cy="59436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+ 13.16</a:t>
            </a:r>
            <a:endParaRPr lang="en-US" sz="2600" dirty="0"/>
          </a:p>
        </p:txBody>
      </p:sp>
      <p:sp>
        <p:nvSpPr>
          <p:cNvPr id="22" name="Text 20"/>
          <p:cNvSpPr txBox="1"/>
          <p:nvPr/>
        </p:nvSpPr>
        <p:spPr>
          <a:xfrm>
            <a:off x="8156448" y="2788920"/>
            <a:ext cx="1472184" cy="1051560"/>
          </a:xfrm>
          <a:prstGeom prst="rect">
            <a:avLst/>
          </a:prstGeom>
          <a:noFill/>
          <a:ln/>
        </p:spPr>
        <p:txBody>
          <a:bodyPr wrap="square" lIns="0" tIns="0" rIns="0" bIns="0" rtlCol="0" anchor="t"/>
          <a:lstStyle/>
          <a:p>
            <a:pPr marL="0" indent="0" algn="ctr">
              <a:buNone/>
            </a:pPr>
            <a:r>
              <a:rPr lang="en-US" sz="1200" dirty="0">
                <a:solidFill>
                  <a:schemeClr val="tx1"/>
                </a:solidFill>
              </a:rPr>
              <a:t>Ajuste: bruto 125.16 &gt; tope 112.00</a:t>
            </a:r>
            <a:endParaRPr lang="en-US" sz="1200" dirty="0"/>
          </a:p>
        </p:txBody>
      </p:sp>
      <p:sp>
        <p:nvSpPr>
          <p:cNvPr id="23" name="Shape 21"/>
          <p:cNvSpPr/>
          <p:nvPr/>
        </p:nvSpPr>
        <p:spPr>
          <a:xfrm>
            <a:off x="9747504" y="2926080"/>
            <a:ext cx="164592" cy="0"/>
          </a:xfrm>
          <a:prstGeom prst="line">
            <a:avLst/>
          </a:prstGeom>
          <a:noFill/>
          <a:ln w="22225">
            <a:solidFill>
              <a:srgbClr val="6C7A89"/>
            </a:solidFill>
            <a:prstDash val="solid"/>
            <a:tailEnd type="triangle"/>
          </a:ln>
        </p:spPr>
      </p:sp>
      <p:sp>
        <p:nvSpPr>
          <p:cNvPr id="24" name="Shape 22"/>
          <p:cNvSpPr/>
          <p:nvPr/>
        </p:nvSpPr>
        <p:spPr>
          <a:xfrm>
            <a:off x="9921240" y="1874520"/>
            <a:ext cx="1691640" cy="1783080"/>
          </a:xfrm>
          <a:prstGeom prst="roundRect">
            <a:avLst>
              <a:gd name="adj" fmla="val 4324"/>
            </a:avLst>
          </a:prstGeom>
          <a:solidFill>
            <a:schemeClr val="accent2"/>
          </a:solidFill>
          <a:ln/>
        </p:spPr>
      </p:sp>
      <p:sp>
        <p:nvSpPr>
          <p:cNvPr id="25" name="Text 23"/>
          <p:cNvSpPr txBox="1"/>
          <p:nvPr/>
        </p:nvSpPr>
        <p:spPr>
          <a:xfrm>
            <a:off x="9921240" y="2103120"/>
            <a:ext cx="1691640" cy="594360"/>
          </a:xfrm>
          <a:prstGeom prst="rect">
            <a:avLst/>
          </a:prstGeom>
          <a:noFill/>
          <a:ln/>
        </p:spPr>
        <p:txBody>
          <a:bodyPr wrap="square" lIns="0" tIns="0" rIns="0" bIns="0" rtlCol="0" anchor="t"/>
          <a:lstStyle/>
          <a:p>
            <a:pPr marL="0" indent="0" algn="ctr">
              <a:buNone/>
            </a:pPr>
            <a:r>
              <a:rPr lang="en-US" sz="2600" b="1" dirty="0">
                <a:solidFill>
                  <a:schemeClr val="tx1"/>
                </a:solidFill>
                <a:latin typeface="Cambria" pitchFamily="34" charset="0"/>
                <a:ea typeface="Cambria" pitchFamily="34" charset="-122"/>
                <a:cs typeface="Cambria" pitchFamily="34" charset="-120"/>
              </a:rPr>
              <a:t>208.00</a:t>
            </a:r>
            <a:endParaRPr lang="en-US" sz="2600" dirty="0"/>
          </a:p>
        </p:txBody>
      </p:sp>
      <p:sp>
        <p:nvSpPr>
          <p:cNvPr id="26" name="Text 24"/>
          <p:cNvSpPr txBox="1"/>
          <p:nvPr/>
        </p:nvSpPr>
        <p:spPr>
          <a:xfrm>
            <a:off x="10030968" y="2788920"/>
            <a:ext cx="1472184" cy="1051560"/>
          </a:xfrm>
          <a:prstGeom prst="rect">
            <a:avLst/>
          </a:prstGeom>
          <a:noFill/>
          <a:ln/>
        </p:spPr>
        <p:txBody>
          <a:bodyPr wrap="square" lIns="0" tIns="0" rIns="0" bIns="0" rtlCol="0" anchor="t"/>
          <a:lstStyle/>
          <a:p>
            <a:pPr marL="0" indent="0" algn="ctr">
              <a:buNone/>
            </a:pPr>
            <a:r>
              <a:rPr lang="en-US" sz="1200" dirty="0">
                <a:solidFill>
                  <a:schemeClr val="tx1"/>
                </a:solidFill>
              </a:rPr>
              <a:t>Total · 35.00 % efectivo</a:t>
            </a:r>
            <a:endParaRPr lang="en-US" sz="1200" dirty="0"/>
          </a:p>
        </p:txBody>
      </p:sp>
      <p:sp>
        <p:nvSpPr>
          <p:cNvPr id="27" name="Shape 25"/>
          <p:cNvSpPr/>
          <p:nvPr/>
        </p:nvSpPr>
        <p:spPr>
          <a:xfrm>
            <a:off x="548640" y="4069080"/>
            <a:ext cx="5440680" cy="1234440"/>
          </a:xfrm>
          <a:prstGeom prst="roundRect">
            <a:avLst>
              <a:gd name="adj" fmla="val 5926"/>
            </a:avLst>
          </a:prstGeom>
          <a:solidFill>
            <a:schemeClr val="bg2"/>
          </a:solidFill>
          <a:ln/>
        </p:spPr>
      </p:sp>
      <p:sp>
        <p:nvSpPr>
          <p:cNvPr id="28" name="Text 26"/>
          <p:cNvSpPr txBox="1"/>
          <p:nvPr/>
        </p:nvSpPr>
        <p:spPr>
          <a:xfrm>
            <a:off x="777240" y="4178808"/>
            <a:ext cx="5029200" cy="1051560"/>
          </a:xfrm>
          <a:prstGeom prst="rect">
            <a:avLst/>
          </a:prstGeom>
          <a:noFill/>
          <a:ln/>
        </p:spPr>
        <p:txBody>
          <a:bodyPr wrap="square" lIns="0" tIns="0" rIns="0" bIns="0" rtlCol="0" anchor="t"/>
          <a:lstStyle/>
          <a:p>
            <a:pPr marL="0" indent="0">
              <a:buNone/>
            </a:pPr>
            <a:r>
              <a:rPr lang="en-US" sz="1600" b="1" dirty="0">
                <a:solidFill>
                  <a:schemeClr val="tx2"/>
                </a:solidFill>
              </a:rPr>
              <a:t>Redondeo por paso</a:t>
            </a:r>
            <a:endParaRPr lang="en-US" sz="1400" dirty="0"/>
          </a:p>
          <a:p>
            <a:pPr marL="0" indent="0">
              <a:buNone/>
            </a:pPr>
            <a:r>
              <a:rPr lang="en-US" sz="1400" dirty="0">
                <a:solidFill>
                  <a:schemeClr val="tx1"/>
                </a:solidFill>
              </a:rPr>
              <a:t>HALF_UP a 2 decimales en cada regla y línea, igual que el seed. Redondear solo al final cambiaría centavos.</a:t>
            </a:r>
            <a:endParaRPr lang="en-US" sz="1400" dirty="0"/>
          </a:p>
        </p:txBody>
      </p:sp>
      <p:sp>
        <p:nvSpPr>
          <p:cNvPr id="29" name="Shape 27"/>
          <p:cNvSpPr/>
          <p:nvPr/>
        </p:nvSpPr>
        <p:spPr>
          <a:xfrm>
            <a:off x="6263640" y="4069080"/>
            <a:ext cx="5440680" cy="1234440"/>
          </a:xfrm>
          <a:prstGeom prst="roundRect">
            <a:avLst>
              <a:gd name="adj" fmla="val 5926"/>
            </a:avLst>
          </a:prstGeom>
          <a:solidFill>
            <a:schemeClr val="accent2">
              <a:alpha val="22000"/>
            </a:schemeClr>
          </a:solidFill>
          <a:ln/>
        </p:spPr>
      </p:sp>
      <p:sp>
        <p:nvSpPr>
          <p:cNvPr id="30" name="Text 28"/>
          <p:cNvSpPr txBox="1"/>
          <p:nvPr/>
        </p:nvSpPr>
        <p:spPr>
          <a:xfrm>
            <a:off x="6492240" y="4178808"/>
            <a:ext cx="5029200" cy="1051560"/>
          </a:xfrm>
          <a:prstGeom prst="rect">
            <a:avLst/>
          </a:prstGeom>
          <a:noFill/>
          <a:ln/>
        </p:spPr>
        <p:txBody>
          <a:bodyPr wrap="square" lIns="0" tIns="0" rIns="0" bIns="0" rtlCol="0" anchor="t"/>
          <a:lstStyle/>
          <a:p>
            <a:pPr marL="0" indent="0">
              <a:buNone/>
            </a:pPr>
            <a:r>
              <a:rPr lang="en-US" sz="1600" b="1" dirty="0">
                <a:solidFill>
                  <a:schemeClr val="tx1"/>
                </a:solidFill>
              </a:rPr>
              <a:t>HU4 · capApplied = true</a:t>
            </a:r>
            <a:endParaRPr lang="en-US" sz="1400" dirty="0"/>
          </a:p>
          <a:p>
            <a:pPr marL="0" indent="0">
              <a:buNone/>
            </a:pPr>
            <a:r>
              <a:rPr lang="en-US" sz="1400" dirty="0">
                <a:solidFill>
                  <a:schemeClr val="tx1"/>
                </a:solidFill>
              </a:rPr>
              <a:t>«¡Enhorabuena! Has alcanzado el límite máximo de ahorro permitido (35%)» · lo verifican DiscountCapTest y CheckoutOrderTest</a:t>
            </a:r>
            <a:endParaRPr lang="en-US" sz="1400" dirty="0"/>
          </a:p>
        </p:txBody>
      </p:sp>
      <p:sp>
        <p:nvSpPr>
          <p:cNvPr id="31"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3657600" cy="1188720"/>
          </a:xfrm>
          <a:prstGeom prst="rect">
            <a:avLst/>
          </a:prstGeom>
          <a:noFill/>
          <a:ln/>
        </p:spPr>
        <p:txBody>
          <a:bodyPr wrap="square" rtlCol="0" anchor="b"/>
          <a:lstStyle/>
          <a:p>
            <a:pPr marL="0" indent="0">
              <a:buNone/>
            </a:pPr>
            <a:r>
              <a:rPr lang="en-US" sz="6600" b="1" dirty="0">
                <a:solidFill>
                  <a:schemeClr val="accent2"/>
                </a:solidFill>
                <a:latin typeface="Cambria" pitchFamily="34" charset="0"/>
                <a:ea typeface="Cambria" pitchFamily="34" charset="-122"/>
                <a:cs typeface="Cambria" pitchFamily="34" charset="-120"/>
              </a:rPr>
              <a:t>04</a:t>
            </a:r>
            <a:endParaRPr lang="en-US" sz="6600" dirty="0"/>
          </a:p>
        </p:txBody>
      </p:sp>
      <p:sp>
        <p:nvSpPr>
          <p:cNvPr id="3" name="Text 0"/>
          <p:cNvSpPr>
            <a:spLocks noGrp="1"/>
          </p:cNvSpPr>
          <p:nvPr>
            <p:ph type="title" idx="101" hasCustomPrompt="1"/>
          </p:nvPr>
        </p:nvSpPr>
        <p:spPr>
          <a:xfrm>
            <a:off x="731520" y="2788920"/>
            <a:ext cx="10698480" cy="1005840"/>
          </a:xfrm>
          <a:prstGeom prst="rect">
            <a:avLst/>
          </a:prstGeom>
          <a:noFill/>
          <a:ln/>
        </p:spPr>
        <p:txBody>
          <a:bodyPr wrap="square" rtlCol="0" anchor="t"/>
          <a:lstStyle/>
          <a:p>
            <a:pPr marL="0" indent="0" algn="l">
              <a:buNone/>
            </a:pPr>
            <a:r>
              <a:rPr lang="en-US" sz="4000" b="1" dirty="0">
                <a:solidFill>
                  <a:schemeClr val="bg1"/>
                </a:solidFill>
              </a:rPr>
              <a:t>Calidad: cobertura mínima del 80 %</a:t>
            </a:r>
            <a:endParaRPr lang="en-US" sz="4000" dirty="0"/>
          </a:p>
        </p:txBody>
      </p:sp>
      <p:sp>
        <p:nvSpPr>
          <p:cNvPr id="4" name="Text 0"/>
          <p:cNvSpPr>
            <a:spLocks noGrp="1"/>
          </p:cNvSpPr>
          <p:nvPr>
            <p:ph type="body" idx="102" hasCustomPrompt="1"/>
          </p:nvPr>
        </p:nvSpPr>
        <p:spPr>
          <a:xfrm>
            <a:off x="731520" y="3886200"/>
            <a:ext cx="9601200" cy="1280160"/>
          </a:xfrm>
          <a:prstGeom prst="rect">
            <a:avLst/>
          </a:prstGeom>
          <a:noFill/>
          <a:ln/>
        </p:spPr>
        <p:txBody>
          <a:bodyPr wrap="square" rtlCol="0" anchor="t"/>
          <a:lstStyle/>
          <a:p>
            <a:pPr marL="0" indent="0">
              <a:buNone/>
            </a:pPr>
            <a:r>
              <a:rPr lang="en-US" sz="1800" dirty="0">
                <a:solidFill>
                  <a:schemeClr val="bg2"/>
                </a:solidFill>
              </a:rPr>
              <a:t>Verificada en consola y convertida en puerta del build: si baja del 80 %, el comando falla</a:t>
            </a:r>
            <a:endParaRPr lang="en-US" sz="1800" dirty="0"/>
          </a:p>
        </p:txBody>
      </p:sp>
      <p:sp>
        <p:nvSpPr>
          <p:cNvPr id="5" name="Shape 3"/>
          <p:cNvSpPr/>
          <p:nvPr/>
        </p:nvSpPr>
        <p:spPr>
          <a:xfrm>
            <a:off x="731520" y="5486400"/>
            <a:ext cx="1088136" cy="502920"/>
          </a:xfrm>
          <a:prstGeom prst="roundRect">
            <a:avLst>
              <a:gd name="adj" fmla="val 49091"/>
            </a:avLst>
          </a:prstGeom>
          <a:solidFill>
            <a:schemeClr val="accent1"/>
          </a:solidFill>
          <a:ln/>
        </p:spPr>
      </p:sp>
      <p:sp>
        <p:nvSpPr>
          <p:cNvPr id="6" name="Text 4"/>
          <p:cNvSpPr txBox="1"/>
          <p:nvPr/>
        </p:nvSpPr>
        <p:spPr>
          <a:xfrm>
            <a:off x="731520" y="5486400"/>
            <a:ext cx="1088136" cy="502920"/>
          </a:xfrm>
          <a:prstGeom prst="rect">
            <a:avLst/>
          </a:prstGeom>
          <a:noFill/>
          <a:ln/>
        </p:spPr>
        <p:txBody>
          <a:bodyPr wrap="square" lIns="0" tIns="0" rIns="0" bIns="0" rtlCol="0" anchor="ctr"/>
          <a:lstStyle/>
          <a:p>
            <a:pPr marL="0" indent="0" algn="ctr">
              <a:buNone/>
            </a:pPr>
            <a:r>
              <a:rPr lang="en-US" sz="1400" b="1" dirty="0">
                <a:solidFill>
                  <a:schemeClr val="bg1"/>
                </a:solidFill>
              </a:rPr>
              <a:t>JaCoCo</a:t>
            </a:r>
            <a:endParaRPr lang="en-US" sz="1400" dirty="0"/>
          </a:p>
        </p:txBody>
      </p:sp>
      <p:sp>
        <p:nvSpPr>
          <p:cNvPr id="7" name="Shape 5"/>
          <p:cNvSpPr/>
          <p:nvPr/>
        </p:nvSpPr>
        <p:spPr>
          <a:xfrm>
            <a:off x="2048256" y="5486400"/>
            <a:ext cx="1613916" cy="502920"/>
          </a:xfrm>
          <a:prstGeom prst="roundRect">
            <a:avLst>
              <a:gd name="adj" fmla="val 49091"/>
            </a:avLst>
          </a:prstGeom>
          <a:solidFill>
            <a:schemeClr val="accent1"/>
          </a:solidFill>
          <a:ln/>
        </p:spPr>
      </p:sp>
      <p:sp>
        <p:nvSpPr>
          <p:cNvPr id="8" name="Text 6"/>
          <p:cNvSpPr txBox="1"/>
          <p:nvPr/>
        </p:nvSpPr>
        <p:spPr>
          <a:xfrm>
            <a:off x="2048256" y="5486400"/>
            <a:ext cx="1613916" cy="502920"/>
          </a:xfrm>
          <a:prstGeom prst="rect">
            <a:avLst/>
          </a:prstGeom>
          <a:noFill/>
          <a:ln/>
        </p:spPr>
        <p:txBody>
          <a:bodyPr wrap="square" lIns="0" tIns="0" rIns="0" bIns="0" rtlCol="0" anchor="ctr"/>
          <a:lstStyle/>
          <a:p>
            <a:pPr marL="0" indent="0" algn="ctr">
              <a:buNone/>
            </a:pPr>
            <a:r>
              <a:rPr lang="en-US" sz="1400" b="1" dirty="0">
                <a:solidFill>
                  <a:schemeClr val="bg1"/>
                </a:solidFill>
              </a:rPr>
              <a:t>Vitest + v8</a:t>
            </a:r>
            <a:endParaRPr lang="en-US" sz="1400" dirty="0"/>
          </a:p>
        </p:txBody>
      </p:sp>
      <p:sp>
        <p:nvSpPr>
          <p:cNvPr id="9" name="Shape 7"/>
          <p:cNvSpPr/>
          <p:nvPr/>
        </p:nvSpPr>
        <p:spPr>
          <a:xfrm>
            <a:off x="3890772" y="5486400"/>
            <a:ext cx="2244852" cy="502920"/>
          </a:xfrm>
          <a:prstGeom prst="roundRect">
            <a:avLst>
              <a:gd name="adj" fmla="val 49091"/>
            </a:avLst>
          </a:prstGeom>
          <a:solidFill>
            <a:schemeClr val="accent1"/>
          </a:solidFill>
          <a:ln/>
        </p:spPr>
      </p:sp>
      <p:sp>
        <p:nvSpPr>
          <p:cNvPr id="10" name="Text 8"/>
          <p:cNvSpPr txBox="1"/>
          <p:nvPr/>
        </p:nvSpPr>
        <p:spPr>
          <a:xfrm>
            <a:off x="3890772" y="5486400"/>
            <a:ext cx="2244852" cy="502920"/>
          </a:xfrm>
          <a:prstGeom prst="rect">
            <a:avLst/>
          </a:prstGeom>
          <a:noFill/>
          <a:ln/>
        </p:spPr>
        <p:txBody>
          <a:bodyPr wrap="square" lIns="0" tIns="0" rIns="0" bIns="0" rtlCol="0" anchor="ctr"/>
          <a:lstStyle/>
          <a:p>
            <a:pPr marL="0" indent="0" algn="ctr">
              <a:buNone/>
            </a:pPr>
            <a:r>
              <a:rPr lang="en-US" sz="1400" b="1" dirty="0">
                <a:solidFill>
                  <a:schemeClr val="bg1"/>
                </a:solidFill>
              </a:rPr>
              <a:t>Salida de consola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Cobertura alcanzada en backend y frontend</a:t>
            </a:r>
            <a:endParaRPr lang="en-US" sz="3200" dirty="0"/>
          </a:p>
        </p:txBody>
      </p:sp>
      <p:graphicFrame>
        <p:nvGraphicFramePr>
          <p:cNvPr id="3" name="Chart 0"/>
          <p:cNvGraphicFramePr/>
          <p:nvPr/>
        </p:nvGraphicFramePr>
        <p:xfrm>
          <a:off x="548640" y="1280160"/>
          <a:ext cx="694944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863840" y="1325880"/>
            <a:ext cx="3840480" cy="1463040"/>
          </a:xfrm>
          <a:prstGeom prst="roundRect">
            <a:avLst>
              <a:gd name="adj" fmla="val 5000"/>
            </a:avLst>
          </a:prstGeom>
          <a:solidFill>
            <a:schemeClr val="bg2"/>
          </a:solidFill>
          <a:ln/>
        </p:spPr>
      </p:sp>
      <p:sp>
        <p:nvSpPr>
          <p:cNvPr id="5" name="Text 2"/>
          <p:cNvSpPr txBox="1"/>
          <p:nvPr/>
        </p:nvSpPr>
        <p:spPr>
          <a:xfrm>
            <a:off x="8046720" y="1435608"/>
            <a:ext cx="3474720" cy="82296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104</a:t>
            </a:r>
            <a:endParaRPr lang="en-US" sz="4800" dirty="0"/>
          </a:p>
        </p:txBody>
      </p:sp>
      <p:sp>
        <p:nvSpPr>
          <p:cNvPr id="6" name="Text 3"/>
          <p:cNvSpPr txBox="1"/>
          <p:nvPr/>
        </p:nvSpPr>
        <p:spPr>
          <a:xfrm>
            <a:off x="8046720" y="2258568"/>
            <a:ext cx="3474720" cy="365760"/>
          </a:xfrm>
          <a:prstGeom prst="rect">
            <a:avLst/>
          </a:prstGeom>
          <a:noFill/>
          <a:ln/>
        </p:spPr>
        <p:txBody>
          <a:bodyPr wrap="square" lIns="0" tIns="0" rIns="0" bIns="0" rtlCol="0" anchor="t"/>
          <a:lstStyle/>
          <a:p>
            <a:pPr marL="0" indent="0">
              <a:buNone/>
            </a:pPr>
            <a:r>
              <a:rPr lang="en-US" sz="1400" dirty="0">
                <a:solidFill>
                  <a:schemeClr val="tx1"/>
                </a:solidFill>
              </a:rPr>
              <a:t>pruebas en el backend</a:t>
            </a:r>
            <a:endParaRPr lang="en-US" sz="1400" dirty="0"/>
          </a:p>
        </p:txBody>
      </p:sp>
      <p:sp>
        <p:nvSpPr>
          <p:cNvPr id="7" name="Shape 4"/>
          <p:cNvSpPr/>
          <p:nvPr/>
        </p:nvSpPr>
        <p:spPr>
          <a:xfrm>
            <a:off x="7863840" y="2971800"/>
            <a:ext cx="3840480" cy="1463040"/>
          </a:xfrm>
          <a:prstGeom prst="roundRect">
            <a:avLst>
              <a:gd name="adj" fmla="val 5000"/>
            </a:avLst>
          </a:prstGeom>
          <a:solidFill>
            <a:schemeClr val="bg2"/>
          </a:solidFill>
          <a:ln/>
        </p:spPr>
      </p:sp>
      <p:sp>
        <p:nvSpPr>
          <p:cNvPr id="8" name="Text 5"/>
          <p:cNvSpPr txBox="1"/>
          <p:nvPr/>
        </p:nvSpPr>
        <p:spPr>
          <a:xfrm>
            <a:off x="8046720" y="3081528"/>
            <a:ext cx="3474720" cy="82296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55</a:t>
            </a:r>
            <a:endParaRPr lang="en-US" sz="4800" dirty="0"/>
          </a:p>
        </p:txBody>
      </p:sp>
      <p:sp>
        <p:nvSpPr>
          <p:cNvPr id="9" name="Text 6"/>
          <p:cNvSpPr txBox="1"/>
          <p:nvPr/>
        </p:nvSpPr>
        <p:spPr>
          <a:xfrm>
            <a:off x="8046720" y="3904488"/>
            <a:ext cx="3474720" cy="365760"/>
          </a:xfrm>
          <a:prstGeom prst="rect">
            <a:avLst/>
          </a:prstGeom>
          <a:noFill/>
          <a:ln/>
        </p:spPr>
        <p:txBody>
          <a:bodyPr wrap="square" lIns="0" tIns="0" rIns="0" bIns="0" rtlCol="0" anchor="t"/>
          <a:lstStyle/>
          <a:p>
            <a:pPr marL="0" indent="0">
              <a:buNone/>
            </a:pPr>
            <a:r>
              <a:rPr lang="en-US" sz="1400" dirty="0">
                <a:solidFill>
                  <a:schemeClr val="tx1"/>
                </a:solidFill>
              </a:rPr>
              <a:t>pruebas en el frontend</a:t>
            </a:r>
            <a:endParaRPr lang="en-US" sz="1400" dirty="0"/>
          </a:p>
        </p:txBody>
      </p:sp>
      <p:sp>
        <p:nvSpPr>
          <p:cNvPr id="10" name="Shape 7"/>
          <p:cNvSpPr/>
          <p:nvPr/>
        </p:nvSpPr>
        <p:spPr>
          <a:xfrm>
            <a:off x="7863840" y="4617720"/>
            <a:ext cx="3840480" cy="1463040"/>
          </a:xfrm>
          <a:prstGeom prst="roundRect">
            <a:avLst>
              <a:gd name="adj" fmla="val 5000"/>
            </a:avLst>
          </a:prstGeom>
          <a:solidFill>
            <a:schemeClr val="accent2"/>
          </a:solidFill>
          <a:ln/>
        </p:spPr>
      </p:sp>
      <p:sp>
        <p:nvSpPr>
          <p:cNvPr id="11" name="Text 8"/>
          <p:cNvSpPr txBox="1"/>
          <p:nvPr/>
        </p:nvSpPr>
        <p:spPr>
          <a:xfrm>
            <a:off x="8046720" y="4727448"/>
            <a:ext cx="3474720" cy="822960"/>
          </a:xfrm>
          <a:prstGeom prst="rect">
            <a:avLst/>
          </a:prstGeom>
          <a:noFill/>
          <a:ln/>
        </p:spPr>
        <p:txBody>
          <a:bodyPr wrap="square" lIns="0" tIns="0" rIns="0" bIns="0" rtlCol="0" anchor="t"/>
          <a:lstStyle/>
          <a:p>
            <a:pPr marL="0" indent="0">
              <a:buNone/>
            </a:pPr>
            <a:r>
              <a:rPr lang="en-US" sz="4800" b="1" dirty="0">
                <a:solidFill>
                  <a:schemeClr val="tx1"/>
                </a:solidFill>
                <a:latin typeface="Cambria" pitchFamily="34" charset="0"/>
                <a:ea typeface="Cambria" pitchFamily="34" charset="-122"/>
                <a:cs typeface="Cambria" pitchFamily="34" charset="-120"/>
              </a:rPr>
              <a:t>80 %</a:t>
            </a:r>
            <a:endParaRPr lang="en-US" sz="4800" dirty="0"/>
          </a:p>
        </p:txBody>
      </p:sp>
      <p:sp>
        <p:nvSpPr>
          <p:cNvPr id="12" name="Text 9"/>
          <p:cNvSpPr txBox="1"/>
          <p:nvPr/>
        </p:nvSpPr>
        <p:spPr>
          <a:xfrm>
            <a:off x="8046720" y="5550408"/>
            <a:ext cx="3474720" cy="365760"/>
          </a:xfrm>
          <a:prstGeom prst="rect">
            <a:avLst/>
          </a:prstGeom>
          <a:noFill/>
          <a:ln/>
        </p:spPr>
        <p:txBody>
          <a:bodyPr wrap="square" lIns="0" tIns="0" rIns="0" bIns="0" rtlCol="0" anchor="t"/>
          <a:lstStyle/>
          <a:p>
            <a:pPr marL="0" indent="0">
              <a:buNone/>
            </a:pPr>
            <a:r>
              <a:rPr lang="en-US" sz="1400" dirty="0">
                <a:solidFill>
                  <a:schemeClr val="tx1"/>
                </a:solidFill>
              </a:rPr>
              <a:t>umbral que bloquea el build</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Verificación en consola</a:t>
            </a:r>
            <a:endParaRPr lang="en-US" sz="3200" dirty="0"/>
          </a:p>
        </p:txBody>
      </p:sp>
      <p:sp>
        <p:nvSpPr>
          <p:cNvPr id="3" name="Shape 1"/>
          <p:cNvSpPr/>
          <p:nvPr/>
        </p:nvSpPr>
        <p:spPr>
          <a:xfrm>
            <a:off x="548640" y="1325880"/>
            <a:ext cx="5486400" cy="2331720"/>
          </a:xfrm>
          <a:prstGeom prst="roundRect">
            <a:avLst>
              <a:gd name="adj" fmla="val 3137"/>
            </a:avLst>
          </a:prstGeom>
          <a:solidFill>
            <a:schemeClr val="accent6"/>
          </a:solidFill>
          <a:ln/>
        </p:spPr>
      </p:sp>
      <p:sp>
        <p:nvSpPr>
          <p:cNvPr id="4" name="Text 2"/>
          <p:cNvSpPr txBox="1"/>
          <p:nvPr/>
        </p:nvSpPr>
        <p:spPr>
          <a:xfrm>
            <a:off x="731520" y="1417320"/>
            <a:ext cx="5120640" cy="274320"/>
          </a:xfrm>
          <a:prstGeom prst="rect">
            <a:avLst/>
          </a:prstGeom>
          <a:noFill/>
          <a:ln/>
        </p:spPr>
        <p:txBody>
          <a:bodyPr wrap="square" lIns="0" tIns="0" rIns="0" bIns="0" rtlCol="0" anchor="t"/>
          <a:lstStyle/>
          <a:p>
            <a:pPr marL="0" indent="0">
              <a:buNone/>
            </a:pPr>
            <a:r>
              <a:rPr lang="en-US" sz="1200" b="1" dirty="0">
                <a:solidFill>
                  <a:schemeClr val="accent2"/>
                </a:solidFill>
              </a:rPr>
              <a:t>Backend · apps/backend</a:t>
            </a:r>
            <a:endParaRPr lang="en-US" sz="1200" dirty="0"/>
          </a:p>
        </p:txBody>
      </p:sp>
      <p:sp>
        <p:nvSpPr>
          <p:cNvPr id="5" name="Text 3"/>
          <p:cNvSpPr txBox="1"/>
          <p:nvPr/>
        </p:nvSpPr>
        <p:spPr>
          <a:xfrm>
            <a:off x="731520" y="1783080"/>
            <a:ext cx="5166360" cy="1783080"/>
          </a:xfrm>
          <a:prstGeom prst="rect">
            <a:avLst/>
          </a:prstGeom>
          <a:noFill/>
          <a:ln/>
        </p:spPr>
        <p:txBody>
          <a:bodyPr wrap="square" lIns="0" tIns="0" rIns="0" bIns="0" rtlCol="0" anchor="t"/>
          <a:lstStyle/>
          <a:p>
            <a:pPr marL="0" indent="0">
              <a:buNone/>
            </a:pPr>
            <a:r>
              <a:rPr lang="en-US" sz="1100" dirty="0">
                <a:solidFill>
                  <a:schemeClr val="accent2"/>
                </a:solidFill>
                <a:latin typeface="Courier New" pitchFamily="34" charset="0"/>
                <a:ea typeface="Courier New" pitchFamily="34" charset="-122"/>
                <a:cs typeface="Courier New" pitchFamily="34" charset="-120"/>
              </a:rPr>
              <a:t>PS&gt; mvn clean verify</a:t>
            </a:r>
            <a:endParaRPr lang="en-US" sz="1100" dirty="0"/>
          </a:p>
          <a:p>
            <a:pPr marL="0" indent="0">
              <a:buNone/>
            </a:pP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[INFO] Tests run: 104, Failures: 0, Errors: 0, Skipped: 0</a:t>
            </a: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[INFO] --- jacoco:0.8.12:report (report) ---</a:t>
            </a: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[INFO] --- jacoco:0.8.12:check (check) ---</a:t>
            </a:r>
            <a:endParaRPr lang="en-US" sz="1100" dirty="0"/>
          </a:p>
          <a:p>
            <a:pPr marL="0" indent="0">
              <a:buNone/>
            </a:pPr>
            <a:r>
              <a:rPr lang="en-US" sz="1100" dirty="0">
                <a:solidFill>
                  <a:srgbClr val="7FD8A6"/>
                </a:solidFill>
                <a:latin typeface="Courier New" pitchFamily="34" charset="0"/>
                <a:ea typeface="Courier New" pitchFamily="34" charset="-122"/>
                <a:cs typeface="Courier New" pitchFamily="34" charset="-120"/>
              </a:rPr>
              <a:t>[INFO] All coverage checks have been met.</a:t>
            </a:r>
            <a:endParaRPr lang="en-US" sz="1100" dirty="0"/>
          </a:p>
          <a:p>
            <a:pPr marL="0" indent="0">
              <a:buNone/>
            </a:pPr>
            <a:r>
              <a:rPr lang="en-US" sz="1100" dirty="0">
                <a:solidFill>
                  <a:srgbClr val="7FD8A6"/>
                </a:solidFill>
                <a:latin typeface="Courier New" pitchFamily="34" charset="0"/>
                <a:ea typeface="Courier New" pitchFamily="34" charset="-122"/>
                <a:cs typeface="Courier New" pitchFamily="34" charset="-120"/>
              </a:rPr>
              <a:t>[INFO] BUILD SUCCESS</a:t>
            </a:r>
            <a:endParaRPr lang="en-US" sz="1100" dirty="0"/>
          </a:p>
        </p:txBody>
      </p:sp>
      <p:sp>
        <p:nvSpPr>
          <p:cNvPr id="6" name="Shape 4"/>
          <p:cNvSpPr/>
          <p:nvPr/>
        </p:nvSpPr>
        <p:spPr>
          <a:xfrm>
            <a:off x="6217920" y="1325880"/>
            <a:ext cx="5486400" cy="2331720"/>
          </a:xfrm>
          <a:prstGeom prst="roundRect">
            <a:avLst>
              <a:gd name="adj" fmla="val 3137"/>
            </a:avLst>
          </a:prstGeom>
          <a:solidFill>
            <a:schemeClr val="accent6"/>
          </a:solidFill>
          <a:ln/>
        </p:spPr>
      </p:sp>
      <p:sp>
        <p:nvSpPr>
          <p:cNvPr id="7" name="Text 5"/>
          <p:cNvSpPr txBox="1"/>
          <p:nvPr/>
        </p:nvSpPr>
        <p:spPr>
          <a:xfrm>
            <a:off x="6400800" y="1417320"/>
            <a:ext cx="5120640" cy="274320"/>
          </a:xfrm>
          <a:prstGeom prst="rect">
            <a:avLst/>
          </a:prstGeom>
          <a:noFill/>
          <a:ln/>
        </p:spPr>
        <p:txBody>
          <a:bodyPr wrap="square" lIns="0" tIns="0" rIns="0" bIns="0" rtlCol="0" anchor="t"/>
          <a:lstStyle/>
          <a:p>
            <a:pPr marL="0" indent="0">
              <a:buNone/>
            </a:pPr>
            <a:r>
              <a:rPr lang="en-US" sz="1200" b="1" dirty="0">
                <a:solidFill>
                  <a:schemeClr val="accent2"/>
                </a:solidFill>
              </a:rPr>
              <a:t>Frontend · apps/frontend</a:t>
            </a:r>
            <a:endParaRPr lang="en-US" sz="1200" dirty="0"/>
          </a:p>
        </p:txBody>
      </p:sp>
      <p:sp>
        <p:nvSpPr>
          <p:cNvPr id="8" name="Text 6"/>
          <p:cNvSpPr txBox="1"/>
          <p:nvPr/>
        </p:nvSpPr>
        <p:spPr>
          <a:xfrm>
            <a:off x="6400800" y="1783080"/>
            <a:ext cx="5166360" cy="1783080"/>
          </a:xfrm>
          <a:prstGeom prst="rect">
            <a:avLst/>
          </a:prstGeom>
          <a:noFill/>
          <a:ln/>
        </p:spPr>
        <p:txBody>
          <a:bodyPr wrap="square" lIns="0" tIns="0" rIns="0" bIns="0" rtlCol="0" anchor="t"/>
          <a:lstStyle/>
          <a:p>
            <a:pPr marL="0" indent="0">
              <a:buNone/>
            </a:pPr>
            <a:r>
              <a:rPr lang="en-US" sz="1100" dirty="0">
                <a:solidFill>
                  <a:schemeClr val="accent2"/>
                </a:solidFill>
                <a:latin typeface="Courier New" pitchFamily="34" charset="0"/>
                <a:ea typeface="Courier New" pitchFamily="34" charset="-122"/>
                <a:cs typeface="Courier New" pitchFamily="34" charset="-120"/>
              </a:rPr>
              <a:t>PS&gt; npm run test:coverage</a:t>
            </a:r>
            <a:endParaRPr lang="en-US" sz="1100" dirty="0"/>
          </a:p>
          <a:p>
            <a:pPr marL="0" indent="0">
              <a:buNone/>
            </a:pPr>
            <a:endParaRPr lang="en-US" sz="1100" dirty="0"/>
          </a:p>
          <a:p>
            <a:pPr marL="0" indent="0">
              <a:buNone/>
            </a:pPr>
            <a:r>
              <a:rPr lang="en-US" sz="1100" dirty="0">
                <a:solidFill>
                  <a:srgbClr val="7FD8A6"/>
                </a:solidFill>
                <a:latin typeface="Courier New" pitchFamily="34" charset="0"/>
                <a:ea typeface="Courier New" pitchFamily="34" charset="-122"/>
                <a:cs typeface="Courier New" pitchFamily="34" charset="-120"/>
              </a:rPr>
              <a:t> Test Files  12 passed (12)</a:t>
            </a:r>
            <a:endParaRPr lang="en-US" sz="1100" dirty="0"/>
          </a:p>
          <a:p>
            <a:pPr marL="0" indent="0">
              <a:buNone/>
            </a:pPr>
            <a:r>
              <a:rPr lang="en-US" sz="1100" dirty="0">
                <a:solidFill>
                  <a:srgbClr val="7FD8A6"/>
                </a:solidFill>
                <a:latin typeface="Courier New" pitchFamily="34" charset="0"/>
                <a:ea typeface="Courier New" pitchFamily="34" charset="-122"/>
                <a:cs typeface="Courier New" pitchFamily="34" charset="-120"/>
              </a:rPr>
              <a:t>      Tests  55 passed (55)</a:t>
            </a: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Statements   : 99.28% ( 276/278 )</a:t>
            </a: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Branches     : 96.61% ( 171/177 )</a:t>
            </a: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Functions    : 100% ( 74/74 )</a:t>
            </a:r>
            <a:endParaRPr lang="en-US" sz="1100" dirty="0"/>
          </a:p>
          <a:p>
            <a:pPr marL="0" indent="0">
              <a:buNone/>
            </a:pPr>
            <a:r>
              <a:rPr lang="en-US" sz="1100" dirty="0">
                <a:solidFill>
                  <a:schemeClr val="bg2"/>
                </a:solidFill>
                <a:latin typeface="Courier New" pitchFamily="34" charset="0"/>
                <a:ea typeface="Courier New" pitchFamily="34" charset="-122"/>
                <a:cs typeface="Courier New" pitchFamily="34" charset="-120"/>
              </a:rPr>
              <a:t>Lines        : 99.03% ( 206/208 )</a:t>
            </a:r>
            <a:endParaRPr lang="en-US" sz="1100" dirty="0"/>
          </a:p>
        </p:txBody>
      </p:sp>
      <p:sp>
        <p:nvSpPr>
          <p:cNvPr id="9" name="Shape 7"/>
          <p:cNvSpPr/>
          <p:nvPr/>
        </p:nvSpPr>
        <p:spPr>
          <a:xfrm>
            <a:off x="548640" y="3977640"/>
            <a:ext cx="11155680" cy="1554480"/>
          </a:xfrm>
          <a:prstGeom prst="roundRect">
            <a:avLst>
              <a:gd name="adj" fmla="val 4706"/>
            </a:avLst>
          </a:prstGeom>
          <a:solidFill>
            <a:schemeClr val="bg2"/>
          </a:solidFill>
          <a:ln/>
        </p:spPr>
      </p:sp>
      <p:sp>
        <p:nvSpPr>
          <p:cNvPr id="10" name="Text 8"/>
          <p:cNvSpPr txBox="1"/>
          <p:nvPr/>
        </p:nvSpPr>
        <p:spPr>
          <a:xfrm>
            <a:off x="731520" y="4114800"/>
            <a:ext cx="10789920" cy="320040"/>
          </a:xfrm>
          <a:prstGeom prst="rect">
            <a:avLst/>
          </a:prstGeom>
          <a:noFill/>
          <a:ln/>
        </p:spPr>
        <p:txBody>
          <a:bodyPr wrap="square" lIns="0" tIns="0" rIns="0" bIns="0" rtlCol="0" anchor="t"/>
          <a:lstStyle/>
          <a:p>
            <a:pPr marL="0" indent="0">
              <a:buNone/>
            </a:pPr>
            <a:r>
              <a:rPr lang="en-US" sz="1500" b="1" dirty="0">
                <a:solidFill>
                  <a:schemeClr val="accent5"/>
                </a:solidFill>
              </a:rPr>
              <a:t>Demostración: el umbral bloquea de verdad</a:t>
            </a:r>
            <a:endParaRPr lang="en-US" sz="1500" dirty="0"/>
          </a:p>
        </p:txBody>
      </p:sp>
      <p:sp>
        <p:nvSpPr>
          <p:cNvPr id="11" name="Text 9"/>
          <p:cNvSpPr txBox="1"/>
          <p:nvPr/>
        </p:nvSpPr>
        <p:spPr>
          <a:xfrm>
            <a:off x="731520" y="4526280"/>
            <a:ext cx="10789920" cy="868680"/>
          </a:xfrm>
          <a:prstGeom prst="rect">
            <a:avLst/>
          </a:prstGeom>
          <a:noFill/>
          <a:ln/>
        </p:spPr>
        <p:txBody>
          <a:bodyPr wrap="square" lIns="0" tIns="0" rIns="0" bIns="0" rtlCol="0" anchor="t"/>
          <a:lstStyle/>
          <a:p>
            <a:pPr marL="0" indent="0">
              <a:spcAft>
                <a:spcPts val="800"/>
              </a:spcAft>
              <a:buNone/>
            </a:pPr>
            <a:r>
              <a:rPr lang="en-US" sz="1300" dirty="0">
                <a:solidFill>
                  <a:schemeClr val="tx1"/>
                </a:solidFill>
                <a:latin typeface="Courier New" pitchFamily="34" charset="0"/>
                <a:ea typeface="Courier New" pitchFamily="34" charset="-122"/>
                <a:cs typeface="Courier New" pitchFamily="34" charset="-120"/>
              </a:rPr>
              <a:t>mvn verify -Djacoco.minimum.coverage=0.99  →  Coverage checks have not been met · BUILD FAILURE</a:t>
            </a:r>
            <a:endParaRPr lang="en-US" sz="1300" dirty="0"/>
          </a:p>
          <a:p>
            <a:pPr marL="0" indent="0">
              <a:spcAft>
                <a:spcPts val="800"/>
              </a:spcAft>
              <a:buNone/>
            </a:pPr>
            <a:r>
              <a:rPr lang="en-US" sz="1300" dirty="0">
                <a:solidFill>
                  <a:schemeClr val="tx1"/>
                </a:solidFill>
                <a:latin typeface="Courier New" pitchFamily="34" charset="0"/>
                <a:ea typeface="Courier New" pitchFamily="34" charset="-122"/>
                <a:cs typeface="Courier New" pitchFamily="34" charset="-120"/>
              </a:rPr>
              <a:t>coverageThresholds 99.9  →  ERROR: Coverage for statements (99.28%) does not meet global threshold (99.9%)</a:t>
            </a:r>
            <a:endParaRPr lang="en-US" sz="13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3657600" cy="1188720"/>
          </a:xfrm>
          <a:prstGeom prst="rect">
            <a:avLst/>
          </a:prstGeom>
          <a:noFill/>
          <a:ln/>
        </p:spPr>
        <p:txBody>
          <a:bodyPr wrap="square" rtlCol="0" anchor="b"/>
          <a:lstStyle/>
          <a:p>
            <a:pPr marL="0" indent="0">
              <a:buNone/>
            </a:pPr>
            <a:r>
              <a:rPr lang="en-US" sz="6600" b="1" dirty="0">
                <a:solidFill>
                  <a:schemeClr val="accent2"/>
                </a:solidFill>
                <a:latin typeface="Cambria" pitchFamily="34" charset="0"/>
                <a:ea typeface="Cambria" pitchFamily="34" charset="-122"/>
                <a:cs typeface="Cambria" pitchFamily="34" charset="-120"/>
              </a:rPr>
              <a:t>05</a:t>
            </a:r>
            <a:endParaRPr lang="en-US" sz="6600" dirty="0"/>
          </a:p>
        </p:txBody>
      </p:sp>
      <p:sp>
        <p:nvSpPr>
          <p:cNvPr id="3" name="Text 0"/>
          <p:cNvSpPr>
            <a:spLocks noGrp="1"/>
          </p:cNvSpPr>
          <p:nvPr>
            <p:ph type="title" idx="101" hasCustomPrompt="1"/>
          </p:nvPr>
        </p:nvSpPr>
        <p:spPr>
          <a:xfrm>
            <a:off x="731520" y="2788920"/>
            <a:ext cx="10698480" cy="1005840"/>
          </a:xfrm>
          <a:prstGeom prst="rect">
            <a:avLst/>
          </a:prstGeom>
          <a:noFill/>
          <a:ln/>
        </p:spPr>
        <p:txBody>
          <a:bodyPr wrap="square" rtlCol="0" anchor="t"/>
          <a:lstStyle/>
          <a:p>
            <a:pPr marL="0" indent="0" algn="l">
              <a:buNone/>
            </a:pPr>
            <a:r>
              <a:rPr lang="en-US" sz="4000" b="1" dirty="0">
                <a:solidFill>
                  <a:schemeClr val="bg1"/>
                </a:solidFill>
              </a:rPr>
              <a:t>Defensa de docs/ia.md</a:t>
            </a:r>
            <a:endParaRPr lang="en-US" sz="4000" dirty="0"/>
          </a:p>
        </p:txBody>
      </p:sp>
      <p:sp>
        <p:nvSpPr>
          <p:cNvPr id="4" name="Text 0"/>
          <p:cNvSpPr>
            <a:spLocks noGrp="1"/>
          </p:cNvSpPr>
          <p:nvPr>
            <p:ph type="body" idx="102" hasCustomPrompt="1"/>
          </p:nvPr>
        </p:nvSpPr>
        <p:spPr>
          <a:xfrm>
            <a:off x="731520" y="3886200"/>
            <a:ext cx="9601200" cy="1280160"/>
          </a:xfrm>
          <a:prstGeom prst="rect">
            <a:avLst/>
          </a:prstGeom>
          <a:noFill/>
          <a:ln/>
        </p:spPr>
        <p:txBody>
          <a:bodyPr wrap="square" rtlCol="0" anchor="t"/>
          <a:lstStyle/>
          <a:p>
            <a:pPr marL="0" indent="0">
              <a:buNone/>
            </a:pPr>
            <a:r>
              <a:rPr lang="en-US" sz="1800" dirty="0">
                <a:solidFill>
                  <a:schemeClr val="bg2"/>
                </a:solidFill>
              </a:rPr>
              <a:t>Agente utilizado, prompts y por qué se corrigieron las sugerencias erróneas de la IA</a:t>
            </a:r>
            <a:endParaRPr lang="en-US" sz="1800" dirty="0"/>
          </a:p>
        </p:txBody>
      </p:sp>
      <p:sp>
        <p:nvSpPr>
          <p:cNvPr id="5" name="Shape 3"/>
          <p:cNvSpPr/>
          <p:nvPr/>
        </p:nvSpPr>
        <p:spPr>
          <a:xfrm>
            <a:off x="731520" y="5486400"/>
            <a:ext cx="1088136" cy="502920"/>
          </a:xfrm>
          <a:prstGeom prst="roundRect">
            <a:avLst>
              <a:gd name="adj" fmla="val 49091"/>
            </a:avLst>
          </a:prstGeom>
          <a:solidFill>
            <a:schemeClr val="accent1"/>
          </a:solidFill>
          <a:ln/>
        </p:spPr>
      </p:sp>
      <p:sp>
        <p:nvSpPr>
          <p:cNvPr id="6" name="Text 4"/>
          <p:cNvSpPr txBox="1"/>
          <p:nvPr/>
        </p:nvSpPr>
        <p:spPr>
          <a:xfrm>
            <a:off x="731520" y="5486400"/>
            <a:ext cx="1088136" cy="502920"/>
          </a:xfrm>
          <a:prstGeom prst="rect">
            <a:avLst/>
          </a:prstGeom>
          <a:noFill/>
          <a:ln/>
        </p:spPr>
        <p:txBody>
          <a:bodyPr wrap="square" lIns="0" tIns="0" rIns="0" bIns="0" rtlCol="0" anchor="ctr"/>
          <a:lstStyle/>
          <a:p>
            <a:pPr marL="0" indent="0" algn="ctr">
              <a:buNone/>
            </a:pPr>
            <a:r>
              <a:rPr lang="en-US" sz="1400" b="1" dirty="0">
                <a:solidFill>
                  <a:schemeClr val="bg1"/>
                </a:solidFill>
              </a:rPr>
              <a:t>Agente</a:t>
            </a:r>
            <a:endParaRPr lang="en-US" sz="1400" dirty="0"/>
          </a:p>
        </p:txBody>
      </p:sp>
      <p:sp>
        <p:nvSpPr>
          <p:cNvPr id="7" name="Shape 5"/>
          <p:cNvSpPr/>
          <p:nvPr/>
        </p:nvSpPr>
        <p:spPr>
          <a:xfrm>
            <a:off x="2048256" y="5486400"/>
            <a:ext cx="1193292" cy="502920"/>
          </a:xfrm>
          <a:prstGeom prst="roundRect">
            <a:avLst>
              <a:gd name="adj" fmla="val 49091"/>
            </a:avLst>
          </a:prstGeom>
          <a:solidFill>
            <a:schemeClr val="accent1"/>
          </a:solidFill>
          <a:ln/>
        </p:spPr>
      </p:sp>
      <p:sp>
        <p:nvSpPr>
          <p:cNvPr id="8" name="Text 6"/>
          <p:cNvSpPr txBox="1"/>
          <p:nvPr/>
        </p:nvSpPr>
        <p:spPr>
          <a:xfrm>
            <a:off x="2048256" y="5486400"/>
            <a:ext cx="1193292" cy="502920"/>
          </a:xfrm>
          <a:prstGeom prst="rect">
            <a:avLst/>
          </a:prstGeom>
          <a:noFill/>
          <a:ln/>
        </p:spPr>
        <p:txBody>
          <a:bodyPr wrap="square" lIns="0" tIns="0" rIns="0" bIns="0" rtlCol="0" anchor="ctr"/>
          <a:lstStyle/>
          <a:p>
            <a:pPr marL="0" indent="0" algn="ctr">
              <a:buNone/>
            </a:pPr>
            <a:r>
              <a:rPr lang="en-US" sz="1400" b="1" dirty="0">
                <a:solidFill>
                  <a:schemeClr val="bg1"/>
                </a:solidFill>
              </a:rPr>
              <a:t>Prompts</a:t>
            </a:r>
            <a:endParaRPr lang="en-US" sz="1400" dirty="0"/>
          </a:p>
        </p:txBody>
      </p:sp>
      <p:sp>
        <p:nvSpPr>
          <p:cNvPr id="9" name="Shape 7"/>
          <p:cNvSpPr/>
          <p:nvPr/>
        </p:nvSpPr>
        <p:spPr>
          <a:xfrm>
            <a:off x="3470148" y="5486400"/>
            <a:ext cx="1719072" cy="502920"/>
          </a:xfrm>
          <a:prstGeom prst="roundRect">
            <a:avLst>
              <a:gd name="adj" fmla="val 49091"/>
            </a:avLst>
          </a:prstGeom>
          <a:solidFill>
            <a:schemeClr val="accent1"/>
          </a:solidFill>
          <a:ln/>
        </p:spPr>
      </p:sp>
      <p:sp>
        <p:nvSpPr>
          <p:cNvPr id="10" name="Text 8"/>
          <p:cNvSpPr txBox="1"/>
          <p:nvPr/>
        </p:nvSpPr>
        <p:spPr>
          <a:xfrm>
            <a:off x="3470148" y="5486400"/>
            <a:ext cx="1719072" cy="502920"/>
          </a:xfrm>
          <a:prstGeom prst="rect">
            <a:avLst/>
          </a:prstGeom>
          <a:noFill/>
          <a:ln/>
        </p:spPr>
        <p:txBody>
          <a:bodyPr wrap="square" lIns="0" tIns="0" rIns="0" bIns="0" rtlCol="0" anchor="ctr"/>
          <a:lstStyle/>
          <a:p>
            <a:pPr marL="0" indent="0" algn="ctr">
              <a:buNone/>
            </a:pPr>
            <a:r>
              <a:rPr lang="en-US" sz="1400" b="1" dirty="0">
                <a:solidFill>
                  <a:schemeClr val="bg1"/>
                </a:solidFill>
              </a:rPr>
              <a:t>Corrección 1</a:t>
            </a:r>
            <a:endParaRPr lang="en-US" sz="1400" dirty="0"/>
          </a:p>
        </p:txBody>
      </p:sp>
      <p:sp>
        <p:nvSpPr>
          <p:cNvPr id="11" name="Shape 9"/>
          <p:cNvSpPr/>
          <p:nvPr/>
        </p:nvSpPr>
        <p:spPr>
          <a:xfrm>
            <a:off x="5417820" y="5486400"/>
            <a:ext cx="1719072" cy="502920"/>
          </a:xfrm>
          <a:prstGeom prst="roundRect">
            <a:avLst>
              <a:gd name="adj" fmla="val 49091"/>
            </a:avLst>
          </a:prstGeom>
          <a:solidFill>
            <a:schemeClr val="accent1"/>
          </a:solidFill>
          <a:ln/>
        </p:spPr>
      </p:sp>
      <p:sp>
        <p:nvSpPr>
          <p:cNvPr id="12" name="Text 10"/>
          <p:cNvSpPr txBox="1"/>
          <p:nvPr/>
        </p:nvSpPr>
        <p:spPr>
          <a:xfrm>
            <a:off x="5417820" y="5486400"/>
            <a:ext cx="1719072" cy="502920"/>
          </a:xfrm>
          <a:prstGeom prst="rect">
            <a:avLst/>
          </a:prstGeom>
          <a:noFill/>
          <a:ln/>
        </p:spPr>
        <p:txBody>
          <a:bodyPr wrap="square" lIns="0" tIns="0" rIns="0" bIns="0" rtlCol="0" anchor="ctr"/>
          <a:lstStyle/>
          <a:p>
            <a:pPr marL="0" indent="0" algn="ctr">
              <a:buNone/>
            </a:pPr>
            <a:r>
              <a:rPr lang="en-US" sz="1400" b="1" dirty="0">
                <a:solidFill>
                  <a:schemeClr val="bg1"/>
                </a:solidFill>
              </a:rPr>
              <a:t>Corrección 2</a:t>
            </a:r>
            <a:endParaRPr lang="en-US" sz="1400" dirty="0"/>
          </a:p>
        </p:txBody>
      </p:sp>
      <p:sp>
        <p:nvSpPr>
          <p:cNvPr id="13" name="Shape 11"/>
          <p:cNvSpPr/>
          <p:nvPr/>
        </p:nvSpPr>
        <p:spPr>
          <a:xfrm>
            <a:off x="7365492" y="5486400"/>
            <a:ext cx="2034540" cy="502920"/>
          </a:xfrm>
          <a:prstGeom prst="roundRect">
            <a:avLst>
              <a:gd name="adj" fmla="val 49091"/>
            </a:avLst>
          </a:prstGeom>
          <a:solidFill>
            <a:schemeClr val="accent1"/>
          </a:solidFill>
          <a:ln/>
        </p:spPr>
      </p:sp>
      <p:sp>
        <p:nvSpPr>
          <p:cNvPr id="14" name="Text 12"/>
          <p:cNvSpPr txBox="1"/>
          <p:nvPr/>
        </p:nvSpPr>
        <p:spPr>
          <a:xfrm>
            <a:off x="7365492" y="5486400"/>
            <a:ext cx="2034540" cy="502920"/>
          </a:xfrm>
          <a:prstGeom prst="rect">
            <a:avLst/>
          </a:prstGeom>
          <a:noFill/>
          <a:ln/>
        </p:spPr>
        <p:txBody>
          <a:bodyPr wrap="square" lIns="0" tIns="0" rIns="0" bIns="0" rtlCol="0" anchor="ctr"/>
          <a:lstStyle/>
          <a:p>
            <a:pPr marL="0" indent="0" algn="ctr">
              <a:buNone/>
            </a:pPr>
            <a:r>
              <a:rPr lang="en-US" sz="1400" b="1" dirty="0">
                <a:solidFill>
                  <a:schemeClr val="bg1"/>
                </a:solidFill>
              </a:rPr>
              <a:t>Errores típicos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Agente utilizado y controles aplicados</a:t>
            </a:r>
            <a:endParaRPr lang="en-US" sz="3200" dirty="0"/>
          </a:p>
        </p:txBody>
      </p:sp>
      <p:sp>
        <p:nvSpPr>
          <p:cNvPr id="3" name="Shape 1"/>
          <p:cNvSpPr/>
          <p:nvPr/>
        </p:nvSpPr>
        <p:spPr>
          <a:xfrm>
            <a:off x="548640" y="1371600"/>
            <a:ext cx="4480560" cy="4754880"/>
          </a:xfrm>
          <a:prstGeom prst="roundRect">
            <a:avLst>
              <a:gd name="adj" fmla="val 1633"/>
            </a:avLst>
          </a:prstGeom>
          <a:solidFill>
            <a:schemeClr val="tx2"/>
          </a:solidFill>
          <a:ln/>
        </p:spPr>
      </p:sp>
      <p:sp>
        <p:nvSpPr>
          <p:cNvPr id="4" name="Text 2"/>
          <p:cNvSpPr txBox="1"/>
          <p:nvPr/>
        </p:nvSpPr>
        <p:spPr>
          <a:xfrm>
            <a:off x="822960" y="1645920"/>
            <a:ext cx="3931920" cy="548640"/>
          </a:xfrm>
          <a:prstGeom prst="rect">
            <a:avLst/>
          </a:prstGeom>
          <a:noFill/>
          <a:ln/>
        </p:spPr>
        <p:txBody>
          <a:bodyPr wrap="square" lIns="0" tIns="0" rIns="0" bIns="0" rtlCol="0" anchor="t"/>
          <a:lstStyle/>
          <a:p>
            <a:pPr marL="0" indent="0">
              <a:buNone/>
            </a:pPr>
            <a:r>
              <a:rPr lang="en-US" sz="2800" b="1" dirty="0">
                <a:solidFill>
                  <a:schemeClr val="bg1"/>
                </a:solidFill>
                <a:latin typeface="Cambria" pitchFamily="34" charset="0"/>
                <a:ea typeface="Cambria" pitchFamily="34" charset="-122"/>
                <a:cs typeface="Cambria" pitchFamily="34" charset="-120"/>
              </a:rPr>
              <a:t>Claude Code</a:t>
            </a:r>
            <a:endParaRPr lang="en-US" sz="2800" dirty="0"/>
          </a:p>
        </p:txBody>
      </p:sp>
      <p:sp>
        <p:nvSpPr>
          <p:cNvPr id="5" name="Text 3"/>
          <p:cNvSpPr txBox="1"/>
          <p:nvPr/>
        </p:nvSpPr>
        <p:spPr>
          <a:xfrm>
            <a:off x="822960" y="2240280"/>
            <a:ext cx="3931920" cy="365760"/>
          </a:xfrm>
          <a:prstGeom prst="rect">
            <a:avLst/>
          </a:prstGeom>
          <a:noFill/>
          <a:ln/>
        </p:spPr>
        <p:txBody>
          <a:bodyPr wrap="square" lIns="0" tIns="0" rIns="0" bIns="0" rtlCol="0" anchor="t"/>
          <a:lstStyle/>
          <a:p>
            <a:pPr marL="0" indent="0">
              <a:buNone/>
            </a:pPr>
            <a:r>
              <a:rPr lang="en-US" sz="1400" dirty="0">
                <a:solidFill>
                  <a:schemeClr val="accent2"/>
                </a:solidFill>
              </a:rPr>
              <a:t>Agente de terminal de Anthropic</a:t>
            </a:r>
            <a:endParaRPr lang="en-US" sz="1400" dirty="0"/>
          </a:p>
        </p:txBody>
      </p:sp>
      <p:sp>
        <p:nvSpPr>
          <p:cNvPr id="6" name="Text 4"/>
          <p:cNvSpPr txBox="1"/>
          <p:nvPr/>
        </p:nvSpPr>
        <p:spPr>
          <a:xfrm>
            <a:off x="822960" y="2788920"/>
            <a:ext cx="397764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Lee el repositorio, edita archivos y ejecuta builds y pruebas</a:t>
            </a:r>
            <a:endParaRPr lang="en-US" sz="1400" dirty="0"/>
          </a:p>
          <a:p>
            <a:pPr marL="342900" indent="-342900">
              <a:spcAft>
                <a:spcPts val="600"/>
              </a:spcAft>
              <a:buSzPct val="100000"/>
              <a:buChar char="•"/>
            </a:pPr>
            <a:r>
              <a:rPr lang="en-US" sz="1400" dirty="0">
                <a:solidFill>
                  <a:schemeClr val="bg1"/>
                </a:solidFill>
              </a:rPr>
              <a:t>Hace commits solo cuando se le pide</a:t>
            </a:r>
            <a:endParaRPr lang="en-US" sz="1400" dirty="0"/>
          </a:p>
          <a:p>
            <a:pPr marL="342900" indent="-342900">
              <a:spcAft>
                <a:spcPts val="600"/>
              </a:spcAft>
              <a:buSzPct val="100000"/>
              <a:buChar char="•"/>
            </a:pPr>
            <a:r>
              <a:rPr lang="en-US" sz="1400" dirty="0">
                <a:solidFill>
                  <a:schemeClr val="bg1"/>
                </a:solidFill>
              </a:rPr>
              <a:t>Contexto: CLAUDE.md con comandos, arquitectura y convenciones</a:t>
            </a:r>
            <a:endParaRPr lang="en-US" sz="1400" dirty="0"/>
          </a:p>
          <a:p>
            <a:pPr marL="342900" indent="-342900">
              <a:spcAft>
                <a:spcPts val="600"/>
              </a:spcAft>
              <a:buSzPct val="100000"/>
              <a:buChar char="•"/>
            </a:pPr>
            <a:r>
              <a:rPr lang="en-US" sz="1400" dirty="0">
                <a:solidFill>
                  <a:schemeClr val="bg1"/>
                </a:solidFill>
              </a:rPr>
              <a:t>Fuentes de verdad: 01_schema.sql y 02_seed_data.sql</a:t>
            </a:r>
            <a:endParaRPr lang="en-US" sz="1400" dirty="0"/>
          </a:p>
        </p:txBody>
      </p:sp>
      <p:sp>
        <p:nvSpPr>
          <p:cNvPr id="7" name="Shape 5"/>
          <p:cNvSpPr/>
          <p:nvPr/>
        </p:nvSpPr>
        <p:spPr>
          <a:xfrm>
            <a:off x="5394960" y="1463040"/>
            <a:ext cx="548640" cy="548640"/>
          </a:xfrm>
          <a:prstGeom prst="ellipse">
            <a:avLst/>
          </a:prstGeom>
          <a:solidFill>
            <a:schemeClr val="accent2"/>
          </a:solidFill>
          <a:ln/>
        </p:spPr>
      </p:sp>
      <p:sp>
        <p:nvSpPr>
          <p:cNvPr id="8" name="Text 6"/>
          <p:cNvSpPr txBox="1"/>
          <p:nvPr/>
        </p:nvSpPr>
        <p:spPr>
          <a:xfrm>
            <a:off x="5394960" y="1463040"/>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9" name="Text 7"/>
          <p:cNvSpPr txBox="1"/>
          <p:nvPr/>
        </p:nvSpPr>
        <p:spPr>
          <a:xfrm>
            <a:off x="6126480" y="1371600"/>
            <a:ext cx="5577840" cy="365760"/>
          </a:xfrm>
          <a:prstGeom prst="rect">
            <a:avLst/>
          </a:prstGeom>
          <a:noFill/>
          <a:ln/>
        </p:spPr>
        <p:txBody>
          <a:bodyPr wrap="square" lIns="0" tIns="0" rIns="0" bIns="0" rtlCol="0" anchor="t"/>
          <a:lstStyle/>
          <a:p>
            <a:pPr marL="0" indent="0">
              <a:buNone/>
            </a:pPr>
            <a:r>
              <a:rPr lang="en-US" sz="1600" b="1" dirty="0">
                <a:solidFill>
                  <a:schemeClr val="tx2"/>
                </a:solidFill>
              </a:rPr>
              <a:t>Primero lectura, después cambios</a:t>
            </a:r>
            <a:endParaRPr lang="en-US" sz="1600" dirty="0"/>
          </a:p>
        </p:txBody>
      </p:sp>
      <p:sp>
        <p:nvSpPr>
          <p:cNvPr id="10" name="Text 8"/>
          <p:cNvSpPr txBox="1"/>
          <p:nvPr/>
        </p:nvSpPr>
        <p:spPr>
          <a:xfrm>
            <a:off x="6126480" y="1755648"/>
            <a:ext cx="5577840" cy="457200"/>
          </a:xfrm>
          <a:prstGeom prst="rect">
            <a:avLst/>
          </a:prstGeom>
          <a:noFill/>
          <a:ln/>
        </p:spPr>
        <p:txBody>
          <a:bodyPr wrap="square" lIns="0" tIns="0" rIns="0" bIns="0" rtlCol="0" anchor="t"/>
          <a:lstStyle/>
          <a:p>
            <a:pPr marL="0" indent="0">
              <a:buNone/>
            </a:pPr>
            <a:r>
              <a:rPr lang="en-US" sz="1300" dirty="0">
                <a:solidFill>
                  <a:schemeClr val="tx1"/>
                </a:solidFill>
              </a:rPr>
              <a:t>Análisis en solo lectura antes de tocar archivos</a:t>
            </a:r>
            <a:endParaRPr lang="en-US" sz="1300" dirty="0"/>
          </a:p>
        </p:txBody>
      </p:sp>
      <p:sp>
        <p:nvSpPr>
          <p:cNvPr id="11" name="Shape 9"/>
          <p:cNvSpPr/>
          <p:nvPr/>
        </p:nvSpPr>
        <p:spPr>
          <a:xfrm>
            <a:off x="5394960" y="2432304"/>
            <a:ext cx="548640" cy="548640"/>
          </a:xfrm>
          <a:prstGeom prst="ellipse">
            <a:avLst/>
          </a:prstGeom>
          <a:solidFill>
            <a:schemeClr val="accent2"/>
          </a:solidFill>
          <a:ln/>
        </p:spPr>
      </p:sp>
      <p:sp>
        <p:nvSpPr>
          <p:cNvPr id="12" name="Text 10"/>
          <p:cNvSpPr txBox="1"/>
          <p:nvPr/>
        </p:nvSpPr>
        <p:spPr>
          <a:xfrm>
            <a:off x="5394960" y="2432304"/>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3" name="Text 11"/>
          <p:cNvSpPr txBox="1"/>
          <p:nvPr/>
        </p:nvSpPr>
        <p:spPr>
          <a:xfrm>
            <a:off x="6126480" y="2340864"/>
            <a:ext cx="5577840" cy="365760"/>
          </a:xfrm>
          <a:prstGeom prst="rect">
            <a:avLst/>
          </a:prstGeom>
          <a:noFill/>
          <a:ln/>
        </p:spPr>
        <p:txBody>
          <a:bodyPr wrap="square" lIns="0" tIns="0" rIns="0" bIns="0" rtlCol="0" anchor="t"/>
          <a:lstStyle/>
          <a:p>
            <a:pPr marL="0" indent="0">
              <a:buNone/>
            </a:pPr>
            <a:r>
              <a:rPr lang="en-US" sz="1600" b="1" dirty="0">
                <a:solidFill>
                  <a:schemeClr val="tx2"/>
                </a:solidFill>
              </a:rPr>
              <a:t>Restricciones explícitas</a:t>
            </a:r>
            <a:endParaRPr lang="en-US" sz="1600" dirty="0"/>
          </a:p>
        </p:txBody>
      </p:sp>
      <p:sp>
        <p:nvSpPr>
          <p:cNvPr id="14" name="Text 12"/>
          <p:cNvSpPr txBox="1"/>
          <p:nvPr/>
        </p:nvSpPr>
        <p:spPr>
          <a:xfrm>
            <a:off x="6126480" y="2724912"/>
            <a:ext cx="5577840" cy="457200"/>
          </a:xfrm>
          <a:prstGeom prst="rect">
            <a:avLst/>
          </a:prstGeom>
          <a:noFill/>
          <a:ln/>
        </p:spPr>
        <p:txBody>
          <a:bodyPr wrap="square" lIns="0" tIns="0" rIns="0" bIns="0" rtlCol="0" anchor="t"/>
          <a:lstStyle/>
          <a:p>
            <a:pPr marL="0" indent="0">
              <a:buNone/>
            </a:pPr>
            <a:r>
              <a:rPr lang="en-US" sz="1300" dirty="0">
                <a:solidFill>
                  <a:schemeClr val="tx1"/>
                </a:solidFill>
              </a:rPr>
              <a:t>«No cambies reglas de negocio», «sin sobreingeniería», «el frontend no se toca»</a:t>
            </a:r>
            <a:endParaRPr lang="en-US" sz="1300" dirty="0"/>
          </a:p>
        </p:txBody>
      </p:sp>
      <p:sp>
        <p:nvSpPr>
          <p:cNvPr id="15" name="Shape 13"/>
          <p:cNvSpPr/>
          <p:nvPr/>
        </p:nvSpPr>
        <p:spPr>
          <a:xfrm>
            <a:off x="5394960" y="3401568"/>
            <a:ext cx="548640" cy="548640"/>
          </a:xfrm>
          <a:prstGeom prst="ellipse">
            <a:avLst/>
          </a:prstGeom>
          <a:solidFill>
            <a:schemeClr val="accent2"/>
          </a:solidFill>
          <a:ln/>
        </p:spPr>
      </p:sp>
      <p:sp>
        <p:nvSpPr>
          <p:cNvPr id="16" name="Text 14"/>
          <p:cNvSpPr txBox="1"/>
          <p:nvPr/>
        </p:nvSpPr>
        <p:spPr>
          <a:xfrm>
            <a:off x="5394960" y="3401568"/>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7" name="Text 15"/>
          <p:cNvSpPr txBox="1"/>
          <p:nvPr/>
        </p:nvSpPr>
        <p:spPr>
          <a:xfrm>
            <a:off x="6126480" y="3310128"/>
            <a:ext cx="5577840" cy="365760"/>
          </a:xfrm>
          <a:prstGeom prst="rect">
            <a:avLst/>
          </a:prstGeom>
          <a:noFill/>
          <a:ln/>
        </p:spPr>
        <p:txBody>
          <a:bodyPr wrap="square" lIns="0" tIns="0" rIns="0" bIns="0" rtlCol="0" anchor="t"/>
          <a:lstStyle/>
          <a:p>
            <a:pPr marL="0" indent="0">
              <a:buNone/>
            </a:pPr>
            <a:r>
              <a:rPr lang="en-US" sz="1600" b="1" dirty="0">
                <a:solidFill>
                  <a:schemeClr val="tx2"/>
                </a:solidFill>
              </a:rPr>
              <a:t>Verificar ejecutando</a:t>
            </a:r>
            <a:endParaRPr lang="en-US" sz="1600" dirty="0"/>
          </a:p>
        </p:txBody>
      </p:sp>
      <p:sp>
        <p:nvSpPr>
          <p:cNvPr id="18" name="Text 16"/>
          <p:cNvSpPr txBox="1"/>
          <p:nvPr/>
        </p:nvSpPr>
        <p:spPr>
          <a:xfrm>
            <a:off x="6126480" y="3694176"/>
            <a:ext cx="5577840" cy="457200"/>
          </a:xfrm>
          <a:prstGeom prst="rect">
            <a:avLst/>
          </a:prstGeom>
          <a:noFill/>
          <a:ln/>
        </p:spPr>
        <p:txBody>
          <a:bodyPr wrap="square" lIns="0" tIns="0" rIns="0" bIns="0" rtlCol="0" anchor="t"/>
          <a:lstStyle/>
          <a:p>
            <a:pPr marL="0" indent="0">
              <a:buNone/>
            </a:pPr>
            <a:r>
              <a:rPr lang="en-US" sz="1300" dirty="0">
                <a:solidFill>
                  <a:schemeClr val="tx1"/>
                </a:solidFill>
              </a:rPr>
              <a:t>mvn clean verify, ng build y npm run test:coverage en cada cambio</a:t>
            </a:r>
            <a:endParaRPr lang="en-US" sz="1300" dirty="0"/>
          </a:p>
        </p:txBody>
      </p:sp>
      <p:sp>
        <p:nvSpPr>
          <p:cNvPr id="19" name="Shape 17"/>
          <p:cNvSpPr/>
          <p:nvPr/>
        </p:nvSpPr>
        <p:spPr>
          <a:xfrm>
            <a:off x="5394960" y="4370832"/>
            <a:ext cx="548640" cy="548640"/>
          </a:xfrm>
          <a:prstGeom prst="ellipse">
            <a:avLst/>
          </a:prstGeom>
          <a:solidFill>
            <a:schemeClr val="accent2"/>
          </a:solidFill>
          <a:ln/>
        </p:spPr>
      </p:sp>
      <p:sp>
        <p:nvSpPr>
          <p:cNvPr id="20" name="Text 18"/>
          <p:cNvSpPr txBox="1"/>
          <p:nvPr/>
        </p:nvSpPr>
        <p:spPr>
          <a:xfrm>
            <a:off x="5394960" y="4370832"/>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21" name="Text 19"/>
          <p:cNvSpPr txBox="1"/>
          <p:nvPr/>
        </p:nvSpPr>
        <p:spPr>
          <a:xfrm>
            <a:off x="6126480" y="4279392"/>
            <a:ext cx="5577840" cy="365760"/>
          </a:xfrm>
          <a:prstGeom prst="rect">
            <a:avLst/>
          </a:prstGeom>
          <a:noFill/>
          <a:ln/>
        </p:spPr>
        <p:txBody>
          <a:bodyPr wrap="square" lIns="0" tIns="0" rIns="0" bIns="0" rtlCol="0" anchor="t"/>
          <a:lstStyle/>
          <a:p>
            <a:pPr marL="0" indent="0">
              <a:buNone/>
            </a:pPr>
            <a:r>
              <a:rPr lang="en-US" sz="1600" b="1" dirty="0">
                <a:solidFill>
                  <a:schemeClr val="tx2"/>
                </a:solidFill>
              </a:rPr>
              <a:t>Casos de negocio al centavo</a:t>
            </a:r>
            <a:endParaRPr lang="en-US" sz="1600" dirty="0"/>
          </a:p>
        </p:txBody>
      </p:sp>
      <p:sp>
        <p:nvSpPr>
          <p:cNvPr id="22" name="Text 20"/>
          <p:cNvSpPr txBox="1"/>
          <p:nvPr/>
        </p:nvSpPr>
        <p:spPr>
          <a:xfrm>
            <a:off x="6126480" y="4663440"/>
            <a:ext cx="5577840" cy="457200"/>
          </a:xfrm>
          <a:prstGeom prst="rect">
            <a:avLst/>
          </a:prstGeom>
          <a:noFill/>
          <a:ln/>
        </p:spPr>
        <p:txBody>
          <a:bodyPr wrap="square" lIns="0" tIns="0" rIns="0" bIns="0" rtlCol="0" anchor="t"/>
          <a:lstStyle/>
          <a:p>
            <a:pPr marL="0" indent="0">
              <a:buNone/>
            </a:pPr>
            <a:r>
              <a:rPr lang="en-US" sz="1300" dirty="0">
                <a:solidFill>
                  <a:schemeClr val="tx1"/>
                </a:solidFill>
              </a:rPr>
              <a:t>Los casos a–d del seed hacen fallar el build si cambian</a:t>
            </a:r>
            <a:endParaRPr lang="en-US" sz="1300" dirty="0"/>
          </a:p>
        </p:txBody>
      </p:sp>
      <p:sp>
        <p:nvSpPr>
          <p:cNvPr id="23" name="Shape 21"/>
          <p:cNvSpPr/>
          <p:nvPr/>
        </p:nvSpPr>
        <p:spPr>
          <a:xfrm>
            <a:off x="5394960" y="5340096"/>
            <a:ext cx="548640" cy="548640"/>
          </a:xfrm>
          <a:prstGeom prst="ellipse">
            <a:avLst/>
          </a:prstGeom>
          <a:solidFill>
            <a:schemeClr val="accent2"/>
          </a:solidFill>
          <a:ln/>
        </p:spPr>
      </p:sp>
      <p:sp>
        <p:nvSpPr>
          <p:cNvPr id="24" name="Text 22"/>
          <p:cNvSpPr txBox="1"/>
          <p:nvPr/>
        </p:nvSpPr>
        <p:spPr>
          <a:xfrm>
            <a:off x="5394960" y="5340096"/>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25" name="Text 23"/>
          <p:cNvSpPr txBox="1"/>
          <p:nvPr/>
        </p:nvSpPr>
        <p:spPr>
          <a:xfrm>
            <a:off x="6126480" y="5248656"/>
            <a:ext cx="5577840" cy="365760"/>
          </a:xfrm>
          <a:prstGeom prst="rect">
            <a:avLst/>
          </a:prstGeom>
          <a:noFill/>
          <a:ln/>
        </p:spPr>
        <p:txBody>
          <a:bodyPr wrap="square" lIns="0" tIns="0" rIns="0" bIns="0" rtlCol="0" anchor="t"/>
          <a:lstStyle/>
          <a:p>
            <a:pPr marL="0" indent="0">
              <a:buNone/>
            </a:pPr>
            <a:r>
              <a:rPr lang="en-US" sz="1600" b="1" dirty="0">
                <a:solidFill>
                  <a:schemeClr val="tx2"/>
                </a:solidFill>
              </a:rPr>
              <a:t>Commits pequeños y auditables</a:t>
            </a:r>
            <a:endParaRPr lang="en-US" sz="1600" dirty="0"/>
          </a:p>
        </p:txBody>
      </p:sp>
      <p:sp>
        <p:nvSpPr>
          <p:cNvPr id="26" name="Text 24"/>
          <p:cNvSpPr txBox="1"/>
          <p:nvPr/>
        </p:nvSpPr>
        <p:spPr>
          <a:xfrm>
            <a:off x="6126480" y="5632704"/>
            <a:ext cx="5577840" cy="457200"/>
          </a:xfrm>
          <a:prstGeom prst="rect">
            <a:avLst/>
          </a:prstGeom>
          <a:noFill/>
          <a:ln/>
        </p:spPr>
        <p:txBody>
          <a:bodyPr wrap="square" lIns="0" tIns="0" rIns="0" bIns="0" rtlCol="0" anchor="t"/>
          <a:lstStyle/>
          <a:p>
            <a:pPr marL="0" indent="0">
              <a:buNone/>
            </a:pPr>
            <a:r>
              <a:rPr lang="en-US" sz="1300" dirty="0">
                <a:solidFill>
                  <a:schemeClr val="tx1"/>
                </a:solidFill>
              </a:rPr>
              <a:t>Cada paso de la IA queda trazado en git</a:t>
            </a:r>
            <a:endParaRPr lang="en-US" sz="1300" dirty="0"/>
          </a:p>
        </p:txBody>
      </p:sp>
      <p:sp>
        <p:nvSpPr>
          <p:cNvPr id="27"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Prompts utilizados</a:t>
            </a:r>
            <a:endParaRPr lang="en-US" sz="3200" dirty="0"/>
          </a:p>
        </p:txBody>
      </p:sp>
      <p:sp>
        <p:nvSpPr>
          <p:cNvPr id="3" name="Shape 1"/>
          <p:cNvSpPr/>
          <p:nvPr/>
        </p:nvSpPr>
        <p:spPr>
          <a:xfrm>
            <a:off x="548640" y="1325880"/>
            <a:ext cx="5440680" cy="2148840"/>
          </a:xfrm>
          <a:prstGeom prst="roundRect">
            <a:avLst>
              <a:gd name="adj" fmla="val 3404"/>
            </a:avLst>
          </a:prstGeom>
          <a:solidFill>
            <a:schemeClr val="bg2"/>
          </a:solidFill>
          <a:ln/>
        </p:spPr>
      </p:sp>
      <p:sp>
        <p:nvSpPr>
          <p:cNvPr id="4" name="Shape 2"/>
          <p:cNvSpPr/>
          <p:nvPr/>
        </p:nvSpPr>
        <p:spPr>
          <a:xfrm>
            <a:off x="777240" y="1554480"/>
            <a:ext cx="685800" cy="685800"/>
          </a:xfrm>
          <a:prstGeom prst="ellipse">
            <a:avLst/>
          </a:prstGeom>
          <a:solidFill>
            <a:schemeClr val="accent1"/>
          </a:solidFill>
          <a:ln/>
        </p:spPr>
      </p:sp>
      <p:sp>
        <p:nvSpPr>
          <p:cNvPr id="5" name="Text 3"/>
          <p:cNvSpPr txBox="1"/>
          <p:nvPr/>
        </p:nvSpPr>
        <p:spPr>
          <a:xfrm>
            <a:off x="77724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P1</a:t>
            </a:r>
            <a:endParaRPr lang="en-US" sz="1800" dirty="0"/>
          </a:p>
        </p:txBody>
      </p:sp>
      <p:sp>
        <p:nvSpPr>
          <p:cNvPr id="6" name="Text 4"/>
          <p:cNvSpPr txBox="1"/>
          <p:nvPr/>
        </p:nvSpPr>
        <p:spPr>
          <a:xfrm>
            <a:off x="1645920" y="1527048"/>
            <a:ext cx="4160520" cy="365760"/>
          </a:xfrm>
          <a:prstGeom prst="rect">
            <a:avLst/>
          </a:prstGeom>
          <a:noFill/>
          <a:ln/>
        </p:spPr>
        <p:txBody>
          <a:bodyPr wrap="square" lIns="0" tIns="0" rIns="0" bIns="0" rtlCol="0" anchor="t"/>
          <a:lstStyle/>
          <a:p>
            <a:pPr marL="0" indent="0">
              <a:buNone/>
            </a:pPr>
            <a:r>
              <a:rPr lang="en-US" sz="1700" b="1" dirty="0">
                <a:solidFill>
                  <a:schemeClr val="tx2"/>
                </a:solidFill>
              </a:rPr>
              <a:t>Base de datos MySQL 5.7.44</a:t>
            </a:r>
            <a:endParaRPr lang="en-US" sz="1700" dirty="0"/>
          </a:p>
        </p:txBody>
      </p:sp>
      <p:sp>
        <p:nvSpPr>
          <p:cNvPr id="7" name="Text 5"/>
          <p:cNvSpPr txBox="1"/>
          <p:nvPr/>
        </p:nvSpPr>
        <p:spPr>
          <a:xfrm>
            <a:off x="1645920" y="1892808"/>
            <a:ext cx="4160520" cy="320040"/>
          </a:xfrm>
          <a:prstGeom prst="rect">
            <a:avLst/>
          </a:prstGeom>
          <a:noFill/>
          <a:ln/>
        </p:spPr>
        <p:txBody>
          <a:bodyPr wrap="square" lIns="0" tIns="0" rIns="0" bIns="0" rtlCol="0" anchor="t"/>
          <a:lstStyle/>
          <a:p>
            <a:pPr marL="0" indent="0">
              <a:buNone/>
            </a:pPr>
            <a:r>
              <a:rPr lang="en-US" sz="1300" i="1" dirty="0">
                <a:solidFill>
                  <a:schemeClr val="accent3"/>
                </a:solidFill>
              </a:rPr>
              <a:t>Arquitecto de BD senior</a:t>
            </a:r>
            <a:endParaRPr lang="en-US" sz="1300" dirty="0"/>
          </a:p>
        </p:txBody>
      </p:sp>
      <p:sp>
        <p:nvSpPr>
          <p:cNvPr id="8" name="Text 6"/>
          <p:cNvSpPr txBox="1"/>
          <p:nvPr/>
        </p:nvSpPr>
        <p:spPr>
          <a:xfrm>
            <a:off x="822960" y="2350008"/>
            <a:ext cx="4937760" cy="640080"/>
          </a:xfrm>
          <a:prstGeom prst="rect">
            <a:avLst/>
          </a:prstGeom>
          <a:noFill/>
          <a:ln/>
        </p:spPr>
        <p:txBody>
          <a:bodyPr wrap="square" lIns="0" tIns="0" rIns="0" bIns="0" rtlCol="0" anchor="t"/>
          <a:lstStyle/>
          <a:p>
            <a:pPr marL="0" indent="0">
              <a:buNone/>
            </a:pPr>
            <a:r>
              <a:rPr lang="en-US" sz="1400" dirty="0">
                <a:solidFill>
                  <a:schemeClr val="tx1"/>
                </a:solidFill>
              </a:rPr>
              <a:t>Scripts 00–03, diccionario, ER y 4 órdenes de referencia con su cálculo</a:t>
            </a:r>
            <a:endParaRPr lang="en-US" sz="1400" dirty="0"/>
          </a:p>
        </p:txBody>
      </p:sp>
      <p:sp>
        <p:nvSpPr>
          <p:cNvPr id="9" name="Text 7"/>
          <p:cNvSpPr txBox="1"/>
          <p:nvPr/>
        </p:nvSpPr>
        <p:spPr>
          <a:xfrm>
            <a:off x="822960" y="3017520"/>
            <a:ext cx="4937760" cy="320040"/>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fcb9d9e · 68fc74b · 0a5c082</a:t>
            </a:r>
            <a:endParaRPr lang="en-US" sz="1200" dirty="0"/>
          </a:p>
        </p:txBody>
      </p:sp>
      <p:sp>
        <p:nvSpPr>
          <p:cNvPr id="10" name="Shape 8"/>
          <p:cNvSpPr/>
          <p:nvPr/>
        </p:nvSpPr>
        <p:spPr>
          <a:xfrm>
            <a:off x="6172200" y="1325880"/>
            <a:ext cx="5440680" cy="2148840"/>
          </a:xfrm>
          <a:prstGeom prst="roundRect">
            <a:avLst>
              <a:gd name="adj" fmla="val 3404"/>
            </a:avLst>
          </a:prstGeom>
          <a:solidFill>
            <a:schemeClr val="bg2"/>
          </a:solidFill>
          <a:ln/>
        </p:spPr>
      </p:sp>
      <p:sp>
        <p:nvSpPr>
          <p:cNvPr id="11" name="Shape 9"/>
          <p:cNvSpPr/>
          <p:nvPr/>
        </p:nvSpPr>
        <p:spPr>
          <a:xfrm>
            <a:off x="6400800" y="1554480"/>
            <a:ext cx="685800" cy="685800"/>
          </a:xfrm>
          <a:prstGeom prst="ellipse">
            <a:avLst/>
          </a:prstGeom>
          <a:solidFill>
            <a:schemeClr val="accent1"/>
          </a:solidFill>
          <a:ln/>
        </p:spPr>
      </p:sp>
      <p:sp>
        <p:nvSpPr>
          <p:cNvPr id="12" name="Text 10"/>
          <p:cNvSpPr txBox="1"/>
          <p:nvPr/>
        </p:nvSpPr>
        <p:spPr>
          <a:xfrm>
            <a:off x="640080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P2</a:t>
            </a:r>
            <a:endParaRPr lang="en-US" sz="1800" dirty="0"/>
          </a:p>
        </p:txBody>
      </p:sp>
      <p:sp>
        <p:nvSpPr>
          <p:cNvPr id="13" name="Text 11"/>
          <p:cNvSpPr txBox="1"/>
          <p:nvPr/>
        </p:nvSpPr>
        <p:spPr>
          <a:xfrm>
            <a:off x="7269480" y="1527048"/>
            <a:ext cx="4160520" cy="365760"/>
          </a:xfrm>
          <a:prstGeom prst="rect">
            <a:avLst/>
          </a:prstGeom>
          <a:noFill/>
          <a:ln/>
        </p:spPr>
        <p:txBody>
          <a:bodyPr wrap="square" lIns="0" tIns="0" rIns="0" bIns="0" rtlCol="0" anchor="t"/>
          <a:lstStyle/>
          <a:p>
            <a:pPr marL="0" indent="0">
              <a:buNone/>
            </a:pPr>
            <a:r>
              <a:rPr lang="en-US" sz="1700" b="1" dirty="0">
                <a:solidFill>
                  <a:schemeClr val="tx2"/>
                </a:solidFill>
              </a:rPr>
              <a:t>Backend senior Java</a:t>
            </a:r>
            <a:endParaRPr lang="en-US" sz="1700" dirty="0"/>
          </a:p>
        </p:txBody>
      </p:sp>
      <p:sp>
        <p:nvSpPr>
          <p:cNvPr id="14" name="Text 12"/>
          <p:cNvSpPr txBox="1"/>
          <p:nvPr/>
        </p:nvSpPr>
        <p:spPr>
          <a:xfrm>
            <a:off x="7269480" y="1892808"/>
            <a:ext cx="4160520" cy="320040"/>
          </a:xfrm>
          <a:prstGeom prst="rect">
            <a:avLst/>
          </a:prstGeom>
          <a:noFill/>
          <a:ln/>
        </p:spPr>
        <p:txBody>
          <a:bodyPr wrap="square" lIns="0" tIns="0" rIns="0" bIns="0" rtlCol="0" anchor="t"/>
          <a:lstStyle/>
          <a:p>
            <a:pPr marL="0" indent="0">
              <a:buNone/>
            </a:pPr>
            <a:r>
              <a:rPr lang="en-US" sz="1300" i="1" dirty="0">
                <a:solidFill>
                  <a:schemeClr val="accent3"/>
                </a:solidFill>
              </a:rPr>
              <a:t>Backend senior Spring Boot</a:t>
            </a:r>
            <a:endParaRPr lang="en-US" sz="1300" dirty="0"/>
          </a:p>
        </p:txBody>
      </p:sp>
      <p:sp>
        <p:nvSpPr>
          <p:cNvPr id="15" name="Text 13"/>
          <p:cNvSpPr txBox="1"/>
          <p:nvPr/>
        </p:nvSpPr>
        <p:spPr>
          <a:xfrm>
            <a:off x="6446520" y="2350008"/>
            <a:ext cx="4937760" cy="640080"/>
          </a:xfrm>
          <a:prstGeom prst="rect">
            <a:avLst/>
          </a:prstGeom>
          <a:noFill/>
          <a:ln/>
        </p:spPr>
        <p:txBody>
          <a:bodyPr wrap="square" lIns="0" tIns="0" rIns="0" bIns="0" rtlCol="0" anchor="t"/>
          <a:lstStyle/>
          <a:p>
            <a:pPr marL="0" indent="0">
              <a:buNone/>
            </a:pPr>
            <a:r>
              <a:rPr lang="en-US" sz="1400" dirty="0">
                <a:solidFill>
                  <a:schemeClr val="tx1"/>
                </a:solidFill>
              </a:rPr>
              <a:t>Capas, entidades, motor, checkout transaccional y pruebas (corregido luego)</a:t>
            </a:r>
            <a:endParaRPr lang="en-US" sz="1400" dirty="0"/>
          </a:p>
        </p:txBody>
      </p:sp>
      <p:sp>
        <p:nvSpPr>
          <p:cNvPr id="16" name="Text 14"/>
          <p:cNvSpPr txBox="1"/>
          <p:nvPr/>
        </p:nvSpPr>
        <p:spPr>
          <a:xfrm>
            <a:off x="6446520" y="3017520"/>
            <a:ext cx="4937760" cy="320040"/>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b5259c1 → 9a8c8a3</a:t>
            </a:r>
            <a:endParaRPr lang="en-US" sz="1200" dirty="0"/>
          </a:p>
        </p:txBody>
      </p:sp>
      <p:sp>
        <p:nvSpPr>
          <p:cNvPr id="17" name="Shape 15"/>
          <p:cNvSpPr/>
          <p:nvPr/>
        </p:nvSpPr>
        <p:spPr>
          <a:xfrm>
            <a:off x="548640" y="3657600"/>
            <a:ext cx="5440680" cy="2148840"/>
          </a:xfrm>
          <a:prstGeom prst="roundRect">
            <a:avLst>
              <a:gd name="adj" fmla="val 3404"/>
            </a:avLst>
          </a:prstGeom>
          <a:solidFill>
            <a:schemeClr val="bg2"/>
          </a:solidFill>
          <a:ln/>
        </p:spPr>
      </p:sp>
      <p:sp>
        <p:nvSpPr>
          <p:cNvPr id="18" name="Shape 16"/>
          <p:cNvSpPr/>
          <p:nvPr/>
        </p:nvSpPr>
        <p:spPr>
          <a:xfrm>
            <a:off x="777240" y="3886200"/>
            <a:ext cx="685800" cy="685800"/>
          </a:xfrm>
          <a:prstGeom prst="ellipse">
            <a:avLst/>
          </a:prstGeom>
          <a:solidFill>
            <a:schemeClr val="accent1"/>
          </a:solidFill>
          <a:ln/>
        </p:spPr>
      </p:sp>
      <p:sp>
        <p:nvSpPr>
          <p:cNvPr id="19" name="Text 17"/>
          <p:cNvSpPr txBox="1"/>
          <p:nvPr/>
        </p:nvSpPr>
        <p:spPr>
          <a:xfrm>
            <a:off x="777240" y="388620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P3</a:t>
            </a:r>
            <a:endParaRPr lang="en-US" sz="1800" dirty="0"/>
          </a:p>
        </p:txBody>
      </p:sp>
      <p:sp>
        <p:nvSpPr>
          <p:cNvPr id="20" name="Text 18"/>
          <p:cNvSpPr txBox="1"/>
          <p:nvPr/>
        </p:nvSpPr>
        <p:spPr>
          <a:xfrm>
            <a:off x="1645920" y="3858768"/>
            <a:ext cx="4160520" cy="365760"/>
          </a:xfrm>
          <a:prstGeom prst="rect">
            <a:avLst/>
          </a:prstGeom>
          <a:noFill/>
          <a:ln/>
        </p:spPr>
        <p:txBody>
          <a:bodyPr wrap="square" lIns="0" tIns="0" rIns="0" bIns="0" rtlCol="0" anchor="t"/>
          <a:lstStyle/>
          <a:p>
            <a:pPr marL="0" indent="0">
              <a:buNone/>
            </a:pPr>
            <a:r>
              <a:rPr lang="en-US" sz="1700" b="1" dirty="0">
                <a:solidFill>
                  <a:schemeClr val="tx2"/>
                </a:solidFill>
              </a:rPr>
              <a:t>Frontend senior Angular</a:t>
            </a:r>
            <a:endParaRPr lang="en-US" sz="1700" dirty="0"/>
          </a:p>
        </p:txBody>
      </p:sp>
      <p:sp>
        <p:nvSpPr>
          <p:cNvPr id="21" name="Text 19"/>
          <p:cNvSpPr txBox="1"/>
          <p:nvPr/>
        </p:nvSpPr>
        <p:spPr>
          <a:xfrm>
            <a:off x="1645920" y="4224528"/>
            <a:ext cx="4160520" cy="320040"/>
          </a:xfrm>
          <a:prstGeom prst="rect">
            <a:avLst/>
          </a:prstGeom>
          <a:noFill/>
          <a:ln/>
        </p:spPr>
        <p:txBody>
          <a:bodyPr wrap="square" lIns="0" tIns="0" rIns="0" bIns="0" rtlCol="0" anchor="t"/>
          <a:lstStyle/>
          <a:p>
            <a:pPr marL="0" indent="0">
              <a:buNone/>
            </a:pPr>
            <a:r>
              <a:rPr lang="en-US" sz="1300" i="1" dirty="0">
                <a:solidFill>
                  <a:schemeClr val="accent3"/>
                </a:solidFill>
              </a:rPr>
              <a:t>Standalone, signals, TS estricto</a:t>
            </a:r>
            <a:endParaRPr lang="en-US" sz="1300" dirty="0"/>
          </a:p>
        </p:txBody>
      </p:sp>
      <p:sp>
        <p:nvSpPr>
          <p:cNvPr id="22" name="Text 20"/>
          <p:cNvSpPr txBox="1"/>
          <p:nvPr/>
        </p:nvSpPr>
        <p:spPr>
          <a:xfrm>
            <a:off x="822960" y="4681728"/>
            <a:ext cx="4937760" cy="640080"/>
          </a:xfrm>
          <a:prstGeom prst="rect">
            <a:avLst/>
          </a:prstGeom>
          <a:noFill/>
          <a:ln/>
        </p:spPr>
        <p:txBody>
          <a:bodyPr wrap="square" lIns="0" tIns="0" rIns="0" bIns="0" rtlCol="0" anchor="t"/>
          <a:lstStyle/>
          <a:p>
            <a:pPr marL="0" indent="0">
              <a:buNone/>
            </a:pPr>
            <a:r>
              <a:rPr lang="en-US" sz="1400" dirty="0">
                <a:solidFill>
                  <a:schemeClr val="tx1"/>
                </a:solidFill>
              </a:rPr>
              <a:t>Modelos 1:1 con los DTO, CartService con signals y componentes HU1–HU4</a:t>
            </a:r>
            <a:endParaRPr lang="en-US" sz="1400" dirty="0"/>
          </a:p>
        </p:txBody>
      </p:sp>
      <p:sp>
        <p:nvSpPr>
          <p:cNvPr id="23" name="Text 21"/>
          <p:cNvSpPr txBox="1"/>
          <p:nvPr/>
        </p:nvSpPr>
        <p:spPr>
          <a:xfrm>
            <a:off x="822960" y="5349240"/>
            <a:ext cx="4937760" cy="320040"/>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4ff0aac · 3f85c3b</a:t>
            </a:r>
            <a:endParaRPr lang="en-US" sz="1200" dirty="0"/>
          </a:p>
        </p:txBody>
      </p:sp>
      <p:sp>
        <p:nvSpPr>
          <p:cNvPr id="24" name="Shape 22"/>
          <p:cNvSpPr/>
          <p:nvPr/>
        </p:nvSpPr>
        <p:spPr>
          <a:xfrm>
            <a:off x="6172200" y="3657600"/>
            <a:ext cx="5440680" cy="2148840"/>
          </a:xfrm>
          <a:prstGeom prst="roundRect">
            <a:avLst>
              <a:gd name="adj" fmla="val 3404"/>
            </a:avLst>
          </a:prstGeom>
          <a:solidFill>
            <a:schemeClr val="bg2"/>
          </a:solidFill>
          <a:ln/>
        </p:spPr>
      </p:sp>
      <p:sp>
        <p:nvSpPr>
          <p:cNvPr id="25" name="Shape 23"/>
          <p:cNvSpPr/>
          <p:nvPr/>
        </p:nvSpPr>
        <p:spPr>
          <a:xfrm>
            <a:off x="6400800" y="3886200"/>
            <a:ext cx="685800" cy="685800"/>
          </a:xfrm>
          <a:prstGeom prst="ellipse">
            <a:avLst/>
          </a:prstGeom>
          <a:solidFill>
            <a:schemeClr val="accent1"/>
          </a:solidFill>
          <a:ln/>
        </p:spPr>
      </p:sp>
      <p:sp>
        <p:nvSpPr>
          <p:cNvPr id="26" name="Text 24"/>
          <p:cNvSpPr txBox="1"/>
          <p:nvPr/>
        </p:nvSpPr>
        <p:spPr>
          <a:xfrm>
            <a:off x="6400800" y="388620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P4</a:t>
            </a:r>
            <a:endParaRPr lang="en-US" sz="1800" dirty="0"/>
          </a:p>
        </p:txBody>
      </p:sp>
      <p:sp>
        <p:nvSpPr>
          <p:cNvPr id="27" name="Text 25"/>
          <p:cNvSpPr txBox="1"/>
          <p:nvPr/>
        </p:nvSpPr>
        <p:spPr>
          <a:xfrm>
            <a:off x="7269480" y="3858768"/>
            <a:ext cx="4160520" cy="365760"/>
          </a:xfrm>
          <a:prstGeom prst="rect">
            <a:avLst/>
          </a:prstGeom>
          <a:noFill/>
          <a:ln/>
        </p:spPr>
        <p:txBody>
          <a:bodyPr wrap="square" lIns="0" tIns="0" rIns="0" bIns="0" rtlCol="0" anchor="t"/>
          <a:lstStyle/>
          <a:p>
            <a:pPr marL="0" indent="0">
              <a:buNone/>
            </a:pPr>
            <a:r>
              <a:rPr lang="en-US" sz="1700" b="1" dirty="0">
                <a:solidFill>
                  <a:schemeClr val="tx2"/>
                </a:solidFill>
              </a:rPr>
              <a:t>Seguridad JWT + Swagger</a:t>
            </a:r>
            <a:endParaRPr lang="en-US" sz="1700" dirty="0"/>
          </a:p>
        </p:txBody>
      </p:sp>
      <p:sp>
        <p:nvSpPr>
          <p:cNvPr id="28" name="Text 26"/>
          <p:cNvSpPr txBox="1"/>
          <p:nvPr/>
        </p:nvSpPr>
        <p:spPr>
          <a:xfrm>
            <a:off x="7269480" y="4224528"/>
            <a:ext cx="4160520" cy="320040"/>
          </a:xfrm>
          <a:prstGeom prst="rect">
            <a:avLst/>
          </a:prstGeom>
          <a:noFill/>
          <a:ln/>
        </p:spPr>
        <p:txBody>
          <a:bodyPr wrap="square" lIns="0" tIns="0" rIns="0" bIns="0" rtlCol="0" anchor="t"/>
          <a:lstStyle/>
          <a:p>
            <a:pPr marL="0" indent="0">
              <a:buNone/>
            </a:pPr>
            <a:r>
              <a:rPr lang="en-US" sz="1300" i="1" dirty="0">
                <a:solidFill>
                  <a:schemeClr val="accent3"/>
                </a:solidFill>
              </a:rPr>
              <a:t>Senior Spring Boot 3</a:t>
            </a:r>
            <a:endParaRPr lang="en-US" sz="1300" dirty="0"/>
          </a:p>
        </p:txBody>
      </p:sp>
      <p:sp>
        <p:nvSpPr>
          <p:cNvPr id="29" name="Text 27"/>
          <p:cNvSpPr txBox="1"/>
          <p:nvPr/>
        </p:nvSpPr>
        <p:spPr>
          <a:xfrm>
            <a:off x="6446520" y="4681728"/>
            <a:ext cx="4937760" cy="640080"/>
          </a:xfrm>
          <a:prstGeom prst="rect">
            <a:avLst/>
          </a:prstGeom>
          <a:noFill/>
          <a:ln/>
        </p:spPr>
        <p:txBody>
          <a:bodyPr wrap="square" lIns="0" tIns="0" rIns="0" bIns="0" rtlCol="0" anchor="t"/>
          <a:lstStyle/>
          <a:p>
            <a:pPr marL="0" indent="0">
              <a:buNone/>
            </a:pPr>
            <a:r>
              <a:rPr lang="en-US" sz="1400" dirty="0">
                <a:solidFill>
                  <a:schemeClr val="tx1"/>
                </a:solidFill>
              </a:rPr>
              <a:t>JWT HS256, 401 en Problem Details, Authorize en Swagger e interceptor</a:t>
            </a:r>
            <a:endParaRPr lang="en-US" sz="1400" dirty="0"/>
          </a:p>
        </p:txBody>
      </p:sp>
      <p:sp>
        <p:nvSpPr>
          <p:cNvPr id="30" name="Text 28"/>
          <p:cNvSpPr txBox="1"/>
          <p:nvPr/>
        </p:nvSpPr>
        <p:spPr>
          <a:xfrm>
            <a:off x="6446520" y="5349240"/>
            <a:ext cx="4937760" cy="320040"/>
          </a:xfrm>
          <a:prstGeom prst="rect">
            <a:avLst/>
          </a:prstGeom>
          <a:noFill/>
          <a:ln/>
        </p:spPr>
        <p:txBody>
          <a:bodyPr wrap="square" lIns="0" tIns="0" rIns="0" bIns="0" rtlCol="0" anchor="t"/>
          <a:lstStyle/>
          <a:p>
            <a:pPr marL="0" indent="0">
              <a:buNone/>
            </a:pPr>
            <a:r>
              <a:rPr lang="en-US" sz="1200" dirty="0">
                <a:solidFill>
                  <a:schemeClr val="accent1"/>
                </a:solidFill>
                <a:latin typeface="Courier New" pitchFamily="34" charset="0"/>
                <a:ea typeface="Courier New" pitchFamily="34" charset="-122"/>
                <a:cs typeface="Courier New" pitchFamily="34" charset="-120"/>
              </a:rPr>
              <a:t>2e41d2d · 9c5feb5</a:t>
            </a:r>
            <a:endParaRPr lang="en-US" sz="1200" dirty="0"/>
          </a:p>
        </p:txBody>
      </p:sp>
      <p:sp>
        <p:nvSpPr>
          <p:cNvPr id="31" name="Text 29"/>
          <p:cNvSpPr txBox="1"/>
          <p:nvPr/>
        </p:nvSpPr>
        <p:spPr>
          <a:xfrm>
            <a:off x="548640" y="5989320"/>
            <a:ext cx="11155680" cy="320040"/>
          </a:xfrm>
          <a:prstGeom prst="rect">
            <a:avLst/>
          </a:prstGeom>
          <a:noFill/>
          <a:ln/>
        </p:spPr>
        <p:txBody>
          <a:bodyPr wrap="square" lIns="0" tIns="0" rIns="0" bIns="0" rtlCol="0" anchor="t"/>
          <a:lstStyle/>
          <a:p>
            <a:pPr marL="0" indent="0">
              <a:buNone/>
            </a:pPr>
            <a:r>
              <a:rPr lang="en-US" sz="1300" dirty="0">
                <a:solidFill>
                  <a:schemeClr val="accent3"/>
                </a:solidFill>
              </a:rPr>
              <a:t>Texto completo de los 4 prompts en el Anexo de docs/ia.md · 7 iteraciones posteriores con Claude Code, cada una con su commit</a:t>
            </a:r>
            <a:endParaRPr lang="en-US" sz="1300" dirty="0"/>
          </a:p>
        </p:txBody>
      </p:sp>
      <p:sp>
        <p:nvSpPr>
          <p:cNvPr id="32"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Corrección 1 · Sobreingeniería del código generado</a:t>
            </a:r>
            <a:endParaRPr lang="en-US" sz="3200" dirty="0"/>
          </a:p>
        </p:txBody>
      </p:sp>
      <p:sp>
        <p:nvSpPr>
          <p:cNvPr id="3" name="Shape 1"/>
          <p:cNvSpPr/>
          <p:nvPr/>
        </p:nvSpPr>
        <p:spPr>
          <a:xfrm>
            <a:off x="548640" y="1325880"/>
            <a:ext cx="5440680" cy="2743200"/>
          </a:xfrm>
          <a:prstGeom prst="roundRect">
            <a:avLst>
              <a:gd name="adj" fmla="val 2667"/>
            </a:avLst>
          </a:prstGeom>
          <a:solidFill>
            <a:schemeClr val="accent5">
              <a:alpha val="15000"/>
            </a:schemeClr>
          </a:solidFill>
          <a:ln/>
        </p:spPr>
      </p:sp>
      <p:sp>
        <p:nvSpPr>
          <p:cNvPr id="4" name="Text 2"/>
          <p:cNvSpPr txBox="1"/>
          <p:nvPr/>
        </p:nvSpPr>
        <p:spPr>
          <a:xfrm>
            <a:off x="777240" y="1463040"/>
            <a:ext cx="5029200" cy="365760"/>
          </a:xfrm>
          <a:prstGeom prst="rect">
            <a:avLst/>
          </a:prstGeom>
          <a:noFill/>
          <a:ln/>
        </p:spPr>
        <p:txBody>
          <a:bodyPr wrap="square" lIns="0" tIns="0" rIns="0" bIns="0" rtlCol="0" anchor="t"/>
          <a:lstStyle/>
          <a:p>
            <a:pPr marL="0" indent="0">
              <a:buNone/>
            </a:pPr>
            <a:r>
              <a:rPr lang="en-US" sz="1700" b="1" dirty="0">
                <a:solidFill>
                  <a:schemeClr val="accent5"/>
                </a:solidFill>
              </a:rPr>
              <a:t>Lo que entregó la IA · b5259c1</a:t>
            </a:r>
            <a:endParaRPr lang="en-US" sz="1700" dirty="0"/>
          </a:p>
        </p:txBody>
      </p:sp>
      <p:sp>
        <p:nvSpPr>
          <p:cNvPr id="5" name="Text 3"/>
          <p:cNvSpPr txBox="1"/>
          <p:nvPr/>
        </p:nvSpPr>
        <p:spPr>
          <a:xfrm>
            <a:off x="777240" y="1965960"/>
            <a:ext cx="502920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CRUD de categorías, productos y cupones</a:t>
            </a:r>
            <a:endParaRPr lang="en-US" sz="1600" dirty="0"/>
          </a:p>
          <a:p>
            <a:pPr marL="342900" indent="-342900">
              <a:spcAft>
                <a:spcPts val="600"/>
              </a:spcAft>
              <a:buSzPct val="100000"/>
              <a:buChar char="•"/>
            </a:pPr>
            <a:r>
              <a:rPr lang="en-US" sz="1600" dirty="0">
                <a:solidFill>
                  <a:schemeClr val="tx1"/>
                </a:solidFill>
              </a:rPr>
              <a:t>Consulta y paginación de órdenes</a:t>
            </a:r>
            <a:endParaRPr lang="en-US" sz="1600" dirty="0"/>
          </a:p>
          <a:p>
            <a:pPr marL="342900" indent="-342900">
              <a:spcAft>
                <a:spcPts val="600"/>
              </a:spcAft>
              <a:buSzPct val="100000"/>
              <a:buChar char="•"/>
            </a:pPr>
            <a:r>
              <a:rPr lang="en-US" sz="1600" dirty="0">
                <a:solidFill>
                  <a:schemeClr val="tx1"/>
                </a:solidFill>
              </a:rPr>
              <a:t>Paquetes adapter/ y event/ (Observer + Micrometer)</a:t>
            </a:r>
            <a:endParaRPr lang="en-US" sz="1600" dirty="0"/>
          </a:p>
          <a:p>
            <a:pPr marL="342900" indent="-342900">
              <a:spcAft>
                <a:spcPts val="600"/>
              </a:spcAft>
              <a:buSzPct val="100000"/>
              <a:buChar char="•"/>
            </a:pPr>
            <a:r>
              <a:rPr lang="en-US" sz="1600" dirty="0">
                <a:solidFill>
                  <a:schemeClr val="tx1"/>
                </a:solidFill>
              </a:rPr>
              <a:t>service/impl/ con interfaces sin segunda implementación</a:t>
            </a:r>
            <a:endParaRPr lang="en-US" sz="1600" dirty="0"/>
          </a:p>
        </p:txBody>
      </p:sp>
      <p:sp>
        <p:nvSpPr>
          <p:cNvPr id="6" name="Shape 4"/>
          <p:cNvSpPr/>
          <p:nvPr/>
        </p:nvSpPr>
        <p:spPr>
          <a:xfrm>
            <a:off x="6035040" y="2697480"/>
            <a:ext cx="274320" cy="0"/>
          </a:xfrm>
          <a:prstGeom prst="line">
            <a:avLst/>
          </a:prstGeom>
          <a:noFill/>
          <a:ln w="31750">
            <a:solidFill>
              <a:srgbClr val="0E4D64"/>
            </a:solidFill>
            <a:prstDash val="solid"/>
            <a:tailEnd type="triangle"/>
          </a:ln>
        </p:spPr>
      </p:sp>
      <p:sp>
        <p:nvSpPr>
          <p:cNvPr id="7" name="Shape 5"/>
          <p:cNvSpPr/>
          <p:nvPr/>
        </p:nvSpPr>
        <p:spPr>
          <a:xfrm>
            <a:off x="6355080" y="1325880"/>
            <a:ext cx="5349240" cy="2743200"/>
          </a:xfrm>
          <a:prstGeom prst="roundRect">
            <a:avLst>
              <a:gd name="adj" fmla="val 2667"/>
            </a:avLst>
          </a:prstGeom>
          <a:solidFill>
            <a:schemeClr val="accent4">
              <a:alpha val="15000"/>
            </a:schemeClr>
          </a:solidFill>
          <a:ln/>
        </p:spPr>
      </p:sp>
      <p:sp>
        <p:nvSpPr>
          <p:cNvPr id="8" name="Text 6"/>
          <p:cNvSpPr txBox="1"/>
          <p:nvPr/>
        </p:nvSpPr>
        <p:spPr>
          <a:xfrm>
            <a:off x="6583680" y="1463040"/>
            <a:ext cx="4937760" cy="365760"/>
          </a:xfrm>
          <a:prstGeom prst="rect">
            <a:avLst/>
          </a:prstGeom>
          <a:noFill/>
          <a:ln/>
        </p:spPr>
        <p:txBody>
          <a:bodyPr wrap="square" lIns="0" tIns="0" rIns="0" bIns="0" rtlCol="0" anchor="t"/>
          <a:lstStyle/>
          <a:p>
            <a:pPr marL="0" indent="0">
              <a:buNone/>
            </a:pPr>
            <a:r>
              <a:rPr lang="en-US" sz="1700" b="1" dirty="0">
                <a:solidFill>
                  <a:schemeClr val="accent4"/>
                </a:solidFill>
              </a:rPr>
              <a:t>Después de corregir · 9a8c8a3</a:t>
            </a:r>
            <a:endParaRPr lang="en-US" sz="1700" dirty="0"/>
          </a:p>
        </p:txBody>
      </p:sp>
      <p:sp>
        <p:nvSpPr>
          <p:cNvPr id="9" name="Text 7"/>
          <p:cNvSpPr txBox="1"/>
          <p:nvPr/>
        </p:nvSpPr>
        <p:spPr>
          <a:xfrm>
            <a:off x="6583680" y="1965960"/>
            <a:ext cx="493776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4 endpoints: login, productos, cotización y orden</a:t>
            </a:r>
            <a:endParaRPr lang="en-US" sz="1600" dirty="0"/>
          </a:p>
          <a:p>
            <a:pPr marL="342900" indent="-342900">
              <a:spcAft>
                <a:spcPts val="600"/>
              </a:spcAft>
              <a:buSzPct val="100000"/>
              <a:buChar char="•"/>
            </a:pPr>
            <a:r>
              <a:rPr lang="en-US" sz="1600" dirty="0">
                <a:solidFill>
                  <a:schemeClr val="tx1"/>
                </a:solidFill>
              </a:rPr>
              <a:t>Servicios concretos, sin interfaces vacías</a:t>
            </a:r>
            <a:endParaRPr lang="en-US" sz="1600" dirty="0"/>
          </a:p>
          <a:p>
            <a:pPr marL="342900" indent="-342900">
              <a:spcAft>
                <a:spcPts val="600"/>
              </a:spcAft>
              <a:buSzPct val="100000"/>
              <a:buChar char="•"/>
            </a:pPr>
            <a:r>
              <a:rPr lang="en-US" sz="1600" dirty="0">
                <a:solidFill>
                  <a:schemeClr val="tx1"/>
                </a:solidFill>
              </a:rPr>
              <a:t>Un único camino de cálculo: PricingService.price</a:t>
            </a:r>
            <a:endParaRPr lang="en-US" sz="1600" dirty="0"/>
          </a:p>
          <a:p>
            <a:pPr marL="342900" indent="-342900">
              <a:spcAft>
                <a:spcPts val="600"/>
              </a:spcAft>
              <a:buSzPct val="100000"/>
              <a:buChar char="•"/>
            </a:pPr>
            <a:r>
              <a:rPr lang="en-US" sz="1600" dirty="0">
                <a:solidFill>
                  <a:schemeClr val="tx1"/>
                </a:solidFill>
              </a:rPr>
              <a:t>Todo el código responde a una HU</a:t>
            </a:r>
            <a:endParaRPr lang="en-US" sz="1600" dirty="0"/>
          </a:p>
        </p:txBody>
      </p:sp>
      <p:sp>
        <p:nvSpPr>
          <p:cNvPr id="10" name="Shape 8"/>
          <p:cNvSpPr/>
          <p:nvPr/>
        </p:nvSpPr>
        <p:spPr>
          <a:xfrm>
            <a:off x="548640" y="4343400"/>
            <a:ext cx="5486400" cy="1600200"/>
          </a:xfrm>
          <a:prstGeom prst="roundRect">
            <a:avLst>
              <a:gd name="adj" fmla="val 4571"/>
            </a:avLst>
          </a:prstGeom>
          <a:solidFill>
            <a:schemeClr val="bg2"/>
          </a:solidFill>
          <a:ln/>
        </p:spPr>
      </p:sp>
      <p:sp>
        <p:nvSpPr>
          <p:cNvPr id="11" name="Text 9"/>
          <p:cNvSpPr txBox="1"/>
          <p:nvPr/>
        </p:nvSpPr>
        <p:spPr>
          <a:xfrm>
            <a:off x="731520" y="4434840"/>
            <a:ext cx="5120640" cy="1417320"/>
          </a:xfrm>
          <a:prstGeom prst="rect">
            <a:avLst/>
          </a:prstGeom>
          <a:noFill/>
          <a:ln/>
        </p:spPr>
        <p:txBody>
          <a:bodyPr wrap="square" lIns="0" tIns="0" rIns="0" bIns="0" rtlCol="0" anchor="ctr"/>
          <a:lstStyle/>
          <a:p>
            <a:pPr marL="0" indent="0">
              <a:buNone/>
            </a:pPr>
            <a:r>
              <a:rPr lang="en-US" sz="1500" b="1" dirty="0">
                <a:solidFill>
                  <a:schemeClr val="tx2"/>
                </a:solidFill>
              </a:rPr>
              <a:t>Por qué se corrigió: </a:t>
            </a:r>
            <a:r>
              <a:rPr lang="en-US" sz="1500" dirty="0">
                <a:solidFill>
                  <a:schemeClr val="tx1"/>
                </a:solidFill>
              </a:rPr>
              <a:t>nada de eso aportaba a las HU1–HU4; multiplicaba lo que había que probar y mantener.</a:t>
            </a:r>
            <a:endParaRPr lang="en-US" sz="1500" dirty="0"/>
          </a:p>
        </p:txBody>
      </p:sp>
      <p:sp>
        <p:nvSpPr>
          <p:cNvPr id="12" name="Shape 10"/>
          <p:cNvSpPr/>
          <p:nvPr/>
        </p:nvSpPr>
        <p:spPr>
          <a:xfrm>
            <a:off x="6217920" y="4343400"/>
            <a:ext cx="5486400" cy="1600200"/>
          </a:xfrm>
          <a:prstGeom prst="roundRect">
            <a:avLst>
              <a:gd name="adj" fmla="val 4571"/>
            </a:avLst>
          </a:prstGeom>
          <a:solidFill>
            <a:schemeClr val="tx2"/>
          </a:solidFill>
          <a:ln/>
        </p:spPr>
      </p:sp>
      <p:sp>
        <p:nvSpPr>
          <p:cNvPr id="13" name="Text 11"/>
          <p:cNvSpPr txBox="1"/>
          <p:nvPr/>
        </p:nvSpPr>
        <p:spPr>
          <a:xfrm>
            <a:off x="6400800" y="4434840"/>
            <a:ext cx="5120640" cy="1417320"/>
          </a:xfrm>
          <a:prstGeom prst="rect">
            <a:avLst/>
          </a:prstGeom>
          <a:noFill/>
          <a:ln/>
        </p:spPr>
        <p:txBody>
          <a:bodyPr wrap="square" lIns="0" tIns="0" rIns="0" bIns="0" rtlCol="0" anchor="ctr"/>
          <a:lstStyle/>
          <a:p>
            <a:pPr marL="0" indent="0">
              <a:buNone/>
            </a:pPr>
            <a:r>
              <a:rPr lang="en-US" sz="1500" b="1" dirty="0">
                <a:solidFill>
                  <a:schemeClr val="accent2"/>
                </a:solidFill>
              </a:rPr>
              <a:t>Lección: </a:t>
            </a:r>
            <a:r>
              <a:rPr lang="en-US" sz="1500" dirty="0">
                <a:solidFill>
                  <a:schemeClr val="bg1"/>
                </a:solidFill>
              </a:rPr>
              <a:t>un prompt detallado no reemplaza el juicio sobre el alcance; cada pieza se revisa contra las HU.</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Corrección 2 · La sobrecorrección eliminó los patrones</a:t>
            </a:r>
            <a:endParaRPr lang="en-US" sz="3200" dirty="0"/>
          </a:p>
        </p:txBody>
      </p:sp>
      <p:sp>
        <p:nvSpPr>
          <p:cNvPr id="3" name="Shape 1"/>
          <p:cNvSpPr/>
          <p:nvPr/>
        </p:nvSpPr>
        <p:spPr>
          <a:xfrm>
            <a:off x="548640" y="1325880"/>
            <a:ext cx="5440680" cy="2743200"/>
          </a:xfrm>
          <a:prstGeom prst="roundRect">
            <a:avLst>
              <a:gd name="adj" fmla="val 2667"/>
            </a:avLst>
          </a:prstGeom>
          <a:solidFill>
            <a:schemeClr val="accent5">
              <a:alpha val="15000"/>
            </a:schemeClr>
          </a:solidFill>
          <a:ln/>
        </p:spPr>
      </p:sp>
      <p:sp>
        <p:nvSpPr>
          <p:cNvPr id="4" name="Text 2"/>
          <p:cNvSpPr txBox="1"/>
          <p:nvPr/>
        </p:nvSpPr>
        <p:spPr>
          <a:xfrm>
            <a:off x="777240" y="1463040"/>
            <a:ext cx="5029200" cy="365760"/>
          </a:xfrm>
          <a:prstGeom prst="rect">
            <a:avLst/>
          </a:prstGeom>
          <a:noFill/>
          <a:ln/>
        </p:spPr>
        <p:txBody>
          <a:bodyPr wrap="square" lIns="0" tIns="0" rIns="0" bIns="0" rtlCol="0" anchor="t"/>
          <a:lstStyle/>
          <a:p>
            <a:pPr marL="0" indent="0">
              <a:buNone/>
            </a:pPr>
            <a:r>
              <a:rPr lang="en-US" sz="1700" b="1" dirty="0">
                <a:solidFill>
                  <a:schemeClr val="accent5"/>
                </a:solidFill>
              </a:rPr>
              <a:t>Lo que hizo la IA al limpiar · 9a8c8a3</a:t>
            </a:r>
            <a:endParaRPr lang="en-US" sz="1700" dirty="0"/>
          </a:p>
        </p:txBody>
      </p:sp>
      <p:sp>
        <p:nvSpPr>
          <p:cNvPr id="5" name="Text 3"/>
          <p:cNvSpPr txBox="1"/>
          <p:nvPr/>
        </p:nvSpPr>
        <p:spPr>
          <a:xfrm>
            <a:off x="777240" y="1965960"/>
            <a:ext cx="502920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Borró Strategy, Factory, Adapter y Observer</a:t>
            </a:r>
            <a:endParaRPr lang="en-US" sz="1600" dirty="0"/>
          </a:p>
          <a:p>
            <a:pPr marL="342900" indent="-342900">
              <a:spcAft>
                <a:spcPts val="600"/>
              </a:spcAft>
              <a:buSzPct val="100000"/>
              <a:buChar char="•"/>
            </a:pPr>
            <a:r>
              <a:rPr lang="en-US" sz="1600" dirty="0">
                <a:solidFill>
                  <a:schemeClr val="tx1"/>
                </a:solidFill>
              </a:rPr>
              <a:t>Motor en un solo método con las 4 reglas</a:t>
            </a:r>
            <a:endParaRPr lang="en-US" sz="1600" dirty="0"/>
          </a:p>
          <a:p>
            <a:pPr marL="342900" indent="-342900">
              <a:spcAft>
                <a:spcPts val="600"/>
              </a:spcAft>
              <a:buSzPct val="100000"/>
              <a:buChar char="•"/>
            </a:pPr>
            <a:r>
              <a:rPr lang="en-US" sz="1600" dirty="0">
                <a:solidFill>
                  <a:schemeClr val="tx1"/>
                </a:solidFill>
              </a:rPr>
              <a:t>Requisito «al menos dos patrones» incumplido</a:t>
            </a:r>
            <a:endParaRPr lang="en-US" sz="1600" dirty="0"/>
          </a:p>
          <a:p>
            <a:pPr marL="342900" indent="-342900">
              <a:spcAft>
                <a:spcPts val="600"/>
              </a:spcAft>
              <a:buSzPct val="100000"/>
              <a:buChar char="•"/>
            </a:pPr>
            <a:r>
              <a:rPr lang="en-US" sz="1600" dirty="0">
                <a:solidFill>
                  <a:schemeClr val="tx1"/>
                </a:solidFill>
              </a:rPr>
              <a:t>Documentación describiendo clases inexistentes</a:t>
            </a:r>
            <a:endParaRPr lang="en-US" sz="1600" dirty="0"/>
          </a:p>
        </p:txBody>
      </p:sp>
      <p:sp>
        <p:nvSpPr>
          <p:cNvPr id="6" name="Shape 4"/>
          <p:cNvSpPr/>
          <p:nvPr/>
        </p:nvSpPr>
        <p:spPr>
          <a:xfrm>
            <a:off x="6035040" y="2697480"/>
            <a:ext cx="274320" cy="0"/>
          </a:xfrm>
          <a:prstGeom prst="line">
            <a:avLst/>
          </a:prstGeom>
          <a:noFill/>
          <a:ln w="31750">
            <a:solidFill>
              <a:srgbClr val="0E4D64"/>
            </a:solidFill>
            <a:prstDash val="solid"/>
            <a:tailEnd type="triangle"/>
          </a:ln>
        </p:spPr>
      </p:sp>
      <p:sp>
        <p:nvSpPr>
          <p:cNvPr id="7" name="Shape 5"/>
          <p:cNvSpPr/>
          <p:nvPr/>
        </p:nvSpPr>
        <p:spPr>
          <a:xfrm>
            <a:off x="6355080" y="1325880"/>
            <a:ext cx="5349240" cy="2743200"/>
          </a:xfrm>
          <a:prstGeom prst="roundRect">
            <a:avLst>
              <a:gd name="adj" fmla="val 2667"/>
            </a:avLst>
          </a:prstGeom>
          <a:solidFill>
            <a:schemeClr val="accent4">
              <a:alpha val="15000"/>
            </a:schemeClr>
          </a:solidFill>
          <a:ln/>
        </p:spPr>
      </p:sp>
      <p:sp>
        <p:nvSpPr>
          <p:cNvPr id="8" name="Text 6"/>
          <p:cNvSpPr txBox="1"/>
          <p:nvPr/>
        </p:nvSpPr>
        <p:spPr>
          <a:xfrm>
            <a:off x="6583680" y="1463040"/>
            <a:ext cx="4937760" cy="365760"/>
          </a:xfrm>
          <a:prstGeom prst="rect">
            <a:avLst/>
          </a:prstGeom>
          <a:noFill/>
          <a:ln/>
        </p:spPr>
        <p:txBody>
          <a:bodyPr wrap="square" lIns="0" tIns="0" rIns="0" bIns="0" rtlCol="0" anchor="t"/>
          <a:lstStyle/>
          <a:p>
            <a:pPr marL="0" indent="0">
              <a:buNone/>
            </a:pPr>
            <a:r>
              <a:rPr lang="en-US" sz="1700" b="1" dirty="0">
                <a:solidFill>
                  <a:schemeClr val="accent4"/>
                </a:solidFill>
              </a:rPr>
              <a:t>Corrección · 1dc0c40 · c9569ff · 7a03c8a</a:t>
            </a:r>
            <a:endParaRPr lang="en-US" sz="1700" dirty="0"/>
          </a:p>
        </p:txBody>
      </p:sp>
      <p:sp>
        <p:nvSpPr>
          <p:cNvPr id="9" name="Text 7"/>
          <p:cNvSpPr txBox="1"/>
          <p:nvPr/>
        </p:nvSpPr>
        <p:spPr>
          <a:xfrm>
            <a:off x="6583680" y="1965960"/>
            <a:ext cx="493776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Solo Strategy + Factory, en su forma mínima</a:t>
            </a:r>
            <a:endParaRPr lang="en-US" sz="1600" dirty="0"/>
          </a:p>
          <a:p>
            <a:pPr marL="342900" indent="-342900">
              <a:spcAft>
                <a:spcPts val="600"/>
              </a:spcAft>
              <a:buSzPct val="100000"/>
              <a:buChar char="•"/>
            </a:pPr>
            <a:r>
              <a:rPr lang="en-US" sz="1600" dirty="0">
                <a:solidFill>
                  <a:schemeClr val="tx1"/>
                </a:solidFill>
              </a:rPr>
              <a:t>El tope fuera de las reglas (es un límite)</a:t>
            </a:r>
            <a:endParaRPr lang="en-US" sz="1600" dirty="0"/>
          </a:p>
          <a:p>
            <a:pPr marL="342900" indent="-342900">
              <a:spcAft>
                <a:spcPts val="600"/>
              </a:spcAft>
              <a:buSzPct val="100000"/>
              <a:buChar char="•"/>
            </a:pPr>
            <a:r>
              <a:rPr lang="en-US" sz="1600" dirty="0">
                <a:solidFill>
                  <a:schemeClr val="tx1"/>
                </a:solidFill>
              </a:rPr>
              <a:t>Pruebas existentes sin cambiar sus aserciones</a:t>
            </a:r>
            <a:endParaRPr lang="en-US" sz="1600" dirty="0"/>
          </a:p>
          <a:p>
            <a:pPr marL="342900" indent="-342900">
              <a:spcAft>
                <a:spcPts val="600"/>
              </a:spcAft>
              <a:buSzPct val="100000"/>
              <a:buChar char="•"/>
            </a:pPr>
            <a:r>
              <a:rPr lang="en-US" sz="1600" dirty="0">
                <a:solidFill>
                  <a:schemeClr val="tx1"/>
                </a:solidFill>
              </a:rPr>
              <a:t>Fábrica y Clock inyectados (DIP); docs alineados</a:t>
            </a:r>
            <a:endParaRPr lang="en-US" sz="1600" dirty="0"/>
          </a:p>
        </p:txBody>
      </p:sp>
      <p:sp>
        <p:nvSpPr>
          <p:cNvPr id="10" name="Shape 8"/>
          <p:cNvSpPr/>
          <p:nvPr/>
        </p:nvSpPr>
        <p:spPr>
          <a:xfrm>
            <a:off x="548640" y="4343400"/>
            <a:ext cx="5486400" cy="1600200"/>
          </a:xfrm>
          <a:prstGeom prst="roundRect">
            <a:avLst>
              <a:gd name="adj" fmla="val 4571"/>
            </a:avLst>
          </a:prstGeom>
          <a:solidFill>
            <a:schemeClr val="bg2"/>
          </a:solidFill>
          <a:ln/>
        </p:spPr>
      </p:sp>
      <p:sp>
        <p:nvSpPr>
          <p:cNvPr id="11" name="Text 9"/>
          <p:cNvSpPr txBox="1"/>
          <p:nvPr/>
        </p:nvSpPr>
        <p:spPr>
          <a:xfrm>
            <a:off x="731520" y="4434840"/>
            <a:ext cx="5120640" cy="1417320"/>
          </a:xfrm>
          <a:prstGeom prst="rect">
            <a:avLst/>
          </a:prstGeom>
          <a:noFill/>
          <a:ln/>
        </p:spPr>
        <p:txBody>
          <a:bodyPr wrap="square" lIns="0" tIns="0" rIns="0" bIns="0" rtlCol="0" anchor="ctr"/>
          <a:lstStyle/>
          <a:p>
            <a:pPr marL="0" indent="0">
              <a:buNone/>
            </a:pPr>
            <a:r>
              <a:rPr lang="en-US" sz="1500" b="1" dirty="0">
                <a:solidFill>
                  <a:schemeClr val="tx2"/>
                </a:solidFill>
              </a:rPr>
              <a:t>Por qué se corrigió: </a:t>
            </a:r>
            <a:r>
              <a:rPr lang="en-US" sz="1500" dirty="0">
                <a:solidFill>
                  <a:schemeClr val="tx1"/>
                </a:solidFill>
              </a:rPr>
              <a:t>la IA trató «menos código» como meta absoluta y no distinguió la sobreingeniería de la abstracción que el negocio sí necesita.</a:t>
            </a:r>
            <a:endParaRPr lang="en-US" sz="1500" dirty="0"/>
          </a:p>
        </p:txBody>
      </p:sp>
      <p:sp>
        <p:nvSpPr>
          <p:cNvPr id="12" name="Shape 10"/>
          <p:cNvSpPr/>
          <p:nvPr/>
        </p:nvSpPr>
        <p:spPr>
          <a:xfrm>
            <a:off x="6217920" y="4343400"/>
            <a:ext cx="5486400" cy="1600200"/>
          </a:xfrm>
          <a:prstGeom prst="roundRect">
            <a:avLst>
              <a:gd name="adj" fmla="val 4571"/>
            </a:avLst>
          </a:prstGeom>
          <a:solidFill>
            <a:schemeClr val="tx2"/>
          </a:solidFill>
          <a:ln/>
        </p:spPr>
      </p:sp>
      <p:sp>
        <p:nvSpPr>
          <p:cNvPr id="13" name="Text 11"/>
          <p:cNvSpPr txBox="1"/>
          <p:nvPr/>
        </p:nvSpPr>
        <p:spPr>
          <a:xfrm>
            <a:off x="6400800" y="4434840"/>
            <a:ext cx="5120640" cy="1417320"/>
          </a:xfrm>
          <a:prstGeom prst="rect">
            <a:avLst/>
          </a:prstGeom>
          <a:noFill/>
          <a:ln/>
        </p:spPr>
        <p:txBody>
          <a:bodyPr wrap="square" lIns="0" tIns="0" rIns="0" bIns="0" rtlCol="0" anchor="ctr"/>
          <a:lstStyle/>
          <a:p>
            <a:pPr marL="0" indent="0">
              <a:buNone/>
            </a:pPr>
            <a:r>
              <a:rPr lang="en-US" sz="1500" b="1" dirty="0">
                <a:solidFill>
                  <a:schemeClr val="accent2"/>
                </a:solidFill>
              </a:rPr>
              <a:t>Lección: </a:t>
            </a:r>
            <a:r>
              <a:rPr lang="en-US" sz="1500" dirty="0">
                <a:solidFill>
                  <a:schemeClr val="bg1"/>
                </a:solidFill>
              </a:rPr>
              <a:t>cada corrección de la IA se verifica contra todos los requisitos, y la documentación cambia en el mismo commit.</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155680" cy="777240"/>
          </a:xfrm>
          <a:prstGeom prst="rect">
            <a:avLst/>
          </a:prstGeom>
          <a:noFill/>
          <a:ln/>
        </p:spPr>
        <p:txBody>
          <a:bodyPr wrap="square" rtlCol="0" anchor="ctr"/>
          <a:lstStyle/>
          <a:p>
            <a:pPr marL="0" indent="0" algn="l">
              <a:buNone/>
            </a:pPr>
            <a:r>
              <a:rPr lang="en-US" sz="3200" b="1" dirty="0">
                <a:solidFill>
                  <a:schemeClr val="tx2"/>
                </a:solidFill>
              </a:rPr>
              <a:t>Errores típicos de la IA detectados y corregidos</a:t>
            </a:r>
            <a:endParaRPr lang="en-US" sz="3200" dirty="0"/>
          </a:p>
        </p:txBody>
      </p:sp>
      <p:sp>
        <p:nvSpPr>
          <p:cNvPr id="3" name="Shape 1"/>
          <p:cNvSpPr/>
          <p:nvPr/>
        </p:nvSpPr>
        <p:spPr>
          <a:xfrm>
            <a:off x="548640" y="1325880"/>
            <a:ext cx="2651760" cy="2240280"/>
          </a:xfrm>
          <a:prstGeom prst="roundRect">
            <a:avLst>
              <a:gd name="adj" fmla="val 3265"/>
            </a:avLst>
          </a:prstGeom>
          <a:solidFill>
            <a:schemeClr val="bg2"/>
          </a:solidFill>
          <a:ln/>
        </p:spPr>
      </p:sp>
      <p:sp>
        <p:nvSpPr>
          <p:cNvPr id="4" name="Text 2"/>
          <p:cNvSpPr txBox="1"/>
          <p:nvPr/>
        </p:nvSpPr>
        <p:spPr>
          <a:xfrm>
            <a:off x="731520" y="149047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5" name="Text 3"/>
          <p:cNvSpPr txBox="1"/>
          <p:nvPr/>
        </p:nvSpPr>
        <p:spPr>
          <a:xfrm>
            <a:off x="731520" y="1764792"/>
            <a:ext cx="2286000" cy="640080"/>
          </a:xfrm>
          <a:prstGeom prst="rect">
            <a:avLst/>
          </a:prstGeom>
          <a:noFill/>
          <a:ln/>
        </p:spPr>
        <p:txBody>
          <a:bodyPr wrap="square" lIns="0" tIns="0" rIns="0" bIns="0" rtlCol="0" anchor="t"/>
          <a:lstStyle/>
          <a:p>
            <a:pPr marL="0" indent="0">
              <a:buNone/>
            </a:pPr>
            <a:r>
              <a:rPr lang="en-US" sz="1600" b="1" dirty="0">
                <a:solidFill>
                  <a:schemeClr val="tx2"/>
                </a:solidFill>
              </a:rPr>
              <a:t>Sumar porcentajes</a:t>
            </a:r>
            <a:endParaRPr lang="en-US" sz="1600" dirty="0"/>
          </a:p>
        </p:txBody>
      </p:sp>
      <p:sp>
        <p:nvSpPr>
          <p:cNvPr id="6" name="Text 4"/>
          <p:cNvSpPr txBox="1"/>
          <p:nvPr/>
        </p:nvSpPr>
        <p:spPr>
          <a:xfrm>
            <a:off x="731520" y="244144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7" name="Text 5"/>
          <p:cNvSpPr txBox="1"/>
          <p:nvPr/>
        </p:nvSpPr>
        <p:spPr>
          <a:xfrm>
            <a:off x="731520" y="2697480"/>
            <a:ext cx="2286000" cy="777240"/>
          </a:xfrm>
          <a:prstGeom prst="rect">
            <a:avLst/>
          </a:prstGeom>
          <a:noFill/>
          <a:ln/>
        </p:spPr>
        <p:txBody>
          <a:bodyPr wrap="square" lIns="0" tIns="0" rIns="0" bIns="0" rtlCol="0" anchor="t"/>
          <a:lstStyle/>
          <a:p>
            <a:pPr marL="0" indent="0">
              <a:buNone/>
            </a:pPr>
            <a:r>
              <a:rPr lang="en-US" sz="1300" dirty="0">
                <a:solidFill>
                  <a:schemeClr val="tx1"/>
                </a:solidFill>
              </a:rPr>
              <a:t>Cascada multiplicativa: caso (c) 23.29, no 24.20</a:t>
            </a:r>
            <a:endParaRPr lang="en-US" sz="1300" dirty="0"/>
          </a:p>
        </p:txBody>
      </p:sp>
      <p:sp>
        <p:nvSpPr>
          <p:cNvPr id="8" name="Shape 6"/>
          <p:cNvSpPr/>
          <p:nvPr/>
        </p:nvSpPr>
        <p:spPr>
          <a:xfrm>
            <a:off x="3355848" y="1325880"/>
            <a:ext cx="2651760" cy="2240280"/>
          </a:xfrm>
          <a:prstGeom prst="roundRect">
            <a:avLst>
              <a:gd name="adj" fmla="val 3265"/>
            </a:avLst>
          </a:prstGeom>
          <a:solidFill>
            <a:schemeClr val="bg2"/>
          </a:solidFill>
          <a:ln/>
        </p:spPr>
      </p:sp>
      <p:sp>
        <p:nvSpPr>
          <p:cNvPr id="9" name="Text 7"/>
          <p:cNvSpPr txBox="1"/>
          <p:nvPr/>
        </p:nvSpPr>
        <p:spPr>
          <a:xfrm>
            <a:off x="3538728" y="149047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10" name="Text 8"/>
          <p:cNvSpPr txBox="1"/>
          <p:nvPr/>
        </p:nvSpPr>
        <p:spPr>
          <a:xfrm>
            <a:off x="3538728" y="1764792"/>
            <a:ext cx="2286000" cy="640080"/>
          </a:xfrm>
          <a:prstGeom prst="rect">
            <a:avLst/>
          </a:prstGeom>
          <a:noFill/>
          <a:ln/>
        </p:spPr>
        <p:txBody>
          <a:bodyPr wrap="square" lIns="0" tIns="0" rIns="0" bIns="0" rtlCol="0" anchor="t"/>
          <a:lstStyle/>
          <a:p>
            <a:pPr marL="0" indent="0">
              <a:buNone/>
            </a:pPr>
            <a:r>
              <a:rPr lang="en-US" sz="1600" b="1" dirty="0">
                <a:solidFill>
                  <a:schemeClr val="tx2"/>
                </a:solidFill>
              </a:rPr>
              <a:t>Usar double</a:t>
            </a:r>
            <a:endParaRPr lang="en-US" sz="1600" dirty="0"/>
          </a:p>
        </p:txBody>
      </p:sp>
      <p:sp>
        <p:nvSpPr>
          <p:cNvPr id="11" name="Text 9"/>
          <p:cNvSpPr txBox="1"/>
          <p:nvPr/>
        </p:nvSpPr>
        <p:spPr>
          <a:xfrm>
            <a:off x="3538728" y="244144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12" name="Text 10"/>
          <p:cNvSpPr txBox="1"/>
          <p:nvPr/>
        </p:nvSpPr>
        <p:spPr>
          <a:xfrm>
            <a:off x="3538728" y="2697480"/>
            <a:ext cx="2286000" cy="777240"/>
          </a:xfrm>
          <a:prstGeom prst="rect">
            <a:avLst/>
          </a:prstGeom>
          <a:noFill/>
          <a:ln/>
        </p:spPr>
        <p:txBody>
          <a:bodyPr wrap="square" lIns="0" tIns="0" rIns="0" bIns="0" rtlCol="0" anchor="t"/>
          <a:lstStyle/>
          <a:p>
            <a:pPr marL="0" indent="0">
              <a:buNone/>
            </a:pPr>
            <a:r>
              <a:rPr lang="en-US" sz="1300" dirty="0">
                <a:solidFill>
                  <a:schemeClr val="tx1"/>
                </a:solidFill>
              </a:rPr>
              <a:t>BigDecimal en todo; aritmética solo en MoneyUtils</a:t>
            </a:r>
            <a:endParaRPr lang="en-US" sz="1300" dirty="0"/>
          </a:p>
        </p:txBody>
      </p:sp>
      <p:sp>
        <p:nvSpPr>
          <p:cNvPr id="13" name="Shape 11"/>
          <p:cNvSpPr/>
          <p:nvPr/>
        </p:nvSpPr>
        <p:spPr>
          <a:xfrm>
            <a:off x="6163056" y="1325880"/>
            <a:ext cx="2651760" cy="2240280"/>
          </a:xfrm>
          <a:prstGeom prst="roundRect">
            <a:avLst>
              <a:gd name="adj" fmla="val 3265"/>
            </a:avLst>
          </a:prstGeom>
          <a:solidFill>
            <a:schemeClr val="bg2"/>
          </a:solidFill>
          <a:ln/>
        </p:spPr>
      </p:sp>
      <p:sp>
        <p:nvSpPr>
          <p:cNvPr id="14" name="Text 12"/>
          <p:cNvSpPr txBox="1"/>
          <p:nvPr/>
        </p:nvSpPr>
        <p:spPr>
          <a:xfrm>
            <a:off x="6345936" y="149047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15" name="Text 13"/>
          <p:cNvSpPr txBox="1"/>
          <p:nvPr/>
        </p:nvSpPr>
        <p:spPr>
          <a:xfrm>
            <a:off x="6345936" y="1764792"/>
            <a:ext cx="2286000" cy="640080"/>
          </a:xfrm>
          <a:prstGeom prst="rect">
            <a:avLst/>
          </a:prstGeom>
          <a:noFill/>
          <a:ln/>
        </p:spPr>
        <p:txBody>
          <a:bodyPr wrap="square" lIns="0" tIns="0" rIns="0" bIns="0" rtlCol="0" anchor="t"/>
          <a:lstStyle/>
          <a:p>
            <a:pPr marL="0" indent="0">
              <a:buNone/>
            </a:pPr>
            <a:r>
              <a:rPr lang="en-US" sz="1600" b="1" dirty="0">
                <a:solidFill>
                  <a:schemeClr val="tx2"/>
                </a:solidFill>
              </a:rPr>
              <a:t>Redondear solo al final</a:t>
            </a:r>
            <a:endParaRPr lang="en-US" sz="1600" dirty="0"/>
          </a:p>
        </p:txBody>
      </p:sp>
      <p:sp>
        <p:nvSpPr>
          <p:cNvPr id="16" name="Text 14"/>
          <p:cNvSpPr txBox="1"/>
          <p:nvPr/>
        </p:nvSpPr>
        <p:spPr>
          <a:xfrm>
            <a:off x="6345936" y="244144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17" name="Text 15"/>
          <p:cNvSpPr txBox="1"/>
          <p:nvPr/>
        </p:nvSpPr>
        <p:spPr>
          <a:xfrm>
            <a:off x="6345936" y="2697480"/>
            <a:ext cx="2286000" cy="777240"/>
          </a:xfrm>
          <a:prstGeom prst="rect">
            <a:avLst/>
          </a:prstGeom>
          <a:noFill/>
          <a:ln/>
        </p:spPr>
        <p:txBody>
          <a:bodyPr wrap="square" lIns="0" tIns="0" rIns="0" bIns="0" rtlCol="0" anchor="t"/>
          <a:lstStyle/>
          <a:p>
            <a:pPr marL="0" indent="0">
              <a:buNone/>
            </a:pPr>
            <a:r>
              <a:rPr lang="en-US" sz="1300" dirty="0">
                <a:solidFill>
                  <a:schemeClr val="tx1"/>
                </a:solidFill>
              </a:rPr>
              <a:t>HALF_UP en cada paso: 83.505 → 83.51</a:t>
            </a:r>
            <a:endParaRPr lang="en-US" sz="1300" dirty="0"/>
          </a:p>
        </p:txBody>
      </p:sp>
      <p:sp>
        <p:nvSpPr>
          <p:cNvPr id="18" name="Shape 16"/>
          <p:cNvSpPr/>
          <p:nvPr/>
        </p:nvSpPr>
        <p:spPr>
          <a:xfrm>
            <a:off x="8970264" y="1325880"/>
            <a:ext cx="2651760" cy="2240280"/>
          </a:xfrm>
          <a:prstGeom prst="roundRect">
            <a:avLst>
              <a:gd name="adj" fmla="val 3265"/>
            </a:avLst>
          </a:prstGeom>
          <a:solidFill>
            <a:schemeClr val="bg2"/>
          </a:solidFill>
          <a:ln/>
        </p:spPr>
      </p:sp>
      <p:sp>
        <p:nvSpPr>
          <p:cNvPr id="19" name="Text 17"/>
          <p:cNvSpPr txBox="1"/>
          <p:nvPr/>
        </p:nvSpPr>
        <p:spPr>
          <a:xfrm>
            <a:off x="9153144" y="149047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20" name="Text 18"/>
          <p:cNvSpPr txBox="1"/>
          <p:nvPr/>
        </p:nvSpPr>
        <p:spPr>
          <a:xfrm>
            <a:off x="9153144" y="1764792"/>
            <a:ext cx="2286000" cy="640080"/>
          </a:xfrm>
          <a:prstGeom prst="rect">
            <a:avLst/>
          </a:prstGeom>
          <a:noFill/>
          <a:ln/>
        </p:spPr>
        <p:txBody>
          <a:bodyPr wrap="square" lIns="0" tIns="0" rIns="0" bIns="0" rtlCol="0" anchor="t"/>
          <a:lstStyle/>
          <a:p>
            <a:pPr marL="0" indent="0">
              <a:buNone/>
            </a:pPr>
            <a:r>
              <a:rPr lang="en-US" sz="1600" b="1" dirty="0">
                <a:solidFill>
                  <a:schemeClr val="tx2"/>
                </a:solidFill>
              </a:rPr>
              <a:t>Tope sobre el total descontado</a:t>
            </a:r>
            <a:endParaRPr lang="en-US" sz="1600" dirty="0"/>
          </a:p>
        </p:txBody>
      </p:sp>
      <p:sp>
        <p:nvSpPr>
          <p:cNvPr id="21" name="Text 19"/>
          <p:cNvSpPr txBox="1"/>
          <p:nvPr/>
        </p:nvSpPr>
        <p:spPr>
          <a:xfrm>
            <a:off x="9153144" y="244144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22" name="Text 20"/>
          <p:cNvSpPr txBox="1"/>
          <p:nvPr/>
        </p:nvSpPr>
        <p:spPr>
          <a:xfrm>
            <a:off x="9153144" y="2697480"/>
            <a:ext cx="2286000" cy="777240"/>
          </a:xfrm>
          <a:prstGeom prst="rect">
            <a:avLst/>
          </a:prstGeom>
          <a:noFill/>
          <a:ln/>
        </p:spPr>
        <p:txBody>
          <a:bodyPr wrap="square" lIns="0" tIns="0" rIns="0" bIns="0" rtlCol="0" anchor="t"/>
          <a:lstStyle/>
          <a:p>
            <a:pPr marL="0" indent="0">
              <a:buNone/>
            </a:pPr>
            <a:r>
              <a:rPr lang="en-US" sz="1300" dirty="0">
                <a:solidFill>
                  <a:schemeClr val="tx1"/>
                </a:solidFill>
              </a:rPr>
              <a:t>35 % del subtotal original: 320 × 35 % = 112.00</a:t>
            </a:r>
            <a:endParaRPr lang="en-US" sz="1300" dirty="0"/>
          </a:p>
        </p:txBody>
      </p:sp>
      <p:sp>
        <p:nvSpPr>
          <p:cNvPr id="23" name="Shape 21"/>
          <p:cNvSpPr/>
          <p:nvPr/>
        </p:nvSpPr>
        <p:spPr>
          <a:xfrm>
            <a:off x="548640" y="3749040"/>
            <a:ext cx="2651760" cy="2240280"/>
          </a:xfrm>
          <a:prstGeom prst="roundRect">
            <a:avLst>
              <a:gd name="adj" fmla="val 3265"/>
            </a:avLst>
          </a:prstGeom>
          <a:solidFill>
            <a:schemeClr val="bg2"/>
          </a:solidFill>
          <a:ln/>
        </p:spPr>
      </p:sp>
      <p:sp>
        <p:nvSpPr>
          <p:cNvPr id="24" name="Text 22"/>
          <p:cNvSpPr txBox="1"/>
          <p:nvPr/>
        </p:nvSpPr>
        <p:spPr>
          <a:xfrm>
            <a:off x="731520" y="391363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25" name="Text 23"/>
          <p:cNvSpPr txBox="1"/>
          <p:nvPr/>
        </p:nvSpPr>
        <p:spPr>
          <a:xfrm>
            <a:off x="731520" y="4187952"/>
            <a:ext cx="2286000" cy="640080"/>
          </a:xfrm>
          <a:prstGeom prst="rect">
            <a:avLst/>
          </a:prstGeom>
          <a:noFill/>
          <a:ln/>
        </p:spPr>
        <p:txBody>
          <a:bodyPr wrap="square" lIns="0" tIns="0" rIns="0" bIns="0" rtlCol="0" anchor="t"/>
          <a:lstStyle/>
          <a:p>
            <a:pPr marL="0" indent="0">
              <a:buNone/>
            </a:pPr>
            <a:r>
              <a:rPr lang="en-US" sz="1600" b="1" dirty="0">
                <a:solidFill>
                  <a:schemeClr val="tx2"/>
                </a:solidFill>
              </a:rPr>
              <a:t>ddl-auto=update</a:t>
            </a:r>
            <a:endParaRPr lang="en-US" sz="1600" dirty="0"/>
          </a:p>
        </p:txBody>
      </p:sp>
      <p:sp>
        <p:nvSpPr>
          <p:cNvPr id="26" name="Text 24"/>
          <p:cNvSpPr txBox="1"/>
          <p:nvPr/>
        </p:nvSpPr>
        <p:spPr>
          <a:xfrm>
            <a:off x="731520" y="486460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27" name="Text 25"/>
          <p:cNvSpPr txBox="1"/>
          <p:nvPr/>
        </p:nvSpPr>
        <p:spPr>
          <a:xfrm>
            <a:off x="731520" y="5120640"/>
            <a:ext cx="2286000" cy="777240"/>
          </a:xfrm>
          <a:prstGeom prst="rect">
            <a:avLst/>
          </a:prstGeom>
          <a:noFill/>
          <a:ln/>
        </p:spPr>
        <p:txBody>
          <a:bodyPr wrap="square" lIns="0" tIns="0" rIns="0" bIns="0" rtlCol="0" anchor="t"/>
          <a:lstStyle/>
          <a:p>
            <a:pPr marL="0" indent="0">
              <a:buNone/>
            </a:pPr>
            <a:r>
              <a:rPr lang="en-US" sz="1300" dirty="0">
                <a:solidFill>
                  <a:schemeClr val="tx1"/>
                </a:solidFill>
              </a:rPr>
              <a:t>validate: los scripts SQL son la fuente de verdad</a:t>
            </a:r>
            <a:endParaRPr lang="en-US" sz="1300" dirty="0"/>
          </a:p>
        </p:txBody>
      </p:sp>
      <p:sp>
        <p:nvSpPr>
          <p:cNvPr id="28" name="Shape 26"/>
          <p:cNvSpPr/>
          <p:nvPr/>
        </p:nvSpPr>
        <p:spPr>
          <a:xfrm>
            <a:off x="3355848" y="3749040"/>
            <a:ext cx="2651760" cy="2240280"/>
          </a:xfrm>
          <a:prstGeom prst="roundRect">
            <a:avLst>
              <a:gd name="adj" fmla="val 3265"/>
            </a:avLst>
          </a:prstGeom>
          <a:solidFill>
            <a:schemeClr val="bg2"/>
          </a:solidFill>
          <a:ln/>
        </p:spPr>
      </p:sp>
      <p:sp>
        <p:nvSpPr>
          <p:cNvPr id="29" name="Text 27"/>
          <p:cNvSpPr txBox="1"/>
          <p:nvPr/>
        </p:nvSpPr>
        <p:spPr>
          <a:xfrm>
            <a:off x="3538728" y="391363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30" name="Text 28"/>
          <p:cNvSpPr txBox="1"/>
          <p:nvPr/>
        </p:nvSpPr>
        <p:spPr>
          <a:xfrm>
            <a:off x="3538728" y="4187952"/>
            <a:ext cx="2286000" cy="640080"/>
          </a:xfrm>
          <a:prstGeom prst="rect">
            <a:avLst/>
          </a:prstGeom>
          <a:noFill/>
          <a:ln/>
        </p:spPr>
        <p:txBody>
          <a:bodyPr wrap="square" lIns="0" tIns="0" rIns="0" bIns="0" rtlCol="0" anchor="t"/>
          <a:lstStyle/>
          <a:p>
            <a:pPr marL="0" indent="0">
              <a:buNone/>
            </a:pPr>
            <a:r>
              <a:rPr lang="en-US" sz="1600" b="1" dirty="0">
                <a:solidFill>
                  <a:schemeClr val="tx2"/>
                </a:solidFill>
              </a:rPr>
              <a:t>now() directo</a:t>
            </a:r>
            <a:endParaRPr lang="en-US" sz="1600" dirty="0"/>
          </a:p>
        </p:txBody>
      </p:sp>
      <p:sp>
        <p:nvSpPr>
          <p:cNvPr id="31" name="Text 29"/>
          <p:cNvSpPr txBox="1"/>
          <p:nvPr/>
        </p:nvSpPr>
        <p:spPr>
          <a:xfrm>
            <a:off x="3538728" y="486460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32" name="Text 30"/>
          <p:cNvSpPr txBox="1"/>
          <p:nvPr/>
        </p:nvSpPr>
        <p:spPr>
          <a:xfrm>
            <a:off x="3538728" y="5120640"/>
            <a:ext cx="2286000" cy="777240"/>
          </a:xfrm>
          <a:prstGeom prst="rect">
            <a:avLst/>
          </a:prstGeom>
          <a:noFill/>
          <a:ln/>
        </p:spPr>
        <p:txBody>
          <a:bodyPr wrap="square" lIns="0" tIns="0" rIns="0" bIns="0" rtlCol="0" anchor="t"/>
          <a:lstStyle/>
          <a:p>
            <a:pPr marL="0" indent="0">
              <a:buNone/>
            </a:pPr>
            <a:r>
              <a:rPr lang="en-US" sz="1300" dirty="0">
                <a:solidFill>
                  <a:schemeClr val="tx1"/>
                </a:solidFill>
              </a:rPr>
              <a:t>Clock inyectado; reloj fijo en las pruebas</a:t>
            </a:r>
            <a:endParaRPr lang="en-US" sz="1300" dirty="0"/>
          </a:p>
        </p:txBody>
      </p:sp>
      <p:sp>
        <p:nvSpPr>
          <p:cNvPr id="33" name="Shape 31"/>
          <p:cNvSpPr/>
          <p:nvPr/>
        </p:nvSpPr>
        <p:spPr>
          <a:xfrm>
            <a:off x="6163056" y="3749040"/>
            <a:ext cx="2651760" cy="2240280"/>
          </a:xfrm>
          <a:prstGeom prst="roundRect">
            <a:avLst>
              <a:gd name="adj" fmla="val 3265"/>
            </a:avLst>
          </a:prstGeom>
          <a:solidFill>
            <a:schemeClr val="bg2"/>
          </a:solidFill>
          <a:ln/>
        </p:spPr>
      </p:sp>
      <p:sp>
        <p:nvSpPr>
          <p:cNvPr id="34" name="Text 32"/>
          <p:cNvSpPr txBox="1"/>
          <p:nvPr/>
        </p:nvSpPr>
        <p:spPr>
          <a:xfrm>
            <a:off x="6345936" y="391363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35" name="Text 33"/>
          <p:cNvSpPr txBox="1"/>
          <p:nvPr/>
        </p:nvSpPr>
        <p:spPr>
          <a:xfrm>
            <a:off x="6345936" y="4187952"/>
            <a:ext cx="2286000" cy="640080"/>
          </a:xfrm>
          <a:prstGeom prst="rect">
            <a:avLst/>
          </a:prstGeom>
          <a:noFill/>
          <a:ln/>
        </p:spPr>
        <p:txBody>
          <a:bodyPr wrap="square" lIns="0" tIns="0" rIns="0" bIns="0" rtlCol="0" anchor="t"/>
          <a:lstStyle/>
          <a:p>
            <a:pPr marL="0" indent="0">
              <a:buNone/>
            </a:pPr>
            <a:r>
              <a:rPr lang="en-US" sz="1600" b="1" dirty="0">
                <a:solidFill>
                  <a:schemeClr val="tx2"/>
                </a:solidFill>
              </a:rPr>
              <a:t>Cobertura engañosa</a:t>
            </a:r>
            <a:endParaRPr lang="en-US" sz="1600" dirty="0"/>
          </a:p>
        </p:txBody>
      </p:sp>
      <p:sp>
        <p:nvSpPr>
          <p:cNvPr id="36" name="Text 34"/>
          <p:cNvSpPr txBox="1"/>
          <p:nvPr/>
        </p:nvSpPr>
        <p:spPr>
          <a:xfrm>
            <a:off x="6345936" y="486460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37" name="Text 35"/>
          <p:cNvSpPr txBox="1"/>
          <p:nvPr/>
        </p:nvSpPr>
        <p:spPr>
          <a:xfrm>
            <a:off x="6345936" y="5120640"/>
            <a:ext cx="2286000" cy="777240"/>
          </a:xfrm>
          <a:prstGeom prst="rect">
            <a:avLst/>
          </a:prstGeom>
          <a:noFill/>
          <a:ln/>
        </p:spPr>
        <p:txBody>
          <a:bodyPr wrap="square" lIns="0" tIns="0" rIns="0" bIns="0" rtlCol="0" anchor="t"/>
          <a:lstStyle/>
          <a:p>
            <a:pPr marL="0" indent="0">
              <a:buNone/>
            </a:pPr>
            <a:r>
              <a:rPr lang="en-US" sz="1300" dirty="0">
                <a:solidFill>
                  <a:schemeClr val="tx1"/>
                </a:solidFill>
              </a:rPr>
              <a:t>91 % aparente vs. 42 % real: medir todo src/app</a:t>
            </a:r>
            <a:endParaRPr lang="en-US" sz="1300" dirty="0"/>
          </a:p>
        </p:txBody>
      </p:sp>
      <p:sp>
        <p:nvSpPr>
          <p:cNvPr id="38" name="Shape 36"/>
          <p:cNvSpPr/>
          <p:nvPr/>
        </p:nvSpPr>
        <p:spPr>
          <a:xfrm>
            <a:off x="8970264" y="3749040"/>
            <a:ext cx="2651760" cy="2240280"/>
          </a:xfrm>
          <a:prstGeom prst="roundRect">
            <a:avLst>
              <a:gd name="adj" fmla="val 3265"/>
            </a:avLst>
          </a:prstGeom>
          <a:solidFill>
            <a:schemeClr val="bg2"/>
          </a:solidFill>
          <a:ln/>
        </p:spPr>
      </p:sp>
      <p:sp>
        <p:nvSpPr>
          <p:cNvPr id="39" name="Text 37"/>
          <p:cNvSpPr txBox="1"/>
          <p:nvPr/>
        </p:nvSpPr>
        <p:spPr>
          <a:xfrm>
            <a:off x="9153144" y="3913632"/>
            <a:ext cx="2286000" cy="274320"/>
          </a:xfrm>
          <a:prstGeom prst="rect">
            <a:avLst/>
          </a:prstGeom>
          <a:noFill/>
          <a:ln/>
        </p:spPr>
        <p:txBody>
          <a:bodyPr wrap="square" lIns="0" tIns="0" rIns="0" bIns="0" rtlCol="0" anchor="t"/>
          <a:lstStyle/>
          <a:p>
            <a:pPr marL="0" indent="0">
              <a:buNone/>
            </a:pPr>
            <a:r>
              <a:rPr lang="en-US" sz="1100" b="1" dirty="0">
                <a:solidFill>
                  <a:schemeClr val="accent5"/>
                </a:solidFill>
              </a:rPr>
              <a:t>ERROR</a:t>
            </a:r>
            <a:endParaRPr lang="en-US" sz="1100" dirty="0"/>
          </a:p>
        </p:txBody>
      </p:sp>
      <p:sp>
        <p:nvSpPr>
          <p:cNvPr id="40" name="Text 38"/>
          <p:cNvSpPr txBox="1"/>
          <p:nvPr/>
        </p:nvSpPr>
        <p:spPr>
          <a:xfrm>
            <a:off x="9153144" y="4187952"/>
            <a:ext cx="2286000" cy="640080"/>
          </a:xfrm>
          <a:prstGeom prst="rect">
            <a:avLst/>
          </a:prstGeom>
          <a:noFill/>
          <a:ln/>
        </p:spPr>
        <p:txBody>
          <a:bodyPr wrap="square" lIns="0" tIns="0" rIns="0" bIns="0" rtlCol="0" anchor="t"/>
          <a:lstStyle/>
          <a:p>
            <a:pPr marL="0" indent="0">
              <a:buNone/>
            </a:pPr>
            <a:r>
              <a:rPr lang="en-US" sz="1600" b="1" dirty="0">
                <a:solidFill>
                  <a:schemeClr val="tx2"/>
                </a:solidFill>
              </a:rPr>
              <a:t>Escapes del tipado</a:t>
            </a:r>
            <a:endParaRPr lang="en-US" sz="1600" dirty="0"/>
          </a:p>
        </p:txBody>
      </p:sp>
      <p:sp>
        <p:nvSpPr>
          <p:cNvPr id="41" name="Text 39"/>
          <p:cNvSpPr txBox="1"/>
          <p:nvPr/>
        </p:nvSpPr>
        <p:spPr>
          <a:xfrm>
            <a:off x="9153144" y="4864608"/>
            <a:ext cx="2286000" cy="274320"/>
          </a:xfrm>
          <a:prstGeom prst="rect">
            <a:avLst/>
          </a:prstGeom>
          <a:noFill/>
          <a:ln/>
        </p:spPr>
        <p:txBody>
          <a:bodyPr wrap="square" lIns="0" tIns="0" rIns="0" bIns="0" rtlCol="0" anchor="t"/>
          <a:lstStyle/>
          <a:p>
            <a:pPr marL="0" indent="0">
              <a:buNone/>
            </a:pPr>
            <a:r>
              <a:rPr lang="en-US" sz="1100" b="1" dirty="0">
                <a:solidFill>
                  <a:schemeClr val="accent4"/>
                </a:solidFill>
              </a:rPr>
              <a:t>CORRECCIÓN</a:t>
            </a:r>
            <a:endParaRPr lang="en-US" sz="1100" dirty="0"/>
          </a:p>
        </p:txBody>
      </p:sp>
      <p:sp>
        <p:nvSpPr>
          <p:cNvPr id="42" name="Text 40"/>
          <p:cNvSpPr txBox="1"/>
          <p:nvPr/>
        </p:nvSpPr>
        <p:spPr>
          <a:xfrm>
            <a:off x="9153144" y="5120640"/>
            <a:ext cx="2286000" cy="777240"/>
          </a:xfrm>
          <a:prstGeom prst="rect">
            <a:avLst/>
          </a:prstGeom>
          <a:noFill/>
          <a:ln/>
        </p:spPr>
        <p:txBody>
          <a:bodyPr wrap="square" lIns="0" tIns="0" rIns="0" bIns="0" rtlCol="0" anchor="t"/>
          <a:lstStyle/>
          <a:p>
            <a:pPr marL="0" indent="0">
              <a:buNone/>
            </a:pPr>
            <a:r>
              <a:rPr lang="en-US" sz="1300" dirty="0">
                <a:solidFill>
                  <a:schemeClr val="tx1"/>
                </a:solidFill>
              </a:rPr>
              <a:t>$any y casts → referencias tipadas y guardas</a:t>
            </a:r>
            <a:endParaRPr lang="en-US" sz="1300" dirty="0"/>
          </a:p>
        </p:txBody>
      </p:sp>
      <p:sp>
        <p:nvSpPr>
          <p:cNvPr id="43"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A8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3097953"/>
            <a:ext cx="10698480" cy="662093"/>
          </a:xfrm>
          <a:prstGeom prst="rect">
            <a:avLst/>
          </a:prstGeom>
          <a:noFill/>
          <a:ln/>
        </p:spPr>
        <p:txBody>
          <a:bodyPr wrap="square" rtlCol="0" anchor="b"/>
          <a:lstStyle/>
          <a:p>
            <a:pPr marL="0" indent="0" algn="ctr">
              <a:buNone/>
            </a:pPr>
            <a:r>
              <a:rPr lang="en-US" sz="4400" b="1" dirty="0">
                <a:solidFill>
                  <a:schemeClr val="bg1"/>
                </a:solidFill>
              </a:rPr>
              <a:t> </a:t>
            </a:r>
            <a:r>
              <a:rPr lang="en-US" sz="4400" b="1" dirty="0" err="1">
                <a:solidFill>
                  <a:schemeClr val="bg1"/>
                </a:solidFill>
              </a:rPr>
              <a:t>Muchas</a:t>
            </a:r>
            <a:r>
              <a:rPr lang="en-US" sz="4400" b="1" dirty="0">
                <a:solidFill>
                  <a:schemeClr val="bg1"/>
                </a:solidFill>
              </a:rPr>
              <a:t> Gracias</a:t>
            </a:r>
            <a:endParaRPr lang="en-US" sz="4400" dirty="0"/>
          </a:p>
        </p:txBody>
      </p:sp>
    </p:spTree>
  </p:cSld>
  <p:clrMapOvr>
    <a:masterClrMapping/>
  </p:clrMapOvr>
</p:sld>
</file>

<file path=ppt/theme/theme1.xml><?xml version="1.0" encoding="utf-8"?>
<a:theme xmlns:a="http://schemas.openxmlformats.org/drawingml/2006/main" name="KATA Checkout">
  <a:themeElements>
    <a:clrScheme name="KATA Checkout">
      <a:dk1>
        <a:srgbClr val="1B2430"/>
      </a:dk1>
      <a:lt1>
        <a:srgbClr val="FFFFFF"/>
      </a:lt1>
      <a:dk2>
        <a:srgbClr val="0E4D64"/>
      </a:dk2>
      <a:lt2>
        <a:srgbClr val="EEF4F6"/>
      </a:lt2>
      <a:accent1>
        <a:srgbClr val="137C8B"/>
      </a:accent1>
      <a:accent2>
        <a:srgbClr val="F29E4C"/>
      </a:accent2>
      <a:accent3>
        <a:srgbClr val="6C7A89"/>
      </a:accent3>
      <a:accent4>
        <a:srgbClr val="2E8B57"/>
      </a:accent4>
      <a:accent5>
        <a:srgbClr val="C8553D"/>
      </a:accent5>
      <a:accent6>
        <a:srgbClr val="0A2F3D"/>
      </a:accent6>
      <a:hlink>
        <a:srgbClr val="137C8B"/>
      </a:hlink>
      <a:folHlink>
        <a:srgbClr val="6C7A89"/>
      </a:folHlink>
    </a:clrScheme>
    <a:fontScheme name="KATA Check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4739</Words>
  <Application>Microsoft Office PowerPoint</Application>
  <PresentationFormat>Panorámica</PresentationFormat>
  <Paragraphs>494</Paragraphs>
  <Slides>25</Slides>
  <Notes>25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Cambria</vt:lpstr>
      <vt:lpstr>Courier New</vt:lpstr>
      <vt:lpstr>KATA Checkout</vt:lpstr>
      <vt:lpstr>Core E-Commerce con Descuentos Acumulativos</vt:lpstr>
      <vt:lpstr>Agenda</vt:lpstr>
      <vt:lpstr>Arquitectura en modelo C4</vt:lpstr>
      <vt:lpstr>Nivel 1 · Contexto del sistema</vt:lpstr>
      <vt:lpstr>Nivel 2 · Contenedores</vt:lpstr>
      <vt:lpstr>Nivel 3 · Componentes del backend</vt:lpstr>
      <vt:lpstr>Nivel 3 · Componentes del frontend</vt:lpstr>
      <vt:lpstr>Patrones de diseño aplicados</vt:lpstr>
      <vt:lpstr>Strategy: una clase por tipo de descuento</vt:lpstr>
      <vt:lpstr>Factory: un único punto que crea y ordena las reglas</vt:lpstr>
      <vt:lpstr>Decisiones documentadas en docs/arquitectura.md</vt:lpstr>
      <vt:lpstr>A · Por qué este stack y este diseño de carpetas</vt:lpstr>
      <vt:lpstr>B · Trade-offs asumidos (negocio y técnica)</vt:lpstr>
      <vt:lpstr>C · Cómo se aisló el motor de descuentos</vt:lpstr>
      <vt:lpstr>Caso (d): la cascada verificada al centavo</vt:lpstr>
      <vt:lpstr>Calidad: cobertura mínima del 80 %</vt:lpstr>
      <vt:lpstr>Cobertura alcanzada en backend y frontend</vt:lpstr>
      <vt:lpstr>Verificación en consola</vt:lpstr>
      <vt:lpstr>Defensa de docs/ia.md</vt:lpstr>
      <vt:lpstr>Agente utilizado y controles aplicados</vt:lpstr>
      <vt:lpstr>Prompts utilizados</vt:lpstr>
      <vt:lpstr>Corrección 1 · Sobreingeniería del código generado</vt:lpstr>
      <vt:lpstr>Corrección 2 · La sobrecorrección eliminó los patrones</vt:lpstr>
      <vt:lpstr>Errores típicos de la IA detectados y corregidos</vt:lpstr>
      <vt:lpstr> Muchas Gracias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KATA · Core E-Commerce con Descuentos Acumulativos</dc:title>
  <dc:subject>PptxGenJS Presentation</dc:subject>
  <dc:creator>Ricardo Esteban</dc:creator>
  <cp:lastModifiedBy>RICARDO ESTEBAN</cp:lastModifiedBy>
  <cp:revision>3</cp:revision>
  <dcterms:created xsi:type="dcterms:W3CDTF">2026-10-16T15:07:10Z</dcterms:created>
  <dcterms:modified xsi:type="dcterms:W3CDTF">2026-10-16T15:31:33Z</dcterms:modified>
</cp:coreProperties>
</file>